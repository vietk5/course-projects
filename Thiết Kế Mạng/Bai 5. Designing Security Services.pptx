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8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3" d="100"/>
          <a:sy n="53" d="100"/>
        </p:scale>
        <p:origin x="-1782" y="-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5A62B-A677-4972-AB52-F6162B813DC0}" type="datetimeFigureOut">
              <a:rPr lang="en-US" smtClean="0"/>
              <a:pPr/>
              <a:t>3/22/2015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FD85B-43DB-4DE1-AE19-BCF85E2D4B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3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6FD85B-43DB-4DE1-AE19-BCF85E2D4B4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6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6FD85B-43DB-4DE1-AE19-BCF85E2D4B4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35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A0F98-B7E3-4403-A51C-B9B0944BFC94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BF55-1CC2-4235-945E-C7175AF7AEEB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E160F-4D2A-4D88-A6A9-09B1786BFDC2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7FCFE-7BDA-46B4-AE77-290089259A73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D4F2-1BD6-4F62-AC2F-CF33A99DD29E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6245-290B-4B7D-A8D4-D651545F5AE0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96FB-D7A5-4940-9D54-E73ABCB1537D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8E50-5C59-4A6F-899A-466F8820D8F0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D2BB-7BD6-407E-99D4-5BA895696CAC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20728-E928-4850-BDEA-33B07F90711F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15EC-AB33-49B3-94A2-8022611EDF8D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AE10E-CD1A-48A0-AB4F-D75AFA1181D7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Designing an Enterprise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807E8-36D4-40A0-8CB7-96620EE00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066800"/>
            <a:ext cx="7924800" cy="3581400"/>
          </a:xfrm>
        </p:spPr>
        <p:txBody>
          <a:bodyPr>
            <a:normAutofit/>
          </a:bodyPr>
          <a:lstStyle/>
          <a:p>
            <a:endParaRPr lang="en-US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b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Thiết kế đảm bảo tính bảo mật</a:t>
            </a:r>
            <a:endParaRPr lang="en-US" b="1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Designing Security Services)</a:t>
            </a:r>
            <a:endParaRPr lang="en-US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rgbClr val="7030A0"/>
              </a:solidFill>
            </a:endParaRPr>
          </a:p>
          <a:p>
            <a:r>
              <a:rPr lang="en-US" dirty="0" smtClean="0">
                <a:solidFill>
                  <a:srgbClr val="7030A0"/>
                </a:solidFill>
              </a:rPr>
              <a:t>GV: </a:t>
            </a:r>
            <a:r>
              <a:rPr lang="en-US" dirty="0" err="1" smtClean="0">
                <a:solidFill>
                  <a:srgbClr val="7030A0"/>
                </a:solidFill>
              </a:rPr>
              <a:t>Huỳnh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dirty="0" err="1" smtClean="0">
                <a:solidFill>
                  <a:srgbClr val="7030A0"/>
                </a:solidFill>
              </a:rPr>
              <a:t>Nguyên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dirty="0" err="1" smtClean="0">
                <a:solidFill>
                  <a:srgbClr val="7030A0"/>
                </a:solidFill>
              </a:rPr>
              <a:t>Chính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69DCD-0934-4FDB-8714-9E111D3B6039}" type="datetime1">
              <a:rPr lang="en-US" smtClean="0"/>
              <a:pPr/>
              <a:t>3/22/2015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Nội dung</a:t>
            </a:r>
            <a:endParaRPr lang="en-US" sz="180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0963" name="Group 3"/>
          <p:cNvGrpSpPr>
            <a:grpSpLocks/>
          </p:cNvGrpSpPr>
          <p:nvPr/>
        </p:nvGrpSpPr>
        <p:grpSpPr bwMode="auto">
          <a:xfrm>
            <a:off x="1828800" y="1795463"/>
            <a:ext cx="762000" cy="665162"/>
            <a:chOff x="1110" y="2656"/>
            <a:chExt cx="1549" cy="1351"/>
          </a:xfrm>
        </p:grpSpPr>
        <p:sp>
          <p:nvSpPr>
            <p:cNvPr id="40964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65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66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967" name="Group 7"/>
          <p:cNvGrpSpPr>
            <a:grpSpLocks/>
          </p:cNvGrpSpPr>
          <p:nvPr/>
        </p:nvGrpSpPr>
        <p:grpSpPr bwMode="auto">
          <a:xfrm>
            <a:off x="1828800" y="2709863"/>
            <a:ext cx="762000" cy="665162"/>
            <a:chOff x="3174" y="2656"/>
            <a:chExt cx="1549" cy="1351"/>
          </a:xfrm>
        </p:grpSpPr>
        <p:sp>
          <p:nvSpPr>
            <p:cNvPr id="4096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6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70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2438400" y="24050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2743200" y="1828800"/>
            <a:ext cx="56388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Đánh giá các chính sách an ninh mạng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gray">
          <a:xfrm>
            <a:off x="2024563" y="1893888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2438400" y="3319463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2819400" y="2786063"/>
            <a:ext cx="45720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Các giải pháp an ninh mạng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gray">
          <a:xfrm>
            <a:off x="2024563" y="2808288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40977" name="Group 17"/>
          <p:cNvGrpSpPr>
            <a:grpSpLocks/>
          </p:cNvGrpSpPr>
          <p:nvPr/>
        </p:nvGrpSpPr>
        <p:grpSpPr bwMode="auto">
          <a:xfrm>
            <a:off x="1828800" y="3602038"/>
            <a:ext cx="762000" cy="665162"/>
            <a:chOff x="1110" y="2656"/>
            <a:chExt cx="1549" cy="1351"/>
          </a:xfrm>
        </p:grpSpPr>
        <p:sp>
          <p:nvSpPr>
            <p:cNvPr id="40978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79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80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981" name="Group 21"/>
          <p:cNvGrpSpPr>
            <a:grpSpLocks/>
          </p:cNvGrpSpPr>
          <p:nvPr/>
        </p:nvGrpSpPr>
        <p:grpSpPr bwMode="auto">
          <a:xfrm>
            <a:off x="1828800" y="4516438"/>
            <a:ext cx="762000" cy="665162"/>
            <a:chOff x="3174" y="2656"/>
            <a:chExt cx="1549" cy="1351"/>
          </a:xfrm>
        </p:grpSpPr>
        <p:sp>
          <p:nvSpPr>
            <p:cNvPr id="40982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83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84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2438400" y="42116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819400" y="3678238"/>
            <a:ext cx="5486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Triển khai kế hoạch an ninh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gray">
          <a:xfrm>
            <a:off x="2024562" y="3700463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2438400" y="5126038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2819400" y="4592638"/>
            <a:ext cx="4267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400" smtClean="0">
                <a:latin typeface="Arial" panose="020B0604020202020204" pitchFamily="34" charset="0"/>
                <a:cs typeface="Arial" panose="020B0604020202020204" pitchFamily="34" charset="0"/>
              </a:rPr>
              <a:t>Tổng kết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0" name="Text Box 30"/>
          <p:cNvSpPr txBox="1">
            <a:spLocks noChangeArrowheads="1"/>
          </p:cNvSpPr>
          <p:nvPr/>
        </p:nvSpPr>
        <p:spPr bwMode="gray">
          <a:xfrm>
            <a:off x="2024562" y="4614863"/>
            <a:ext cx="35618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0221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2" grpId="0"/>
      <p:bldP spid="40975" grpId="0"/>
      <p:bldP spid="40986" grpId="0"/>
      <p:bldP spid="4098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 giá chính sách an ninh mạng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8232775" cy="44958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lỗ hổng mạng và cách giải quyết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Lỗ hổng mạng là những nơi mà hacker có thể thâm nhập hệ thống</a:t>
            </a:r>
          </a:p>
          <a:p>
            <a:pPr lvl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Cách giải quyết: 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ác kỹ thuật về mật mã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Chữ ký số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 thực</a:t>
            </a:r>
          </a:p>
          <a:p>
            <a:pPr lvl="2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64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Đánh giá chính sách an ninh mạng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304801" y="1477123"/>
            <a:ext cx="8839200" cy="4945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tabLst/>
              <a:defRPr/>
            </a:pP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ninh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endParaRPr kumimoji="0" lang="en-US" sz="3200" b="0" i="0" u="none" strike="noStrike" kern="0" cap="none" spc="0" normalizeH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vệ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3200" kern="0" baseline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thi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nào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rủi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kumimoji="0" lang="en-US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2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 giá chính sách an ninh mạng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758825" y="1455738"/>
            <a:ext cx="7700963" cy="4945062"/>
          </a:xfrm>
          <a:prstGeom prst="rect">
            <a:avLst/>
          </a:prstGeom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Tx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Quá trình duy trì an ninh mạng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 toàn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mạng</a:t>
            </a:r>
          </a:p>
          <a:p>
            <a:pPr marL="1371600" lvl="2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 thực</a:t>
            </a:r>
          </a:p>
          <a:p>
            <a:pPr marL="1371600" lvl="2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Mã hóa</a:t>
            </a:r>
          </a:p>
          <a:p>
            <a:pPr marL="1371600" lvl="2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Tường lửa</a:t>
            </a:r>
          </a:p>
          <a:p>
            <a:pPr marL="1371600" lvl="2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Vá lỗ hổng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3200" kern="0" baseline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Giám</a:t>
            </a: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sát an ninh mạng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Kiểm tra an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ninh mạng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3200" kern="0" baseline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cường an ninh mạng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935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 giá chính sách an ninh mạng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7700963" cy="49450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Đánh giá rủi ro</a:t>
            </a: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và phân tích</a:t>
            </a:r>
          </a:p>
          <a:p>
            <a:pPr marL="914400" lvl="1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2800" b="1" i="1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Rủi ro thấp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Hệ thống dễ dàng được khôi phục</a:t>
            </a: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2800" b="1" i="1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Rủi ro trung bình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Quá trình phục hồi làm ảnh hưởng hệ thống</a:t>
            </a:r>
            <a:endParaRPr lang="en-US" sz="2800" kern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2800" b="1" i="1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Rủi ro cao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Quá trình  khôi phục có thể gây sự gián đoạn đến hệ thống và các hệ thống khác</a:t>
            </a: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73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chính sách an ninh của Cisco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2057400"/>
            <a:ext cx="7700963" cy="4343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thành phần quan trọng của an ninh</a:t>
            </a:r>
          </a:p>
          <a:p>
            <a:pPr marL="914400" lvl="1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Đảm bảo kết nối</a:t>
            </a:r>
          </a:p>
          <a:p>
            <a:pPr marL="914400" lvl="1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khu vực cần triển khai an ninh mạng</a:t>
            </a:r>
          </a:p>
          <a:p>
            <a:pPr marL="914400" lvl="1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Dò tìm xâm nhập</a:t>
            </a:r>
          </a:p>
          <a:p>
            <a:pPr marL="914400" lvl="1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 dạng</a:t>
            </a:r>
          </a:p>
          <a:p>
            <a:pPr marL="914400" lvl="1" indent="-457200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Quản lý an ninh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Tx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70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chính sách an ninh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8967" y="1066800"/>
            <a:ext cx="8047834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0159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chính sách an ninh mạng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7700963" cy="494506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Các hình thức tấn công và giải pháp an ninh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cụ nghe trộm gói tin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Giả mạo IP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 chối dịch vụ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Tấn công mật khẩu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Tấn công Man-in-the-Middle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Tấn công tầng ứng dụng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 thám mạng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Khai thác sự tin tưởng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Chuyển hướng Port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Virus và Trojan Horse</a:t>
            </a:r>
          </a:p>
          <a:p>
            <a:pPr marL="914400" lvl="1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43480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lựa chọn thiết kế tường lửa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7700963" cy="49450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đặt tường lửa trong mạng Lan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tabLst/>
              <a:defRPr/>
            </a:pPr>
            <a:endParaRPr kumimoji="0" lang="en-US" sz="2800" b="0" i="0" u="none" strike="noStrike" kern="0" cap="none" spc="0" normalizeH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133600"/>
            <a:ext cx="6781800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1379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4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lựa chọn thiết kế tường lửa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7700963" cy="49450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Các</a:t>
            </a: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nguyên tắc lọc tường lửa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tabLst/>
              <a:defRPr/>
            </a:pPr>
            <a:endParaRPr kumimoji="0" lang="en-US" sz="2800" b="0" i="0" u="none" strike="noStrike" kern="0" cap="none" spc="0" normalizeH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0" cap="none" spc="0" normalizeH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tabLst/>
              <a:defRPr/>
            </a:pPr>
            <a:endParaRPr kumimoji="0" lang="en-US" sz="2800" b="0" i="0" u="none" strike="noStrike" kern="0" cap="none" spc="0" normalizeH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tabLst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438400"/>
            <a:ext cx="5943599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2285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>
                <a:latin typeface="Arial" panose="020B0604020202020204" pitchFamily="34" charset="0"/>
                <a:cs typeface="Arial" panose="020B0604020202020204" pitchFamily="34" charset="0"/>
              </a:rPr>
              <a:t>Xác Thực, Ủy Quyền, Kiểm soát truy cập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676400"/>
            <a:ext cx="7700963" cy="47244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TACASA+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Kerberos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ker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310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Security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7700963" cy="49450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IKE</a:t>
            </a:r>
            <a:endParaRPr kumimoji="0" lang="en-US" sz="3200" b="0" i="0" u="none" strike="noStrike" kern="0" cap="none" spc="0" normalizeH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Authentication Header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/>
            </a:r>
            <a:b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39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Lựa chọn các thiết bị an ninh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7700963" cy="49450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Firewall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IDS/IPS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47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 khai các kế hoạch an ninh</a:t>
            </a:r>
            <a:endParaRPr lang="en-US" sz="36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8232775" cy="4945062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0" cap="none" spc="0" normalizeH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mật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thiểu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tấn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endParaRPr lang="en-US" sz="3200" kern="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hạ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mạng</a:t>
            </a:r>
            <a:endParaRPr kumimoji="0" lang="en-US" sz="3200" b="0" i="0" u="none" strike="noStrike" kern="0" cap="none" spc="0" normalizeH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3200" kern="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kern="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mật</a:t>
            </a:r>
            <a:endParaRPr lang="en-US" sz="3200" kern="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kumimoji="0" lang="en-US" sz="3200" b="0" i="0" u="none" strike="noStrike" kern="0" cap="none" spc="0" normalizeH="0" noProof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thực,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ủy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dùng</a:t>
            </a:r>
            <a:endParaRPr kumimoji="0" lang="en-US" sz="3200" b="0" i="0" u="none" strike="noStrike" kern="0" cap="none" spc="0" normalizeH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xâm</a:t>
            </a:r>
            <a:r>
              <a:rPr kumimoji="0" lang="en-US" sz="3200" b="0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0" i="0" u="none" strike="noStrike" kern="0" cap="none" spc="0" normalizeH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endParaRPr kumimoji="0" lang="en-US" sz="3200" b="0" i="0" u="none" strike="noStrike" kern="0" cap="none" spc="0" normalizeH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18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 khai các kế hoạch an ninh</a:t>
            </a:r>
            <a:endParaRPr lang="en-US" sz="3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8080375" cy="494506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Chiến lược cho an ninh cho doanh nghiệp nhỏ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Gồm một module chứa mạng nội bộ kết nối với mạng bên ngoài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thành phần mạng Campus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8825" y="1908969"/>
            <a:ext cx="8001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574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 khai các kế hoạch an ninh</a:t>
            </a:r>
            <a:endParaRPr lang="en-US" sz="3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8004175" cy="49450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Chiến lược cho an ninh cho mô hình mạng vừa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Gồm: module kết nối Internet, module Campus cơ sở hạ tầng, module mạng Wan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thiết bị mạng Campus</a:t>
            </a:r>
          </a:p>
          <a:p>
            <a:pPr marL="1257300" lvl="2" indent="-3429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endParaRPr lang="en-US" sz="2800" kern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4712" y="17526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2708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 khai các kế hoạch an ninh</a:t>
            </a:r>
            <a:endParaRPr lang="en-US" sz="3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8232775" cy="4945062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Chiến lược cho an ninh cho mô hình mạng lớn</a:t>
            </a:r>
          </a:p>
          <a:p>
            <a:pPr marL="1371600" lvl="2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Campus backbone</a:t>
            </a:r>
          </a:p>
          <a:p>
            <a:pPr marL="1371600" lvl="2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</a:p>
          <a:p>
            <a:pPr marL="1371600" lvl="2" indent="-4572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ü"/>
              <a:defRPr/>
            </a:pP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4343" y="1905000"/>
            <a:ext cx="7391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8849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 khai các kế hoạch an ninh</a:t>
            </a:r>
            <a:endParaRPr lang="en-US" sz="32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7700963" cy="4945062"/>
          </a:xfrm>
          <a:prstGeom prst="rect">
            <a:avLst/>
          </a:prstGeom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tabLst/>
              <a:defRPr/>
            </a:pPr>
            <a:r>
              <a:rPr lang="en-US" sz="2800" kern="0" baseline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Chiến</a:t>
            </a:r>
            <a:r>
              <a:rPr lang="en-US" sz="28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lược cho an ninh khu vực Edge</a:t>
            </a:r>
          </a:p>
          <a:p>
            <a:pPr marL="800100" lvl="1" indent="-34290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kumimoji="0" lang="en-US" sz="28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khai cho các module thương mại điện tử</a:t>
            </a:r>
            <a: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sz="28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5662" y="1862137"/>
            <a:ext cx="7543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9038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kết</a:t>
            </a:r>
            <a:endParaRPr lang="en-US" sz="40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58825" y="1455738"/>
            <a:ext cx="8385175" cy="4945062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vậy, tùy theo mỗi mô hình công ty mà chúng ta có những lựa chọn cho thích hợp nhằm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3200" kern="0" baseline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Tiết kiệm</a:t>
            </a: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chi phí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3200" kern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Đạt hiệu quả tối đa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Chống 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xâm </a:t>
            </a: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nhập vào hệ thống</a:t>
            </a:r>
          </a:p>
          <a:p>
            <a:pPr marL="800100" lvl="1" indent="-342900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kumimoji="0" lang="en-US" sz="3200" b="0" i="0" u="none" strike="noStrike" kern="0" cap="none" spc="0" normalizeH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Đảm bảo tính an toàn cho dữ liệu </a:t>
            </a: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57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0"/>
            <a:ext cx="8229600" cy="1143000"/>
          </a:xfrm>
        </p:spPr>
        <p:txBody>
          <a:bodyPr>
            <a:normAutofit/>
          </a:bodyPr>
          <a:lstStyle/>
          <a:p>
            <a:r>
              <a:rPr lang="en-US" sz="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END !!!</a:t>
            </a:r>
            <a:endParaRPr lang="en-US" sz="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8BF55-1CC2-4235-945E-C7175AF7AEEB}" type="datetime1">
              <a:rPr lang="en-US" smtClean="0"/>
              <a:pPr/>
              <a:t>3/22/2015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807E8-36D4-40A0-8CB7-96620EE000ED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2592</TotalTime>
  <Words>615</Words>
  <Application>Microsoft Office PowerPoint</Application>
  <PresentationFormat>On-screen Show (4:3)</PresentationFormat>
  <Paragraphs>134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Nội dung</vt:lpstr>
      <vt:lpstr>Đánh giá chính sách an ninh mạng</vt:lpstr>
      <vt:lpstr>Đánh giá chính sách an ninh mạng</vt:lpstr>
      <vt:lpstr>Đánh giá chính sách an ninh mạng</vt:lpstr>
      <vt:lpstr>Đánh giá chính sách an ninh mạng</vt:lpstr>
      <vt:lpstr>Các chính sách an ninh của Cisco</vt:lpstr>
      <vt:lpstr>Các chính sách an ninh</vt:lpstr>
      <vt:lpstr>Các chính sách an ninh mạng</vt:lpstr>
      <vt:lpstr>Các lựa chọn thiết kế tường lửa</vt:lpstr>
      <vt:lpstr>Các lựa chọn thiết kế tường lửa</vt:lpstr>
      <vt:lpstr>Xác Thực, Ủy Quyền, Kiểm soát truy cập</vt:lpstr>
      <vt:lpstr>IP Security</vt:lpstr>
      <vt:lpstr>Lựa chọn các thiết bị an ninh</vt:lpstr>
      <vt:lpstr>Triển khai các kế hoạch an ninh</vt:lpstr>
      <vt:lpstr>Triển khai các kế hoạch an ninh</vt:lpstr>
      <vt:lpstr>Triển khai các kế hoạch an ninh</vt:lpstr>
      <vt:lpstr>Triển khai các kế hoạch an ninh</vt:lpstr>
      <vt:lpstr>Triển khai các kế hoạch an ninh</vt:lpstr>
      <vt:lpstr>Tổng kết</vt:lpstr>
      <vt:lpstr>THE END 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Thiết Kế Mạng</dc:title>
  <dc:creator>huutai</dc:creator>
  <cp:lastModifiedBy>Admin</cp:lastModifiedBy>
  <cp:revision>73</cp:revision>
  <dcterms:created xsi:type="dcterms:W3CDTF">2011-05-29T13:56:05Z</dcterms:created>
  <dcterms:modified xsi:type="dcterms:W3CDTF">2015-03-22T13:13:29Z</dcterms:modified>
</cp:coreProperties>
</file>