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908" r:id="rId2"/>
  </p:sldMasterIdLst>
  <p:notesMasterIdLst>
    <p:notesMasterId r:id="rId53"/>
  </p:notesMasterIdLst>
  <p:handoutMasterIdLst>
    <p:handoutMasterId r:id="rId54"/>
  </p:handoutMasterIdLst>
  <p:sldIdLst>
    <p:sldId id="258" r:id="rId3"/>
    <p:sldId id="421" r:id="rId4"/>
    <p:sldId id="422" r:id="rId5"/>
    <p:sldId id="423" r:id="rId6"/>
    <p:sldId id="424" r:id="rId7"/>
    <p:sldId id="425" r:id="rId8"/>
    <p:sldId id="426" r:id="rId9"/>
    <p:sldId id="427" r:id="rId10"/>
    <p:sldId id="393" r:id="rId11"/>
    <p:sldId id="394" r:id="rId12"/>
    <p:sldId id="395" r:id="rId13"/>
    <p:sldId id="396" r:id="rId14"/>
    <p:sldId id="397" r:id="rId15"/>
    <p:sldId id="398" r:id="rId16"/>
    <p:sldId id="428" r:id="rId17"/>
    <p:sldId id="429" r:id="rId18"/>
    <p:sldId id="430" r:id="rId19"/>
    <p:sldId id="431" r:id="rId20"/>
    <p:sldId id="432" r:id="rId21"/>
    <p:sldId id="433" r:id="rId22"/>
    <p:sldId id="399" r:id="rId23"/>
    <p:sldId id="434" r:id="rId24"/>
    <p:sldId id="435" r:id="rId25"/>
    <p:sldId id="400" r:id="rId26"/>
    <p:sldId id="436" r:id="rId27"/>
    <p:sldId id="437" r:id="rId28"/>
    <p:sldId id="401" r:id="rId29"/>
    <p:sldId id="402" r:id="rId30"/>
    <p:sldId id="403" r:id="rId31"/>
    <p:sldId id="404" r:id="rId32"/>
    <p:sldId id="405" r:id="rId33"/>
    <p:sldId id="406" r:id="rId34"/>
    <p:sldId id="407" r:id="rId35"/>
    <p:sldId id="408" r:id="rId36"/>
    <p:sldId id="409" r:id="rId37"/>
    <p:sldId id="410" r:id="rId38"/>
    <p:sldId id="411" r:id="rId39"/>
    <p:sldId id="413" r:id="rId40"/>
    <p:sldId id="414" r:id="rId41"/>
    <p:sldId id="415" r:id="rId42"/>
    <p:sldId id="416" r:id="rId43"/>
    <p:sldId id="439" r:id="rId44"/>
    <p:sldId id="412" r:id="rId45"/>
    <p:sldId id="417" r:id="rId46"/>
    <p:sldId id="418" r:id="rId47"/>
    <p:sldId id="419" r:id="rId48"/>
    <p:sldId id="420" r:id="rId49"/>
    <p:sldId id="438" r:id="rId50"/>
    <p:sldId id="440" r:id="rId51"/>
    <p:sldId id="442" r:id="rId52"/>
  </p:sldIdLst>
  <p:sldSz cx="9144000" cy="6858000" type="screen4x3"/>
  <p:notesSz cx="6805613" cy="9939338"/>
  <p:defaultTextStyle>
    <a:defPPr>
      <a:defRPr lang="en-US"/>
    </a:defPPr>
    <a:lvl1pPr algn="l" rtl="0" eaLnBrk="0" fontAlgn="base" hangingPunct="0">
      <a:spcBef>
        <a:spcPct val="0"/>
      </a:spcBef>
      <a:spcAft>
        <a:spcPct val="0"/>
      </a:spcAft>
      <a:defRPr sz="2400" b="1"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5pPr>
    <a:lvl6pPr marL="2286000" algn="l" defTabSz="914400" rtl="0" eaLnBrk="1" latinLnBrk="0" hangingPunct="1">
      <a:defRPr sz="2400" b="1" kern="1200">
        <a:solidFill>
          <a:schemeClr val="tx1"/>
        </a:solidFill>
        <a:latin typeface="Arial" charset="0"/>
        <a:ea typeface="ＭＳ Ｐゴシック" charset="-128"/>
        <a:cs typeface="+mn-cs"/>
      </a:defRPr>
    </a:lvl6pPr>
    <a:lvl7pPr marL="2743200" algn="l" defTabSz="914400" rtl="0" eaLnBrk="1" latinLnBrk="0" hangingPunct="1">
      <a:defRPr sz="2400" b="1" kern="1200">
        <a:solidFill>
          <a:schemeClr val="tx1"/>
        </a:solidFill>
        <a:latin typeface="Arial" charset="0"/>
        <a:ea typeface="ＭＳ Ｐゴシック" charset="-128"/>
        <a:cs typeface="+mn-cs"/>
      </a:defRPr>
    </a:lvl7pPr>
    <a:lvl8pPr marL="3200400" algn="l" defTabSz="914400" rtl="0" eaLnBrk="1" latinLnBrk="0" hangingPunct="1">
      <a:defRPr sz="2400" b="1" kern="1200">
        <a:solidFill>
          <a:schemeClr val="tx1"/>
        </a:solidFill>
        <a:latin typeface="Arial" charset="0"/>
        <a:ea typeface="ＭＳ Ｐゴシック" charset="-128"/>
        <a:cs typeface="+mn-cs"/>
      </a:defRPr>
    </a:lvl8pPr>
    <a:lvl9pPr marL="3657600" algn="l" defTabSz="914400" rtl="0" eaLnBrk="1" latinLnBrk="0" hangingPunct="1">
      <a:defRPr sz="2400" b="1" kern="1200">
        <a:solidFill>
          <a:schemeClr val="tx1"/>
        </a:solidFill>
        <a:latin typeface="Arial" charset="0"/>
        <a:ea typeface="ＭＳ Ｐゴシック"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548F"/>
    <a:srgbClr val="FF00FF"/>
    <a:srgbClr val="E46C0A"/>
    <a:srgbClr val="909090"/>
    <a:srgbClr val="615C5C"/>
    <a:srgbClr val="939393"/>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05" autoAdjust="0"/>
    <p:restoredTop sz="92821" autoAdjust="0"/>
  </p:normalViewPr>
  <p:slideViewPr>
    <p:cSldViewPr>
      <p:cViewPr varScale="1">
        <p:scale>
          <a:sx n="64" d="100"/>
          <a:sy n="64" d="100"/>
        </p:scale>
        <p:origin x="-1512" y="-108"/>
      </p:cViewPr>
      <p:guideLst>
        <p:guide orient="horz" pos="480"/>
        <p:guide orient="horz" pos="2448"/>
        <p:guide orient="horz" pos="1152"/>
        <p:guide orient="horz" pos="720"/>
        <p:guide orient="horz" pos="912"/>
        <p:guide orient="horz" pos="3888"/>
        <p:guide orient="horz" pos="3600"/>
        <p:guide pos="2880"/>
        <p:guide pos="336"/>
        <p:guide pos="4896"/>
        <p:guide pos="5424"/>
        <p:guide pos="3408"/>
        <p:guide pos="31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50" d="100"/>
          <a:sy n="150" d="100"/>
        </p:scale>
        <p:origin x="-492" y="-72"/>
      </p:cViewPr>
      <p:guideLst>
        <p:guide orient="horz" pos="3131"/>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0"/>
            <a:ext cx="294957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1" charset="-128"/>
              </a:defRPr>
            </a:lvl1pPr>
          </a:lstStyle>
          <a:p>
            <a:pPr>
              <a:defRPr/>
            </a:pPr>
            <a:endParaRPr lang="en-US"/>
          </a:p>
        </p:txBody>
      </p:sp>
      <p:sp>
        <p:nvSpPr>
          <p:cNvPr id="91139" name="Rectangle 3"/>
          <p:cNvSpPr>
            <a:spLocks noGrp="1" noChangeArrowheads="1"/>
          </p:cNvSpPr>
          <p:nvPr>
            <p:ph type="dt" sz="quarter" idx="1"/>
          </p:nvPr>
        </p:nvSpPr>
        <p:spPr bwMode="auto">
          <a:xfrm>
            <a:off x="3856038" y="0"/>
            <a:ext cx="294957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1" charset="-128"/>
              </a:defRPr>
            </a:lvl1pPr>
          </a:lstStyle>
          <a:p>
            <a:pPr>
              <a:defRPr/>
            </a:pPr>
            <a:fld id="{E7D06B1D-D8B2-4B68-84C2-2C4B2550E85D}" type="datetime1">
              <a:rPr lang="en-US"/>
              <a:pPr>
                <a:defRPr/>
              </a:pPr>
              <a:t>9/7/2021</a:t>
            </a:fld>
            <a:endParaRPr lang="en-US"/>
          </a:p>
        </p:txBody>
      </p:sp>
      <p:sp>
        <p:nvSpPr>
          <p:cNvPr id="91140" name="Rectangle 4"/>
          <p:cNvSpPr>
            <a:spLocks noGrp="1" noChangeArrowheads="1"/>
          </p:cNvSpPr>
          <p:nvPr>
            <p:ph type="ftr" sz="quarter" idx="2"/>
          </p:nvPr>
        </p:nvSpPr>
        <p:spPr bwMode="auto">
          <a:xfrm>
            <a:off x="0" y="9442450"/>
            <a:ext cx="294957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1" charset="-128"/>
              </a:defRPr>
            </a:lvl1pPr>
          </a:lstStyle>
          <a:p>
            <a:pPr>
              <a:defRPr/>
            </a:pPr>
            <a:endParaRPr lang="en-US"/>
          </a:p>
        </p:txBody>
      </p:sp>
      <p:sp>
        <p:nvSpPr>
          <p:cNvPr id="91141" name="Rectangle 5"/>
          <p:cNvSpPr>
            <a:spLocks noGrp="1" noChangeArrowheads="1"/>
          </p:cNvSpPr>
          <p:nvPr>
            <p:ph type="sldNum" sz="quarter" idx="3"/>
          </p:nvPr>
        </p:nvSpPr>
        <p:spPr bwMode="auto">
          <a:xfrm>
            <a:off x="3856038" y="9442450"/>
            <a:ext cx="294957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ＭＳ Ｐゴシック" pitchFamily="1" charset="-128"/>
              </a:defRPr>
            </a:lvl1pPr>
          </a:lstStyle>
          <a:p>
            <a:pPr>
              <a:defRPr/>
            </a:pPr>
            <a:fld id="{9DE99EB6-CEDE-4D1B-B33C-CE297364222C}" type="slidenum">
              <a:rPr lang="en-US"/>
              <a:pPr>
                <a:defRPr/>
              </a:pPr>
              <a:t>‹#›</a:t>
            </a:fld>
            <a:endParaRPr lang="en-US"/>
          </a:p>
        </p:txBody>
      </p:sp>
    </p:spTree>
    <p:extLst>
      <p:ext uri="{BB962C8B-B14F-4D97-AF65-F5344CB8AC3E}">
        <p14:creationId xmlns:p14="http://schemas.microsoft.com/office/powerpoint/2010/main" val="30298675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9575" cy="496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b="0">
                <a:latin typeface="Arial" charset="0"/>
                <a:ea typeface="ＭＳ Ｐゴシック" pitchFamily="1" charset="-128"/>
              </a:defRPr>
            </a:lvl1pPr>
          </a:lstStyle>
          <a:p>
            <a:pPr>
              <a:defRPr/>
            </a:pPr>
            <a:endParaRPr lang="en-US"/>
          </a:p>
        </p:txBody>
      </p:sp>
      <p:sp>
        <p:nvSpPr>
          <p:cNvPr id="4099" name="Rectangle 3"/>
          <p:cNvSpPr>
            <a:spLocks noGrp="1" noChangeArrowheads="1"/>
          </p:cNvSpPr>
          <p:nvPr>
            <p:ph type="dt" idx="1"/>
          </p:nvPr>
        </p:nvSpPr>
        <p:spPr bwMode="auto">
          <a:xfrm>
            <a:off x="3856038" y="0"/>
            <a:ext cx="2949575" cy="496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b="0">
                <a:latin typeface="Arial" charset="0"/>
                <a:ea typeface="ＭＳ Ｐゴシック" pitchFamily="1" charset="-128"/>
              </a:defRPr>
            </a:lvl1pPr>
          </a:lstStyle>
          <a:p>
            <a:pPr>
              <a:defRPr/>
            </a:pPr>
            <a:fld id="{2BE5A956-F79D-4D99-8F93-6296B527E490}" type="datetime1">
              <a:rPr lang="en-US"/>
              <a:pPr>
                <a:defRPr/>
              </a:pPr>
              <a:t>9/7/2021</a:t>
            </a:fld>
            <a:endParaRPr lang="en-US"/>
          </a:p>
        </p:txBody>
      </p:sp>
      <p:sp>
        <p:nvSpPr>
          <p:cNvPr id="33796" name="Rectangle 4"/>
          <p:cNvSpPr>
            <a:spLocks noGrp="1" noRot="1" noChangeAspect="1" noChangeArrowheads="1" noTextEdit="1"/>
          </p:cNvSpPr>
          <p:nvPr>
            <p:ph type="sldImg" idx="2"/>
          </p:nvPr>
        </p:nvSpPr>
        <p:spPr bwMode="auto">
          <a:xfrm>
            <a:off x="920750" y="746125"/>
            <a:ext cx="4965700" cy="3725863"/>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08050" y="4721225"/>
            <a:ext cx="4989513" cy="447198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9442450"/>
            <a:ext cx="2949575" cy="49688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b="0">
                <a:latin typeface="Arial" charset="0"/>
                <a:ea typeface="ＭＳ Ｐゴシック" pitchFamily="1" charset="-128"/>
              </a:defRPr>
            </a:lvl1pPr>
          </a:lstStyle>
          <a:p>
            <a:pPr>
              <a:defRPr/>
            </a:pPr>
            <a:endParaRPr lang="en-US"/>
          </a:p>
        </p:txBody>
      </p:sp>
      <p:sp>
        <p:nvSpPr>
          <p:cNvPr id="4103" name="Rectangle 7"/>
          <p:cNvSpPr>
            <a:spLocks noGrp="1" noChangeArrowheads="1"/>
          </p:cNvSpPr>
          <p:nvPr>
            <p:ph type="sldNum" sz="quarter" idx="5"/>
          </p:nvPr>
        </p:nvSpPr>
        <p:spPr bwMode="auto">
          <a:xfrm>
            <a:off x="3856038" y="9442450"/>
            <a:ext cx="2949575" cy="49688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b="0">
                <a:latin typeface="Arial" charset="0"/>
                <a:ea typeface="ＭＳ Ｐゴシック" pitchFamily="16" charset="-128"/>
              </a:defRPr>
            </a:lvl1pPr>
          </a:lstStyle>
          <a:p>
            <a:pPr>
              <a:defRPr/>
            </a:pPr>
            <a:fld id="{2FC36C76-B5C8-4AD9-9647-C549E0ADBD5F}" type="slidenum">
              <a:rPr lang="en-US"/>
              <a:pPr>
                <a:defRPr/>
              </a:pPr>
              <a:t>‹#›</a:t>
            </a:fld>
            <a:endParaRPr lang="en-US"/>
          </a:p>
        </p:txBody>
      </p:sp>
      <p:sp>
        <p:nvSpPr>
          <p:cNvPr id="30728" name="Text Box 8"/>
          <p:cNvSpPr txBox="1">
            <a:spLocks noChangeArrowheads="1"/>
          </p:cNvSpPr>
          <p:nvPr/>
        </p:nvSpPr>
        <p:spPr bwMode="auto">
          <a:xfrm>
            <a:off x="869950" y="9028113"/>
            <a:ext cx="5065713" cy="538162"/>
          </a:xfrm>
          <a:prstGeom prst="rect">
            <a:avLst/>
          </a:prstGeom>
          <a:noFill/>
          <a:ln w="9525">
            <a:noFill/>
            <a:miter lim="800000"/>
            <a:headEnd/>
            <a:tailEnd/>
          </a:ln>
          <a:effectLst/>
        </p:spPr>
        <p:txBody>
          <a:bodyPr lIns="0" tIns="0" rIns="0" bIns="0" anchor="b">
            <a:spAutoFit/>
          </a:bodyPr>
          <a:lstStyle/>
          <a:p>
            <a:pPr eaLnBrk="1" hangingPunct="1">
              <a:defRPr/>
            </a:pPr>
            <a:r>
              <a:rPr lang="en-US" sz="700" b="0">
                <a:ea typeface="ＭＳ Ｐゴシック" pitchFamily="48" charset="-128"/>
              </a:rPr>
              <a:t>©2008 Microsoft Corporation. All rights reserved.</a:t>
            </a:r>
          </a:p>
          <a:p>
            <a:pPr eaLnBrk="1" hangingPunct="1">
              <a:defRPr/>
            </a:pPr>
            <a:r>
              <a:rPr lang="en-US" sz="700" b="0">
                <a:ea typeface="ＭＳ Ｐゴシック" pitchFamily="48" charset="-128"/>
              </a:rPr>
              <a:t>This presentation is for informational purposes only. Microsoft makes no warranties, express or implied, in this summary.</a:t>
            </a:r>
            <a:endParaRPr lang="en-GB" sz="700" b="0">
              <a:solidFill>
                <a:srgbClr val="000000"/>
              </a:solidFill>
              <a:ea typeface="ＭＳ Ｐゴシック" pitchFamily="48" charset="-128"/>
            </a:endParaRPr>
          </a:p>
          <a:p>
            <a:pPr eaLnBrk="1" hangingPunct="1">
              <a:defRPr/>
            </a:pPr>
            <a:r>
              <a:rPr lang="en-GB" sz="700" b="0">
                <a:solidFill>
                  <a:srgbClr val="000000"/>
                </a:solidFill>
                <a:ea typeface="ＭＳ Ｐゴシック" pitchFamily="48" charset="-128"/>
              </a:rPr>
              <a:t>Microsoft, the Microsoft logo, Microsoft Live@edu, Windows Live, Hotmail, Microsoft Office, Outlook, and SmartScreen are either registered trademarks or trademarks of Microsoft Corporation in the United States and/or other countries. 11282-0308/MS-APAC</a:t>
            </a:r>
            <a:endParaRPr lang="en-US" sz="700">
              <a:ea typeface="ＭＳ Ｐゴシック" pitchFamily="48" charset="-128"/>
            </a:endParaRPr>
          </a:p>
        </p:txBody>
      </p:sp>
    </p:spTree>
    <p:extLst>
      <p:ext uri="{BB962C8B-B14F-4D97-AF65-F5344CB8AC3E}">
        <p14:creationId xmlns:p14="http://schemas.microsoft.com/office/powerpoint/2010/main" val="26230236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ECCDA592-0334-416B-A302-BF156FC4FD65}" type="slidenum">
              <a:rPr lang="en-US" smtClean="0">
                <a:ea typeface="ＭＳ Ｐゴシック" charset="-128"/>
              </a:rPr>
              <a:pPr/>
              <a:t>1</a:t>
            </a:fld>
            <a:endParaRPr lang="en-US" smtClean="0">
              <a:ea typeface="ＭＳ Ｐゴシック" charset="-128"/>
            </a:endParaRPr>
          </a:p>
        </p:txBody>
      </p:sp>
      <p:sp>
        <p:nvSpPr>
          <p:cNvPr id="34819" name="Rectangle 7"/>
          <p:cNvSpPr txBox="1">
            <a:spLocks noGrp="1" noChangeArrowheads="1"/>
          </p:cNvSpPr>
          <p:nvPr/>
        </p:nvSpPr>
        <p:spPr bwMode="auto">
          <a:xfrm>
            <a:off x="3856038" y="9442450"/>
            <a:ext cx="2949575" cy="496888"/>
          </a:xfrm>
          <a:prstGeom prst="rect">
            <a:avLst/>
          </a:prstGeom>
          <a:noFill/>
          <a:ln w="9525">
            <a:noFill/>
            <a:miter lim="800000"/>
            <a:headEnd/>
            <a:tailEnd/>
          </a:ln>
        </p:spPr>
        <p:txBody>
          <a:bodyPr anchor="b"/>
          <a:lstStyle/>
          <a:p>
            <a:pPr algn="r"/>
            <a:fld id="{C3FE4478-BA13-443C-95B4-F3C13F14C7B2}" type="slidenum">
              <a:rPr lang="en-US" sz="1200" b="0"/>
              <a:pPr algn="r"/>
              <a:t>1</a:t>
            </a:fld>
            <a:endParaRPr lang="en-US" sz="1200" b="0"/>
          </a:p>
        </p:txBody>
      </p:sp>
      <p:sp>
        <p:nvSpPr>
          <p:cNvPr id="34820" name="Rectangle 2"/>
          <p:cNvSpPr>
            <a:spLocks noGrp="1" noRot="1" noChangeAspect="1" noChangeArrowheads="1" noTextEdit="1"/>
          </p:cNvSpPr>
          <p:nvPr>
            <p:ph type="sldImg"/>
          </p:nvPr>
        </p:nvSpPr>
        <p:spPr>
          <a:solidFill>
            <a:srgbClr val="FFFFFF"/>
          </a:solid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227815FE-0675-4990-B98D-8408837F914A}" type="slidenum">
              <a:rPr lang="en-US" smtClean="0">
                <a:ea typeface="ＭＳ Ｐゴシック" charset="-128"/>
              </a:rPr>
              <a:pPr/>
              <a:t>3</a:t>
            </a:fld>
            <a:endParaRPr lang="en-US" smtClean="0">
              <a:ea typeface="ＭＳ Ｐゴシック" charset="-128"/>
            </a:endParaRPr>
          </a:p>
        </p:txBody>
      </p:sp>
      <p:sp>
        <p:nvSpPr>
          <p:cNvPr id="35843" name="Slide Image Placeholder 1"/>
          <p:cNvSpPr>
            <a:spLocks noGrp="1" noRot="1" noChangeAspect="1" noTextEdit="1"/>
          </p:cNvSpPr>
          <p:nvPr>
            <p:ph type="sldImg"/>
          </p:nvPr>
        </p:nvSpPr>
        <p:spPr>
          <a:solidFill>
            <a:srgbClr val="FFFFFF"/>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4</a:t>
            </a:fld>
            <a:endParaRPr lang="en-US"/>
          </a:p>
        </p:txBody>
      </p:sp>
    </p:spTree>
    <p:extLst>
      <p:ext uri="{BB962C8B-B14F-4D97-AF65-F5344CB8AC3E}">
        <p14:creationId xmlns:p14="http://schemas.microsoft.com/office/powerpoint/2010/main" val="3833173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5</a:t>
            </a:fld>
            <a:endParaRPr lang="en-US"/>
          </a:p>
        </p:txBody>
      </p:sp>
    </p:spTree>
    <p:extLst>
      <p:ext uri="{BB962C8B-B14F-4D97-AF65-F5344CB8AC3E}">
        <p14:creationId xmlns:p14="http://schemas.microsoft.com/office/powerpoint/2010/main" val="690645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6</a:t>
            </a:fld>
            <a:endParaRPr lang="en-US"/>
          </a:p>
        </p:txBody>
      </p:sp>
    </p:spTree>
    <p:extLst>
      <p:ext uri="{BB962C8B-B14F-4D97-AF65-F5344CB8AC3E}">
        <p14:creationId xmlns:p14="http://schemas.microsoft.com/office/powerpoint/2010/main" val="2862511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7</a:t>
            </a:fld>
            <a:endParaRPr lang="en-US"/>
          </a:p>
        </p:txBody>
      </p:sp>
    </p:spTree>
    <p:extLst>
      <p:ext uri="{BB962C8B-B14F-4D97-AF65-F5344CB8AC3E}">
        <p14:creationId xmlns:p14="http://schemas.microsoft.com/office/powerpoint/2010/main" val="4085866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8</a:t>
            </a:fld>
            <a:endParaRPr lang="en-US"/>
          </a:p>
        </p:txBody>
      </p:sp>
    </p:spTree>
    <p:extLst>
      <p:ext uri="{BB962C8B-B14F-4D97-AF65-F5344CB8AC3E}">
        <p14:creationId xmlns:p14="http://schemas.microsoft.com/office/powerpoint/2010/main" val="12131535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Picture 66" descr="banner"/>
          <p:cNvPicPr>
            <a:picLocks noChangeAspect="1" noChangeArrowheads="1"/>
          </p:cNvPicPr>
          <p:nvPr userDrawn="1"/>
        </p:nvPicPr>
        <p:blipFill>
          <a:blip r:embed="rId2"/>
          <a:srcRect/>
          <a:stretch>
            <a:fillRect/>
          </a:stretch>
        </p:blipFill>
        <p:spPr bwMode="auto">
          <a:xfrm>
            <a:off x="0" y="6172200"/>
            <a:ext cx="9144000" cy="685800"/>
          </a:xfrm>
          <a:prstGeom prst="rect">
            <a:avLst/>
          </a:prstGeom>
          <a:noFill/>
          <a:ln w="9525">
            <a:noFill/>
            <a:miter lim="800000"/>
            <a:headEnd/>
            <a:tailEnd/>
          </a:ln>
        </p:spPr>
      </p:pic>
      <p:pic>
        <p:nvPicPr>
          <p:cNvPr id="5" name="Picture 65" descr="banner"/>
          <p:cNvPicPr>
            <a:picLocks noChangeAspect="1" noChangeArrowheads="1"/>
          </p:cNvPicPr>
          <p:nvPr userDrawn="1"/>
        </p:nvPicPr>
        <p:blipFill>
          <a:blip r:embed="rId3"/>
          <a:srcRect/>
          <a:stretch>
            <a:fillRect/>
          </a:stretch>
        </p:blipFill>
        <p:spPr bwMode="auto">
          <a:xfrm>
            <a:off x="0" y="74613"/>
            <a:ext cx="9144000" cy="687387"/>
          </a:xfrm>
          <a:prstGeom prst="rect">
            <a:avLst/>
          </a:prstGeom>
          <a:noFill/>
          <a:ln w="9525">
            <a:noFill/>
            <a:miter lim="800000"/>
            <a:headEnd/>
            <a:tailEnd/>
          </a:ln>
        </p:spPr>
      </p:pic>
      <p:sp>
        <p:nvSpPr>
          <p:cNvPr id="6" name="Rectangle 67590"/>
          <p:cNvSpPr>
            <a:spLocks noChangeArrowheads="1"/>
          </p:cNvSpPr>
          <p:nvPr userDrawn="1"/>
        </p:nvSpPr>
        <p:spPr bwMode="auto">
          <a:xfrm>
            <a:off x="0" y="0"/>
            <a:ext cx="9144000" cy="76200"/>
          </a:xfrm>
          <a:prstGeom prst="rect">
            <a:avLst/>
          </a:prstGeom>
          <a:gradFill rotWithShape="1">
            <a:gsLst>
              <a:gs pos="0">
                <a:srgbClr val="0099FF">
                  <a:gamma/>
                  <a:tint val="0"/>
                  <a:invGamma/>
                </a:srgbClr>
              </a:gs>
              <a:gs pos="100000">
                <a:srgbClr val="0099FF">
                  <a:alpha val="25000"/>
                </a:srgbClr>
              </a:gs>
            </a:gsLst>
            <a:lin ang="0" scaled="1"/>
          </a:gradFill>
          <a:ln w="9525">
            <a:noFill/>
            <a:miter lim="800000"/>
            <a:headEnd/>
            <a:tailEnd/>
          </a:ln>
        </p:spPr>
        <p:txBody>
          <a:bodyPr wrap="none" lIns="0" tIns="0" rIns="0" bIns="0" anchor="ctr"/>
          <a:lstStyle/>
          <a:p>
            <a:pPr eaLnBrk="1" hangingPunct="1">
              <a:defRPr/>
            </a:pPr>
            <a:endParaRPr lang="en-US" sz="1800" b="0">
              <a:solidFill>
                <a:srgbClr val="000000"/>
              </a:solidFill>
              <a:latin typeface="Segoe" pitchFamily="8" charset="0"/>
              <a:ea typeface="+mn-ea"/>
            </a:endParaRPr>
          </a:p>
        </p:txBody>
      </p:sp>
      <p:sp>
        <p:nvSpPr>
          <p:cNvPr id="7" name="Rectangle 6"/>
          <p:cNvSpPr>
            <a:spLocks noChangeArrowheads="1"/>
          </p:cNvSpPr>
          <p:nvPr userDrawn="1"/>
        </p:nvSpPr>
        <p:spPr bwMode="auto">
          <a:xfrm>
            <a:off x="381000" y="6526213"/>
            <a:ext cx="592138" cy="331787"/>
          </a:xfrm>
          <a:prstGeom prst="rect">
            <a:avLst/>
          </a:prstGeom>
          <a:noFill/>
          <a:ln w="9525" algn="ctr">
            <a:noFill/>
            <a:miter lim="800000"/>
            <a:headEnd/>
            <a:tailEnd/>
          </a:ln>
        </p:spPr>
        <p:txBody>
          <a:bodyPr/>
          <a:lstStyle/>
          <a:p>
            <a:pPr eaLnBrk="1" hangingPunct="1">
              <a:defRPr/>
            </a:pPr>
            <a:endParaRPr lang="en-US" sz="1000" b="0">
              <a:ea typeface="ＭＳ Ｐゴシック" pitchFamily="16" charset="-128"/>
            </a:endParaRPr>
          </a:p>
        </p:txBody>
      </p:sp>
      <p:sp>
        <p:nvSpPr>
          <p:cNvPr id="8" name="Rectangle 67589"/>
          <p:cNvSpPr>
            <a:spLocks noChangeArrowheads="1"/>
          </p:cNvSpPr>
          <p:nvPr userDrawn="1"/>
        </p:nvSpPr>
        <p:spPr bwMode="auto">
          <a:xfrm>
            <a:off x="450850" y="6450013"/>
            <a:ext cx="592138" cy="331787"/>
          </a:xfrm>
          <a:prstGeom prst="rect">
            <a:avLst/>
          </a:prstGeom>
          <a:noFill/>
          <a:ln w="9525" algn="ctr">
            <a:noFill/>
            <a:miter lim="800000"/>
            <a:headEnd/>
            <a:tailEnd/>
          </a:ln>
        </p:spPr>
        <p:txBody>
          <a:bodyPr/>
          <a:lstStyle/>
          <a:p>
            <a:pPr eaLnBrk="1" hangingPunct="1">
              <a:defRPr/>
            </a:pPr>
            <a:fld id="{431DBC19-DD8C-4BA4-875B-F96216C84717}" type="slidenum">
              <a:rPr lang="en-US" sz="1000" b="0">
                <a:solidFill>
                  <a:schemeClr val="bg1"/>
                </a:solidFill>
                <a:ea typeface="ＭＳ Ｐゴシック" pitchFamily="1" charset="-128"/>
              </a:rPr>
              <a:pPr eaLnBrk="1" hangingPunct="1">
                <a:defRPr/>
              </a:pPr>
              <a:t>‹#›</a:t>
            </a:fld>
            <a:endParaRPr lang="en-US" sz="1000" b="0">
              <a:solidFill>
                <a:schemeClr val="bg1"/>
              </a:solidFill>
              <a:ea typeface="ＭＳ Ｐゴシック" pitchFamily="1" charset="-128"/>
            </a:endParaRPr>
          </a:p>
          <a:p>
            <a:pPr eaLnBrk="1" hangingPunct="1">
              <a:defRPr/>
            </a:pPr>
            <a:endParaRPr lang="en-US" sz="1000" b="0">
              <a:ea typeface="ＭＳ Ｐゴシック" pitchFamily="1" charset="-128"/>
            </a:endParaRPr>
          </a:p>
        </p:txBody>
      </p:sp>
      <p:sp>
        <p:nvSpPr>
          <p:cNvPr id="68613" name="Rectangle 21"/>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r>
              <a:rPr lang="en-US" smtClean="0"/>
              <a:t>Click to edit Master subtitle style</a:t>
            </a:r>
          </a:p>
        </p:txBody>
      </p:sp>
      <p:sp>
        <p:nvSpPr>
          <p:cNvPr id="68619" name="Rectangle 11"/>
          <p:cNvSpPr>
            <a:spLocks noGrp="1" noChangeArrowheads="1"/>
          </p:cNvSpPr>
          <p:nvPr>
            <p:ph type="ctrTitle"/>
          </p:nvPr>
        </p:nvSpPr>
        <p:spPr>
          <a:xfrm>
            <a:off x="685800" y="2286000"/>
            <a:ext cx="7772400" cy="1143000"/>
          </a:xfrm>
        </p:spPr>
        <p:txBody>
          <a:bodyPr/>
          <a:lstStyle>
            <a:lvl1pPr>
              <a:defRPr smtClean="0"/>
            </a:lvl1pPr>
          </a:lstStyle>
          <a:p>
            <a:r>
              <a:rPr lang="en-US" dirty="0" smtClean="0"/>
              <a:t>Click to edit Master title style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533400" y="1752600"/>
            <a:ext cx="8077200" cy="4267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752600"/>
            <a:ext cx="3810000" cy="4151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52600"/>
            <a:ext cx="3810000" cy="4151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62927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6292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51CFF-E543-48D9-A5DE-452464674EFA}" type="datetimeFigureOut">
              <a:rPr lang="en-US"/>
              <a:pPr>
                <a:defRPr/>
              </a:pPr>
              <a:t>9/7/2021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8BDA3D3-6DBD-423C-BD79-1A3B4B87B44F}"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5FD52AD-A53A-461F-8F79-B480D1603A11}" type="datetimeFigureOut">
              <a:rPr lang="en-US"/>
              <a:pPr>
                <a:defRPr/>
              </a:pPr>
              <a:t>9/7/2021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35C96AF-1DDD-4A8C-9D2A-22620B02334E}"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9159E4C-E943-4BFE-88DC-980EA47FC2EF}" type="datetimeFigureOut">
              <a:rPr lang="en-US"/>
              <a:pPr>
                <a:defRPr/>
              </a:pPr>
              <a:t>9/7/2021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2B7075C-65E6-45BE-BA6B-09EAADC7D780}"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BBB4656B-DE1D-481E-A197-4552E86F753A}" type="datetimeFigureOut">
              <a:rPr lang="en-US"/>
              <a:pPr>
                <a:defRPr/>
              </a:pPr>
              <a:t>9/7/2021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3B9CC7B-C4E0-4858-9B1A-EB1B6485A0D6}"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C5918B8E-C6F0-431A-9C49-BF46C430A65A}" type="datetimeFigureOut">
              <a:rPr lang="en-US"/>
              <a:pPr>
                <a:defRPr/>
              </a:pPr>
              <a:t>9/7/2021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0349323-59BE-434C-9C5E-157D4C34143A}"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144DA11-36CF-41C6-8C12-8ADE606AFE6C}" type="datetimeFigureOut">
              <a:rPr lang="en-US"/>
              <a:pPr>
                <a:defRPr/>
              </a:pPr>
              <a:t>9/7/2021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6C2B16C-CA42-4925-A039-1B42CBB31D5D}"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60BAAB6-D427-491F-B62A-92D51EB000C9}" type="datetimeFigureOut">
              <a:rPr lang="en-US"/>
              <a:pPr>
                <a:defRPr/>
              </a:pPr>
              <a:t>9/7/2021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5ADF038-537A-4D5B-AC9A-7C8FBEF7E7C6}"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0942C64-7BE3-4C0B-84CB-915DFD8D2628}" type="datetimeFigureOut">
              <a:rPr lang="en-US"/>
              <a:pPr>
                <a:defRPr/>
              </a:pPr>
              <a:t>9/7/2021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B22E39D-3015-43C3-A22E-0E66C222406E}"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050F22E-6C1C-4F19-9F8E-B9DAE6D8C86F}" type="datetimeFigureOut">
              <a:rPr lang="en-US"/>
              <a:pPr>
                <a:defRPr/>
              </a:pPr>
              <a:t>9/7/2021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F8C2A3C-8418-4404-B970-A10CDE10DD1E}"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43A1F79-C340-4446-A571-77AF961C7DA5}" type="datetimeFigureOut">
              <a:rPr lang="en-US"/>
              <a:pPr>
                <a:defRPr/>
              </a:pPr>
              <a:t>9/7/2021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239ED4-46B6-47E7-BF84-E2A4A1CB6099}"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4A816E4-2533-48D3-BD20-B40F8E51FC17}" type="datetimeFigureOut">
              <a:rPr lang="en-US"/>
              <a:pPr>
                <a:defRPr/>
              </a:pPr>
              <a:t>9/7/2021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42A5934-CE14-4CB1-A4AC-AA94E76FC24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6" descr="banner"/>
          <p:cNvPicPr>
            <a:picLocks noChangeAspect="1" noChangeArrowheads="1"/>
          </p:cNvPicPr>
          <p:nvPr userDrawn="1"/>
        </p:nvPicPr>
        <p:blipFill>
          <a:blip r:embed="rId14"/>
          <a:srcRect/>
          <a:stretch>
            <a:fillRect/>
          </a:stretch>
        </p:blipFill>
        <p:spPr bwMode="auto">
          <a:xfrm>
            <a:off x="0" y="6172200"/>
            <a:ext cx="9144000" cy="685800"/>
          </a:xfrm>
          <a:prstGeom prst="rect">
            <a:avLst/>
          </a:prstGeom>
          <a:noFill/>
          <a:ln w="9525">
            <a:noFill/>
            <a:miter lim="800000"/>
            <a:headEnd/>
            <a:tailEnd/>
          </a:ln>
        </p:spPr>
      </p:pic>
      <p:pic>
        <p:nvPicPr>
          <p:cNvPr id="1027" name="Picture 65" descr="banner"/>
          <p:cNvPicPr>
            <a:picLocks noChangeAspect="1" noChangeArrowheads="1"/>
          </p:cNvPicPr>
          <p:nvPr userDrawn="1"/>
        </p:nvPicPr>
        <p:blipFill>
          <a:blip r:embed="rId15"/>
          <a:srcRect/>
          <a:stretch>
            <a:fillRect/>
          </a:stretch>
        </p:blipFill>
        <p:spPr bwMode="auto">
          <a:xfrm>
            <a:off x="0" y="74613"/>
            <a:ext cx="9144000" cy="687387"/>
          </a:xfrm>
          <a:prstGeom prst="rect">
            <a:avLst/>
          </a:prstGeom>
          <a:noFill/>
          <a:ln w="9525">
            <a:noFill/>
            <a:miter lim="800000"/>
            <a:headEnd/>
            <a:tailEnd/>
          </a:ln>
        </p:spPr>
      </p:pic>
      <p:sp>
        <p:nvSpPr>
          <p:cNvPr id="17" name="Rectangle 67590"/>
          <p:cNvSpPr>
            <a:spLocks noChangeArrowheads="1"/>
          </p:cNvSpPr>
          <p:nvPr userDrawn="1"/>
        </p:nvSpPr>
        <p:spPr bwMode="auto">
          <a:xfrm>
            <a:off x="0" y="0"/>
            <a:ext cx="9144000" cy="76200"/>
          </a:xfrm>
          <a:prstGeom prst="rect">
            <a:avLst/>
          </a:prstGeom>
          <a:gradFill rotWithShape="1">
            <a:gsLst>
              <a:gs pos="0">
                <a:srgbClr val="0099FF">
                  <a:gamma/>
                  <a:tint val="0"/>
                  <a:invGamma/>
                </a:srgbClr>
              </a:gs>
              <a:gs pos="100000">
                <a:srgbClr val="0099FF">
                  <a:alpha val="25000"/>
                </a:srgbClr>
              </a:gs>
            </a:gsLst>
            <a:lin ang="0" scaled="1"/>
          </a:gradFill>
          <a:ln w="9525">
            <a:noFill/>
            <a:miter lim="800000"/>
            <a:headEnd/>
            <a:tailEnd/>
          </a:ln>
        </p:spPr>
        <p:txBody>
          <a:bodyPr wrap="none" lIns="0" tIns="0" rIns="0" bIns="0" anchor="ctr"/>
          <a:lstStyle/>
          <a:p>
            <a:pPr eaLnBrk="1" hangingPunct="1">
              <a:defRPr/>
            </a:pPr>
            <a:endParaRPr lang="en-US" sz="1800" b="0">
              <a:solidFill>
                <a:srgbClr val="000000"/>
              </a:solidFill>
            </a:endParaRPr>
          </a:p>
        </p:txBody>
      </p:sp>
      <p:sp>
        <p:nvSpPr>
          <p:cNvPr id="1029" name="Rectangle 21"/>
          <p:cNvSpPr>
            <a:spLocks noGrp="1" noChangeArrowheads="1"/>
          </p:cNvSpPr>
          <p:nvPr>
            <p:ph type="body" idx="1"/>
          </p:nvPr>
        </p:nvSpPr>
        <p:spPr bwMode="auto">
          <a:xfrm>
            <a:off x="533400" y="1371600"/>
            <a:ext cx="8077200" cy="4343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7590" name="Rectangle 67589"/>
          <p:cNvSpPr>
            <a:spLocks noChangeArrowheads="1"/>
          </p:cNvSpPr>
          <p:nvPr userDrawn="1"/>
        </p:nvSpPr>
        <p:spPr bwMode="auto">
          <a:xfrm>
            <a:off x="381000" y="6526213"/>
            <a:ext cx="592138" cy="331787"/>
          </a:xfrm>
          <a:prstGeom prst="rect">
            <a:avLst/>
          </a:prstGeom>
          <a:noFill/>
          <a:ln w="9525" algn="ctr">
            <a:noFill/>
            <a:miter lim="800000"/>
            <a:headEnd/>
            <a:tailEnd/>
          </a:ln>
        </p:spPr>
        <p:txBody>
          <a:bodyPr/>
          <a:lstStyle/>
          <a:p>
            <a:pPr eaLnBrk="1" hangingPunct="1">
              <a:defRPr/>
            </a:pPr>
            <a:endParaRPr lang="en-US" sz="1000" b="0">
              <a:ea typeface="ＭＳ Ｐゴシック" pitchFamily="16" charset="-128"/>
            </a:endParaRPr>
          </a:p>
        </p:txBody>
      </p:sp>
      <p:sp>
        <p:nvSpPr>
          <p:cNvPr id="2" name="Rectangle 67589"/>
          <p:cNvSpPr>
            <a:spLocks noChangeArrowheads="1"/>
          </p:cNvSpPr>
          <p:nvPr userDrawn="1"/>
        </p:nvSpPr>
        <p:spPr bwMode="auto">
          <a:xfrm>
            <a:off x="450850" y="6450013"/>
            <a:ext cx="592138" cy="331787"/>
          </a:xfrm>
          <a:prstGeom prst="rect">
            <a:avLst/>
          </a:prstGeom>
          <a:noFill/>
          <a:ln w="9525" algn="ctr">
            <a:noFill/>
            <a:miter lim="800000"/>
            <a:headEnd/>
            <a:tailEnd/>
          </a:ln>
        </p:spPr>
        <p:txBody>
          <a:bodyPr/>
          <a:lstStyle/>
          <a:p>
            <a:pPr eaLnBrk="1" hangingPunct="1">
              <a:defRPr/>
            </a:pPr>
            <a:fld id="{E2FFF7BB-A780-497E-BD67-EB265FAA58B0}" type="slidenum">
              <a:rPr lang="en-US" sz="1000" b="0">
                <a:solidFill>
                  <a:schemeClr val="bg1"/>
                </a:solidFill>
                <a:ea typeface="ＭＳ Ｐゴシック" pitchFamily="1" charset="-128"/>
              </a:rPr>
              <a:pPr eaLnBrk="1" hangingPunct="1">
                <a:defRPr/>
              </a:pPr>
              <a:t>‹#›</a:t>
            </a:fld>
            <a:endParaRPr lang="en-US" sz="1000" b="0">
              <a:solidFill>
                <a:schemeClr val="bg1"/>
              </a:solidFill>
              <a:ea typeface="ＭＳ Ｐゴシック" pitchFamily="1" charset="-128"/>
            </a:endParaRPr>
          </a:p>
          <a:p>
            <a:pPr eaLnBrk="1" hangingPunct="1">
              <a:defRPr/>
            </a:pPr>
            <a:endParaRPr lang="en-US" sz="1000" b="0">
              <a:ea typeface="ＭＳ Ｐゴシック" pitchFamily="1" charset="-128"/>
            </a:endParaRPr>
          </a:p>
        </p:txBody>
      </p:sp>
      <p:sp>
        <p:nvSpPr>
          <p:cNvPr id="1032" name="Rectangle 11"/>
          <p:cNvSpPr>
            <a:spLocks noGrp="1" noChangeArrowheads="1"/>
          </p:cNvSpPr>
          <p:nvPr>
            <p:ph type="title"/>
          </p:nvPr>
        </p:nvSpPr>
        <p:spPr bwMode="auto">
          <a:xfrm>
            <a:off x="76200" y="228600"/>
            <a:ext cx="8077200" cy="914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9" name="Rectangle 67589"/>
          <p:cNvSpPr>
            <a:spLocks noChangeArrowheads="1"/>
          </p:cNvSpPr>
          <p:nvPr userDrawn="1"/>
        </p:nvSpPr>
        <p:spPr bwMode="auto">
          <a:xfrm>
            <a:off x="5943600" y="6248401"/>
            <a:ext cx="2971800" cy="457200"/>
          </a:xfrm>
          <a:prstGeom prst="rect">
            <a:avLst/>
          </a:prstGeom>
          <a:noFill/>
          <a:ln w="9525" algn="ctr">
            <a:noFill/>
            <a:miter lim="800000"/>
            <a:headEnd/>
            <a:tailEnd/>
          </a:ln>
        </p:spPr>
        <p:txBody>
          <a:bodyPr/>
          <a:lstStyle/>
          <a:p>
            <a:pPr algn="r" eaLnBrk="1" hangingPunct="1">
              <a:spcBef>
                <a:spcPts val="300"/>
              </a:spcBef>
              <a:spcAft>
                <a:spcPts val="300"/>
              </a:spcAft>
              <a:defRPr/>
            </a:pPr>
            <a:r>
              <a:rPr lang="en-US" sz="1600" b="0" i="1" smtClean="0">
                <a:solidFill>
                  <a:schemeClr val="bg1"/>
                </a:solidFill>
                <a:ea typeface="ＭＳ Ｐゴシック" pitchFamily="1" charset="-128"/>
              </a:rPr>
              <a:t>Huynh</a:t>
            </a:r>
            <a:r>
              <a:rPr lang="en-US" sz="1600" b="0" i="1" baseline="0" smtClean="0">
                <a:solidFill>
                  <a:schemeClr val="bg1"/>
                </a:solidFill>
                <a:ea typeface="ＭＳ Ｐゴシック" pitchFamily="1" charset="-128"/>
              </a:rPr>
              <a:t> Nguyen Chinh</a:t>
            </a:r>
            <a:endParaRPr lang="en-US" sz="1600" b="0" i="1">
              <a:solidFill>
                <a:schemeClr val="bg1"/>
              </a:solidFill>
              <a:ea typeface="ＭＳ Ｐゴシック" pitchFamily="1" charset="-128"/>
            </a:endParaRPr>
          </a:p>
          <a:p>
            <a:pPr algn="r" eaLnBrk="1" hangingPunct="1">
              <a:defRPr/>
            </a:pPr>
            <a:endParaRPr lang="en-US" sz="1600" b="0" i="1">
              <a:ea typeface="ＭＳ Ｐゴシック" pitchFamily="1" charset="-128"/>
            </a:endParaRPr>
          </a:p>
        </p:txBody>
      </p:sp>
    </p:spTree>
  </p:cSld>
  <p:clrMap bg1="lt1" tx1="dk1" bg2="lt2" tx2="dk2" accent1="accent1" accent2="accent2" accent3="accent3" accent4="accent4" accent5="accent5" accent6="accent6" hlink="hlink" folHlink="folHlink"/>
  <p:sldLayoutIdLst>
    <p:sldLayoutId id="2147484255" r:id="rId1"/>
    <p:sldLayoutId id="2147484233" r:id="rId2"/>
    <p:sldLayoutId id="2147484234" r:id="rId3"/>
    <p:sldLayoutId id="2147484235" r:id="rId4"/>
    <p:sldLayoutId id="2147484236" r:id="rId5"/>
    <p:sldLayoutId id="2147484237" r:id="rId6"/>
    <p:sldLayoutId id="2147484238" r:id="rId7"/>
    <p:sldLayoutId id="2147484239" r:id="rId8"/>
    <p:sldLayoutId id="2147484240" r:id="rId9"/>
    <p:sldLayoutId id="2147484241" r:id="rId10"/>
    <p:sldLayoutId id="2147484242" r:id="rId11"/>
    <p:sldLayoutId id="2147484243" r:id="rId12"/>
  </p:sldLayoutIdLst>
  <p:transition>
    <p:fade/>
  </p:transition>
  <p:hf hdr="0" ftr="0"/>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p:titleStyle>
    <p:bodyStyle>
      <a:lvl1pPr marL="195263" indent="-195263" algn="l" rtl="0" eaLnBrk="0" fontAlgn="base" hangingPunct="0">
        <a:spcBef>
          <a:spcPct val="25000"/>
        </a:spcBef>
        <a:spcAft>
          <a:spcPct val="0"/>
        </a:spcAft>
        <a:buBlip>
          <a:blip r:embed="rId16"/>
        </a:buBlip>
        <a:defRPr sz="3000">
          <a:solidFill>
            <a:schemeClr val="tx1"/>
          </a:solidFill>
          <a:latin typeface="+mn-lt"/>
          <a:ea typeface="+mn-ea"/>
          <a:cs typeface="+mn-cs"/>
        </a:defRPr>
      </a:lvl1pPr>
      <a:lvl2pPr marL="576263" indent="-190500" algn="l" rtl="0" eaLnBrk="0" fontAlgn="base" hangingPunct="0">
        <a:spcBef>
          <a:spcPct val="25000"/>
        </a:spcBef>
        <a:spcAft>
          <a:spcPct val="0"/>
        </a:spcAft>
        <a:buBlip>
          <a:blip r:embed="rId16"/>
        </a:buBlip>
        <a:defRPr sz="2600">
          <a:solidFill>
            <a:schemeClr val="tx1"/>
          </a:solidFill>
          <a:latin typeface="+mn-lt"/>
          <a:ea typeface="+mn-ea"/>
        </a:defRPr>
      </a:lvl2pPr>
      <a:lvl3pPr marL="957263" indent="-190500" algn="l" rtl="0" eaLnBrk="0" fontAlgn="base" hangingPunct="0">
        <a:spcBef>
          <a:spcPct val="25000"/>
        </a:spcBef>
        <a:spcAft>
          <a:spcPct val="0"/>
        </a:spcAft>
        <a:buBlip>
          <a:blip r:embed="rId16"/>
        </a:buBlip>
        <a:defRPr sz="2400">
          <a:solidFill>
            <a:schemeClr val="tx1"/>
          </a:solidFill>
          <a:latin typeface="+mn-lt"/>
          <a:ea typeface="+mn-ea"/>
        </a:defRPr>
      </a:lvl3pPr>
      <a:lvl4pPr marL="1338263" indent="-190500" algn="l" rtl="0" eaLnBrk="0" fontAlgn="base" hangingPunct="0">
        <a:spcBef>
          <a:spcPct val="25000"/>
        </a:spcBef>
        <a:spcAft>
          <a:spcPct val="0"/>
        </a:spcAft>
        <a:buBlip>
          <a:blip r:embed="rId16"/>
        </a:buBlip>
        <a:defRPr sz="1600">
          <a:solidFill>
            <a:schemeClr val="tx1"/>
          </a:solidFill>
          <a:latin typeface="+mn-lt"/>
          <a:ea typeface="+mn-ea"/>
        </a:defRPr>
      </a:lvl4pPr>
      <a:lvl5pPr marL="1719263" indent="-190500" algn="l" rtl="0" eaLnBrk="0" fontAlgn="base" hangingPunct="0">
        <a:spcBef>
          <a:spcPct val="25000"/>
        </a:spcBef>
        <a:spcAft>
          <a:spcPct val="0"/>
        </a:spcAft>
        <a:buBlip>
          <a:blip r:embed="rId16"/>
        </a:buBlip>
        <a:defRPr sz="1400">
          <a:solidFill>
            <a:schemeClr val="tx1"/>
          </a:solidFill>
          <a:latin typeface="+mn-lt"/>
          <a:ea typeface="+mn-ea"/>
        </a:defRPr>
      </a:lvl5pPr>
      <a:lvl6pPr marL="2438400" indent="-228600" algn="l" rtl="0" fontAlgn="base">
        <a:spcBef>
          <a:spcPct val="20000"/>
        </a:spcBef>
        <a:spcAft>
          <a:spcPct val="0"/>
        </a:spcAft>
        <a:buBlip>
          <a:blip r:embed="rId16"/>
        </a:buBlip>
        <a:defRPr sz="1200">
          <a:solidFill>
            <a:schemeClr val="tx1"/>
          </a:solidFill>
          <a:latin typeface="+mn-lt"/>
          <a:ea typeface="+mn-ea"/>
        </a:defRPr>
      </a:lvl6pPr>
      <a:lvl7pPr marL="2895600" indent="-228600" algn="l" rtl="0" fontAlgn="base">
        <a:spcBef>
          <a:spcPct val="20000"/>
        </a:spcBef>
        <a:spcAft>
          <a:spcPct val="0"/>
        </a:spcAft>
        <a:buBlip>
          <a:blip r:embed="rId16"/>
        </a:buBlip>
        <a:defRPr sz="1200">
          <a:solidFill>
            <a:schemeClr val="tx1"/>
          </a:solidFill>
          <a:latin typeface="+mn-lt"/>
          <a:ea typeface="+mn-ea"/>
        </a:defRPr>
      </a:lvl7pPr>
      <a:lvl8pPr marL="3352800" indent="-228600" algn="l" rtl="0" fontAlgn="base">
        <a:spcBef>
          <a:spcPct val="20000"/>
        </a:spcBef>
        <a:spcAft>
          <a:spcPct val="0"/>
        </a:spcAft>
        <a:buBlip>
          <a:blip r:embed="rId16"/>
        </a:buBlip>
        <a:defRPr sz="1200">
          <a:solidFill>
            <a:schemeClr val="tx1"/>
          </a:solidFill>
          <a:latin typeface="+mn-lt"/>
          <a:ea typeface="+mn-ea"/>
        </a:defRPr>
      </a:lvl8pPr>
      <a:lvl9pPr marL="3810000" indent="-228600" algn="l" rtl="0" fontAlgn="base">
        <a:spcBef>
          <a:spcPct val="20000"/>
        </a:spcBef>
        <a:spcAft>
          <a:spcPct val="0"/>
        </a:spcAft>
        <a:buBlip>
          <a:blip r:embed="rId16"/>
        </a:buBlip>
        <a:defRPr sz="12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A58C6AA-4CDF-43E0-9611-123CB6CFA869}" type="datetimeFigureOut">
              <a:rPr lang="en-US"/>
              <a:pPr>
                <a:defRPr/>
              </a:pPr>
              <a:t>9/7/2021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B4E62AD-BDFC-4F0D-A5FC-996334F584D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44"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2.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p:cNvSpPr>
            <a:spLocks noChangeArrowheads="1"/>
          </p:cNvSpPr>
          <p:nvPr/>
        </p:nvSpPr>
        <p:spPr bwMode="auto">
          <a:xfrm>
            <a:off x="5808663" y="217488"/>
            <a:ext cx="184150" cy="457200"/>
          </a:xfrm>
          <a:prstGeom prst="rect">
            <a:avLst/>
          </a:prstGeom>
          <a:noFill/>
          <a:ln w="9525">
            <a:noFill/>
            <a:miter lim="800000"/>
            <a:headEnd/>
            <a:tailEnd/>
          </a:ln>
        </p:spPr>
        <p:txBody>
          <a:bodyPr wrap="none">
            <a:spAutoFit/>
          </a:bodyPr>
          <a:lstStyle/>
          <a:p>
            <a:endParaRPr lang="en-US" b="0" dirty="0"/>
          </a:p>
        </p:txBody>
      </p:sp>
      <p:sp>
        <p:nvSpPr>
          <p:cNvPr id="6" name="Rectangle 5"/>
          <p:cNvSpPr/>
          <p:nvPr/>
        </p:nvSpPr>
        <p:spPr>
          <a:xfrm>
            <a:off x="76200" y="1863725"/>
            <a:ext cx="8991600" cy="1981200"/>
          </a:xfrm>
          <a:prstGeom prst="rect">
            <a:avLst/>
          </a:prstGeom>
          <a:solidFill>
            <a:srgbClr val="E46C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0" y="1752600"/>
            <a:ext cx="9067800" cy="205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4000" dirty="0" err="1" smtClean="0"/>
              <a:t>Bài</a:t>
            </a:r>
            <a:r>
              <a:rPr lang="en-US" sz="4000" dirty="0" smtClean="0"/>
              <a:t> </a:t>
            </a:r>
            <a:r>
              <a:rPr lang="en-US" sz="4000" dirty="0"/>
              <a:t>3</a:t>
            </a:r>
            <a:r>
              <a:rPr lang="en-US" sz="4000" dirty="0" smtClean="0"/>
              <a:t>. </a:t>
            </a:r>
            <a:r>
              <a:rPr lang="en-US" sz="4000" dirty="0" err="1" smtClean="0"/>
              <a:t>Thiết</a:t>
            </a:r>
            <a:r>
              <a:rPr lang="en-US" sz="4000" dirty="0" smtClean="0"/>
              <a:t> </a:t>
            </a:r>
            <a:r>
              <a:rPr lang="en-US" sz="4000" dirty="0" err="1" smtClean="0"/>
              <a:t>kế</a:t>
            </a:r>
            <a:r>
              <a:rPr lang="en-US" sz="4000" dirty="0" smtClean="0"/>
              <a:t> </a:t>
            </a:r>
            <a:r>
              <a:rPr lang="en-US" sz="4000" dirty="0" err="1" smtClean="0"/>
              <a:t>mạng</a:t>
            </a:r>
            <a:r>
              <a:rPr lang="en-US" sz="4000" dirty="0" smtClean="0"/>
              <a:t> </a:t>
            </a:r>
            <a:r>
              <a:rPr lang="en-US" sz="4000" dirty="0" err="1" smtClean="0"/>
              <a:t>theo</a:t>
            </a:r>
            <a:r>
              <a:rPr lang="en-US" sz="4000" dirty="0" smtClean="0"/>
              <a:t> </a:t>
            </a:r>
            <a:r>
              <a:rPr lang="en-US" sz="4000" dirty="0" err="1" smtClean="0"/>
              <a:t>mô</a:t>
            </a:r>
            <a:r>
              <a:rPr lang="en-US" sz="4000" dirty="0" smtClean="0"/>
              <a:t> </a:t>
            </a:r>
            <a:r>
              <a:rPr lang="en-US" sz="4000" dirty="0" err="1" smtClean="0"/>
              <a:t>hình</a:t>
            </a:r>
            <a:r>
              <a:rPr lang="en-US" sz="4000" dirty="0" smtClean="0"/>
              <a:t> </a:t>
            </a:r>
            <a:r>
              <a:rPr lang="en-US" sz="4000" dirty="0" err="1" smtClean="0"/>
              <a:t>phân</a:t>
            </a:r>
            <a:r>
              <a:rPr lang="en-US" sz="4000" dirty="0" smtClean="0"/>
              <a:t> </a:t>
            </a:r>
            <a:r>
              <a:rPr lang="en-US" sz="4000" dirty="0" err="1" smtClean="0"/>
              <a:t>lớp</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endParaRPr>
          </a:p>
        </p:txBody>
      </p:sp>
      <p:sp>
        <p:nvSpPr>
          <p:cNvPr id="358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pPr algn="ctr"/>
            <a:r>
              <a:rPr lang="en-US" sz="6000" smtClean="0"/>
              <a:t>Review</a:t>
            </a:r>
            <a:endParaRPr lang="en-US" sz="6000"/>
          </a:p>
        </p:txBody>
      </p:sp>
    </p:spTree>
    <p:extLst>
      <p:ext uri="{BB962C8B-B14F-4D97-AF65-F5344CB8AC3E}">
        <p14:creationId xmlns:p14="http://schemas.microsoft.com/office/powerpoint/2010/main" val="2759580362"/>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838200"/>
            <a:ext cx="7772400" cy="5323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2174142"/>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14400"/>
            <a:ext cx="8001000" cy="5176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264944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1143000"/>
            <a:ext cx="8124825"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00154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690" y="799053"/>
            <a:ext cx="7738110" cy="5409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3206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8" y="1866900"/>
            <a:ext cx="8277225"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24848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1571625"/>
            <a:ext cx="7886700" cy="371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7277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Nội dung</a:t>
            </a:r>
            <a:endParaRPr lang="en-US">
              <a:solidFill>
                <a:schemeClr val="bg1"/>
              </a:solidFill>
            </a:endParaRPr>
          </a:p>
        </p:txBody>
      </p:sp>
      <p:sp>
        <p:nvSpPr>
          <p:cNvPr id="5" name="Content Placeholder 4"/>
          <p:cNvSpPr>
            <a:spLocks noGrp="1"/>
          </p:cNvSpPr>
          <p:nvPr>
            <p:ph idx="1"/>
          </p:nvPr>
        </p:nvSpPr>
        <p:spPr>
          <a:xfrm>
            <a:off x="304800" y="1066800"/>
            <a:ext cx="8839200" cy="4267200"/>
          </a:xfrm>
        </p:spPr>
        <p:txBody>
          <a:bodyPr/>
          <a:lstStyle/>
          <a:p>
            <a:pPr marL="514350" indent="-514350">
              <a:spcBef>
                <a:spcPts val="1200"/>
              </a:spcBef>
              <a:spcAft>
                <a:spcPts val="1200"/>
              </a:spcAft>
              <a:buFont typeface="+mj-lt"/>
              <a:buAutoNum type="arabicPeriod"/>
            </a:pPr>
            <a:r>
              <a:rPr lang="en-US" smtClean="0"/>
              <a:t> </a:t>
            </a:r>
            <a:r>
              <a:rPr lang="en-US" sz="2800" smtClean="0"/>
              <a:t>Giới thiệu</a:t>
            </a:r>
          </a:p>
          <a:p>
            <a:pPr marL="514350" indent="-514350">
              <a:spcBef>
                <a:spcPts val="1200"/>
              </a:spcBef>
              <a:spcAft>
                <a:spcPts val="1200"/>
              </a:spcAft>
              <a:buFont typeface="+mj-lt"/>
              <a:buAutoNum type="arabicPeriod"/>
            </a:pPr>
            <a:r>
              <a:rPr lang="en-US" sz="2800" smtClean="0"/>
              <a:t> Một số yêu cầu tổng quát </a:t>
            </a:r>
          </a:p>
          <a:p>
            <a:pPr marL="514350" indent="-514350">
              <a:spcBef>
                <a:spcPts val="1200"/>
              </a:spcBef>
              <a:spcAft>
                <a:spcPts val="1200"/>
              </a:spcAft>
              <a:buFont typeface="+mj-lt"/>
              <a:buAutoNum type="arabicPeriod"/>
            </a:pPr>
            <a:r>
              <a:rPr lang="en-US" sz="2800" smtClean="0"/>
              <a:t>Thiết kế mạng phân lớp </a:t>
            </a:r>
            <a:r>
              <a:rPr lang="en-US" sz="2400" smtClean="0"/>
              <a:t>(Core, Distribution, Access)</a:t>
            </a:r>
          </a:p>
          <a:p>
            <a:pPr marL="514350" indent="-514350">
              <a:spcBef>
                <a:spcPts val="1200"/>
              </a:spcBef>
              <a:spcAft>
                <a:spcPts val="1200"/>
              </a:spcAft>
              <a:buFont typeface="+mj-lt"/>
              <a:buAutoNum type="arabicPeriod"/>
            </a:pPr>
            <a:r>
              <a:rPr lang="en-US" sz="2800" smtClean="0"/>
              <a:t>Các yếu tố cần xem xét </a:t>
            </a:r>
          </a:p>
          <a:p>
            <a:pPr marL="514350" indent="-514350">
              <a:spcBef>
                <a:spcPts val="1200"/>
              </a:spcBef>
              <a:spcAft>
                <a:spcPts val="1200"/>
              </a:spcAft>
              <a:buFont typeface="+mj-lt"/>
              <a:buAutoNum type="arabicPeriod"/>
            </a:pPr>
            <a:r>
              <a:rPr lang="en-US" sz="2800" smtClean="0"/>
              <a:t>Thiết kế dạng module</a:t>
            </a:r>
          </a:p>
          <a:p>
            <a:pPr marL="514350" indent="-514350">
              <a:spcBef>
                <a:spcPts val="1200"/>
              </a:spcBef>
              <a:spcAft>
                <a:spcPts val="1200"/>
              </a:spcAft>
              <a:buFont typeface="+mj-lt"/>
              <a:buAutoNum type="arabicPeriod"/>
            </a:pPr>
            <a:r>
              <a:rPr lang="en-US" sz="2800" smtClean="0"/>
              <a:t>HD: Viết phần Tóm tắt, Mục tiêu, Phạm vi dự án,…</a:t>
            </a:r>
            <a:endParaRPr lang="en-US" smtClean="0"/>
          </a:p>
        </p:txBody>
      </p:sp>
    </p:spTree>
    <p:extLst>
      <p:ext uri="{BB962C8B-B14F-4D97-AF65-F5344CB8AC3E}">
        <p14:creationId xmlns:p14="http://schemas.microsoft.com/office/powerpoint/2010/main" val="1951533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1. Giới thiệu</a:t>
            </a:r>
            <a:endParaRPr lang="en-US">
              <a:solidFill>
                <a:schemeClr val="bg1"/>
              </a:solidFill>
            </a:endParaRPr>
          </a:p>
        </p:txBody>
      </p:sp>
      <p:sp>
        <p:nvSpPr>
          <p:cNvPr id="5" name="Content Placeholder 4"/>
          <p:cNvSpPr>
            <a:spLocks noGrp="1"/>
          </p:cNvSpPr>
          <p:nvPr>
            <p:ph idx="1"/>
          </p:nvPr>
        </p:nvSpPr>
        <p:spPr>
          <a:xfrm>
            <a:off x="304800" y="1066800"/>
            <a:ext cx="8534400" cy="4876800"/>
          </a:xfrm>
        </p:spPr>
        <p:txBody>
          <a:bodyPr/>
          <a:lstStyle/>
          <a:p>
            <a:pPr>
              <a:spcBef>
                <a:spcPts val="1200"/>
              </a:spcBef>
              <a:spcAft>
                <a:spcPts val="1200"/>
              </a:spcAft>
            </a:pPr>
            <a:r>
              <a:rPr lang="en-US" sz="2600">
                <a:solidFill>
                  <a:srgbClr val="FF0000"/>
                </a:solidFill>
              </a:rPr>
              <a:t>Mô hình mạng phân </a:t>
            </a:r>
            <a:r>
              <a:rPr lang="en-US" sz="2600" smtClean="0">
                <a:solidFill>
                  <a:srgbClr val="FF0000"/>
                </a:solidFill>
              </a:rPr>
              <a:t>lớp </a:t>
            </a:r>
            <a:r>
              <a:rPr lang="en-US" sz="2600"/>
              <a:t>cho phép thiết kế các mạng sử dụng các chức năng cụ thể kết hợp với các tổ chức phân </a:t>
            </a:r>
            <a:r>
              <a:rPr lang="en-US" sz="2600" smtClean="0"/>
              <a:t>cấp</a:t>
            </a:r>
          </a:p>
          <a:p>
            <a:pPr>
              <a:spcBef>
                <a:spcPts val="1200"/>
              </a:spcBef>
              <a:spcAft>
                <a:spcPts val="1200"/>
              </a:spcAft>
            </a:pPr>
            <a:r>
              <a:rPr lang="en-US" sz="2600" smtClean="0"/>
              <a:t>Đơn </a:t>
            </a:r>
            <a:r>
              <a:rPr lang="en-US" sz="2600"/>
              <a:t>giản hóa các nhiệm vụ cần thiết để </a:t>
            </a:r>
            <a:r>
              <a:rPr lang="en-US" sz="2600">
                <a:solidFill>
                  <a:srgbClr val="FF0000"/>
                </a:solidFill>
              </a:rPr>
              <a:t>đáp ứng các yêu cầu hiện tại</a:t>
            </a:r>
            <a:r>
              <a:rPr lang="en-US" sz="2600"/>
              <a:t> và có thể </a:t>
            </a:r>
            <a:r>
              <a:rPr lang="en-US" sz="2600">
                <a:solidFill>
                  <a:srgbClr val="FF0000"/>
                </a:solidFill>
              </a:rPr>
              <a:t>phát triển</a:t>
            </a:r>
            <a:r>
              <a:rPr lang="en-US" sz="2600"/>
              <a:t> để đáp ứng các yêu cầu </a:t>
            </a:r>
            <a:r>
              <a:rPr lang="en-US" sz="2600">
                <a:solidFill>
                  <a:srgbClr val="FF0000"/>
                </a:solidFill>
              </a:rPr>
              <a:t>tương </a:t>
            </a:r>
            <a:r>
              <a:rPr lang="en-US" sz="2600" smtClean="0">
                <a:solidFill>
                  <a:srgbClr val="FF0000"/>
                </a:solidFill>
              </a:rPr>
              <a:t>lai</a:t>
            </a:r>
          </a:p>
          <a:p>
            <a:pPr>
              <a:spcBef>
                <a:spcPts val="1200"/>
              </a:spcBef>
              <a:spcAft>
                <a:spcPts val="1200"/>
              </a:spcAft>
            </a:pPr>
            <a:r>
              <a:rPr lang="en-US" sz="2600">
                <a:solidFill>
                  <a:srgbClr val="FF0000"/>
                </a:solidFill>
              </a:rPr>
              <a:t>T</a:t>
            </a:r>
            <a:r>
              <a:rPr lang="en-US" sz="2600" smtClean="0">
                <a:solidFill>
                  <a:srgbClr val="FF0000"/>
                </a:solidFill>
              </a:rPr>
              <a:t>ổ </a:t>
            </a:r>
            <a:r>
              <a:rPr lang="en-US" sz="2600">
                <a:solidFill>
                  <a:srgbClr val="FF0000"/>
                </a:solidFill>
              </a:rPr>
              <a:t>chức thành các </a:t>
            </a:r>
            <a:r>
              <a:rPr lang="en-US" sz="2600" smtClean="0">
                <a:solidFill>
                  <a:srgbClr val="FF0000"/>
                </a:solidFill>
              </a:rPr>
              <a:t>lớp (layer) </a:t>
            </a:r>
            <a:r>
              <a:rPr lang="en-US" sz="2600"/>
              <a:t>để đơn giản hóa cho các nhiệm vụ thiết kế. </a:t>
            </a:r>
            <a:r>
              <a:rPr lang="en-US" sz="2600">
                <a:solidFill>
                  <a:srgbClr val="FF0000"/>
                </a:solidFill>
              </a:rPr>
              <a:t>Mỗi lớp </a:t>
            </a:r>
            <a:r>
              <a:rPr lang="en-US" sz="2600"/>
              <a:t>tập trung vào </a:t>
            </a:r>
            <a:r>
              <a:rPr lang="en-US" sz="2600">
                <a:solidFill>
                  <a:srgbClr val="FF0000"/>
                </a:solidFill>
              </a:rPr>
              <a:t>các chức năng cụ thể </a:t>
            </a:r>
            <a:r>
              <a:rPr lang="en-US" sz="2600"/>
              <a:t>cho phép người thiết kế </a:t>
            </a:r>
            <a:r>
              <a:rPr lang="en-US" sz="2600">
                <a:solidFill>
                  <a:srgbClr val="FF0000"/>
                </a:solidFill>
              </a:rPr>
              <a:t>chọn lựa </a:t>
            </a:r>
            <a:r>
              <a:rPr lang="en-US" sz="2600"/>
              <a:t>các hệ thống và tính năng </a:t>
            </a:r>
            <a:r>
              <a:rPr lang="en-US" sz="2600">
                <a:solidFill>
                  <a:srgbClr val="FF0000"/>
                </a:solidFill>
              </a:rPr>
              <a:t>phù hợp </a:t>
            </a:r>
            <a:r>
              <a:rPr lang="en-US" sz="2600"/>
              <a:t>cho mỗi lớp</a:t>
            </a:r>
          </a:p>
        </p:txBody>
      </p:sp>
    </p:spTree>
    <p:extLst>
      <p:ext uri="{BB962C8B-B14F-4D97-AF65-F5344CB8AC3E}">
        <p14:creationId xmlns:p14="http://schemas.microsoft.com/office/powerpoint/2010/main" val="24328471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1. Giới thiệu</a:t>
            </a:r>
            <a:endParaRPr lang="en-US">
              <a:solidFill>
                <a:schemeClr val="bg1"/>
              </a:solidFill>
            </a:endParaRPr>
          </a:p>
        </p:txBody>
      </p:sp>
      <p:sp>
        <p:nvSpPr>
          <p:cNvPr id="5" name="Content Placeholder 4"/>
          <p:cNvSpPr>
            <a:spLocks noGrp="1"/>
          </p:cNvSpPr>
          <p:nvPr>
            <p:ph idx="1"/>
          </p:nvPr>
        </p:nvSpPr>
        <p:spPr>
          <a:xfrm>
            <a:off x="76200" y="838200"/>
            <a:ext cx="8534400" cy="4876800"/>
          </a:xfrm>
        </p:spPr>
        <p:txBody>
          <a:bodyPr/>
          <a:lstStyle/>
          <a:p>
            <a:pPr marL="0" indent="0">
              <a:buNone/>
            </a:pPr>
            <a:r>
              <a:rPr lang="en-US" sz="2800">
                <a:solidFill>
                  <a:srgbClr val="FF0000"/>
                </a:solidFill>
              </a:rPr>
              <a:t>Những lợi ích </a:t>
            </a:r>
            <a:r>
              <a:rPr lang="en-US" sz="2800"/>
              <a:t>của mô hình phân </a:t>
            </a:r>
            <a:r>
              <a:rPr lang="en-US" sz="2800" smtClean="0"/>
              <a:t>lớp </a:t>
            </a:r>
            <a:r>
              <a:rPr lang="en-US" sz="2800"/>
              <a:t>trong thiết kế mạng có thể kể đến như:</a:t>
            </a:r>
          </a:p>
          <a:p>
            <a:pPr lvl="1"/>
            <a:r>
              <a:rPr lang="en-US" sz="2400"/>
              <a:t>Tiết kiệm chi phí</a:t>
            </a:r>
          </a:p>
          <a:p>
            <a:pPr lvl="1"/>
            <a:r>
              <a:rPr lang="en-US" sz="2400"/>
              <a:t>Dễ hiểu</a:t>
            </a:r>
          </a:p>
          <a:p>
            <a:pPr lvl="1"/>
            <a:r>
              <a:rPr lang="en-US" sz="2400"/>
              <a:t>Phát triển dạng module</a:t>
            </a:r>
          </a:p>
          <a:p>
            <a:pPr lvl="1"/>
            <a:r>
              <a:rPr lang="en-US" sz="2400"/>
              <a:t>Cải thiện việc cô lập lỗi</a:t>
            </a:r>
            <a:endParaRPr lang="en-US" sz="2200"/>
          </a:p>
        </p:txBody>
      </p:sp>
      <p:pic>
        <p:nvPicPr>
          <p:cNvPr id="6" name="Picture 5"/>
          <p:cNvPicPr/>
          <p:nvPr/>
        </p:nvPicPr>
        <p:blipFill>
          <a:blip r:embed="rId2"/>
          <a:stretch>
            <a:fillRect/>
          </a:stretch>
        </p:blipFill>
        <p:spPr>
          <a:xfrm>
            <a:off x="4097311" y="1905000"/>
            <a:ext cx="5046689" cy="3531870"/>
          </a:xfrm>
          <a:prstGeom prst="rect">
            <a:avLst/>
          </a:prstGeom>
        </p:spPr>
      </p:pic>
    </p:spTree>
    <p:extLst>
      <p:ext uri="{BB962C8B-B14F-4D97-AF65-F5344CB8AC3E}">
        <p14:creationId xmlns:p14="http://schemas.microsoft.com/office/powerpoint/2010/main" val="1728119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2. Một số yêu cầu tổng quát</a:t>
            </a:r>
            <a:endParaRPr lang="en-US">
              <a:solidFill>
                <a:schemeClr val="bg1"/>
              </a:solidFill>
            </a:endParaRPr>
          </a:p>
        </p:txBody>
      </p:sp>
      <p:pic>
        <p:nvPicPr>
          <p:cNvPr id="7" name="Picture 6"/>
          <p:cNvPicPr/>
          <p:nvPr/>
        </p:nvPicPr>
        <p:blipFill>
          <a:blip r:embed="rId2"/>
          <a:stretch>
            <a:fillRect/>
          </a:stretch>
        </p:blipFill>
        <p:spPr>
          <a:xfrm>
            <a:off x="2592049" y="3001780"/>
            <a:ext cx="6553200" cy="3886200"/>
          </a:xfrm>
          <a:prstGeom prst="rect">
            <a:avLst/>
          </a:prstGeom>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8200"/>
            <a:ext cx="4724400" cy="2655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43752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lớp</a:t>
            </a:r>
            <a:endParaRPr lang="en-US">
              <a:solidFill>
                <a:schemeClr val="bg1"/>
              </a:solidFill>
            </a:endParaRPr>
          </a:p>
        </p:txBody>
      </p:sp>
      <p:sp>
        <p:nvSpPr>
          <p:cNvPr id="5" name="Content Placeholder 4"/>
          <p:cNvSpPr>
            <a:spLocks noGrp="1"/>
          </p:cNvSpPr>
          <p:nvPr>
            <p:ph idx="1"/>
          </p:nvPr>
        </p:nvSpPr>
        <p:spPr>
          <a:xfrm>
            <a:off x="152400" y="838200"/>
            <a:ext cx="8915400" cy="2667000"/>
          </a:xfrm>
        </p:spPr>
        <p:txBody>
          <a:bodyPr/>
          <a:lstStyle/>
          <a:p>
            <a:pPr marL="0" indent="0">
              <a:buNone/>
            </a:pPr>
            <a:r>
              <a:rPr lang="en-US" sz="2800" smtClean="0"/>
              <a:t>Bao </a:t>
            </a:r>
            <a:r>
              <a:rPr lang="en-US" sz="2800"/>
              <a:t>gồm:</a:t>
            </a:r>
          </a:p>
          <a:p>
            <a:pPr marL="457200" lvl="0" indent="-457200">
              <a:buFont typeface="+mj-lt"/>
              <a:buAutoNum type="arabicParenR"/>
            </a:pPr>
            <a:r>
              <a:rPr lang="en-US" sz="2400">
                <a:solidFill>
                  <a:srgbClr val="FF0000"/>
                </a:solidFill>
              </a:rPr>
              <a:t>Tầng lõi </a:t>
            </a:r>
            <a:r>
              <a:rPr lang="en-US" sz="2400"/>
              <a:t>(core layer): cung khả năng chuyển mạch tốc độ cao</a:t>
            </a:r>
          </a:p>
          <a:p>
            <a:pPr marL="457200" lvl="0" indent="-457200">
              <a:buFont typeface="+mj-lt"/>
              <a:buAutoNum type="arabicParenR"/>
            </a:pPr>
            <a:r>
              <a:rPr lang="en-US" sz="2400">
                <a:solidFill>
                  <a:srgbClr val="FF0000"/>
                </a:solidFill>
              </a:rPr>
              <a:t>Tầng phân phối </a:t>
            </a:r>
            <a:r>
              <a:rPr lang="en-US" sz="2400"/>
              <a:t>(distribution layer): cung cấp các chính sách kết nối</a:t>
            </a:r>
          </a:p>
          <a:p>
            <a:pPr marL="457200" indent="-457200">
              <a:buFont typeface="+mj-lt"/>
              <a:buAutoNum type="arabicParenR"/>
            </a:pPr>
            <a:r>
              <a:rPr lang="en-US" sz="2400">
                <a:solidFill>
                  <a:srgbClr val="FF0000"/>
                </a:solidFill>
              </a:rPr>
              <a:t>Tầng truy cập </a:t>
            </a:r>
            <a:r>
              <a:rPr lang="en-US" sz="2400"/>
              <a:t>(access layer): kết nối đến các thiết bị đầu cuối</a:t>
            </a:r>
          </a:p>
        </p:txBody>
      </p:sp>
      <p:pic>
        <p:nvPicPr>
          <p:cNvPr id="6" name="Picture 5"/>
          <p:cNvPicPr/>
          <p:nvPr/>
        </p:nvPicPr>
        <p:blipFill>
          <a:blip r:embed="rId2"/>
          <a:stretch>
            <a:fillRect/>
          </a:stretch>
        </p:blipFill>
        <p:spPr>
          <a:xfrm>
            <a:off x="1028075" y="3174167"/>
            <a:ext cx="5943600" cy="3496310"/>
          </a:xfrm>
          <a:prstGeom prst="rect">
            <a:avLst/>
          </a:prstGeom>
        </p:spPr>
      </p:pic>
    </p:spTree>
    <p:extLst>
      <p:ext uri="{BB962C8B-B14F-4D97-AF65-F5344CB8AC3E}">
        <p14:creationId xmlns:p14="http://schemas.microsoft.com/office/powerpoint/2010/main" val="36928307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lớp</a:t>
            </a:r>
            <a:endParaRPr lang="en-US">
              <a:solidFill>
                <a:schemeClr val="bg1"/>
              </a:solidFill>
            </a:endParaRPr>
          </a:p>
        </p:txBody>
      </p:sp>
      <p:sp>
        <p:nvSpPr>
          <p:cNvPr id="5" name="Content Placeholder 4"/>
          <p:cNvSpPr>
            <a:spLocks noGrp="1"/>
          </p:cNvSpPr>
          <p:nvPr>
            <p:ph idx="1"/>
          </p:nvPr>
        </p:nvSpPr>
        <p:spPr>
          <a:xfrm>
            <a:off x="152400" y="838200"/>
            <a:ext cx="8915400" cy="2667000"/>
          </a:xfrm>
        </p:spPr>
        <p:txBody>
          <a:bodyPr/>
          <a:lstStyle/>
          <a:p>
            <a:pPr marL="0" indent="0" algn="ctr">
              <a:buNone/>
            </a:pPr>
            <a:r>
              <a:rPr lang="en-US" sz="2800" smtClean="0">
                <a:solidFill>
                  <a:srgbClr val="FF0000"/>
                </a:solidFill>
              </a:rPr>
              <a:t>(1) Tầng lõi – Core layer</a:t>
            </a:r>
            <a:endParaRPr lang="en-US" sz="2800">
              <a:solidFill>
                <a:srgbClr val="FF0000"/>
              </a:solidFill>
            </a:endParaRPr>
          </a:p>
          <a:p>
            <a:pPr marL="0" lvl="0" indent="0">
              <a:buNone/>
            </a:pPr>
            <a:endParaRPr lang="en-US" sz="2400"/>
          </a:p>
        </p:txBody>
      </p:sp>
      <p:sp>
        <p:nvSpPr>
          <p:cNvPr id="2" name="Rectangle 1"/>
          <p:cNvSpPr/>
          <p:nvPr/>
        </p:nvSpPr>
        <p:spPr>
          <a:xfrm>
            <a:off x="228600" y="1219200"/>
            <a:ext cx="8860436" cy="5001369"/>
          </a:xfrm>
          <a:prstGeom prst="rect">
            <a:avLst/>
          </a:prstGeom>
        </p:spPr>
        <p:txBody>
          <a:bodyPr wrap="square">
            <a:spAutoFit/>
          </a:bodyPr>
          <a:lstStyle/>
          <a:p>
            <a:r>
              <a:rPr lang="en-US"/>
              <a:t>Là phần mạng chuyển mạch trung tâm tốc độ cao, tập trung vào các tính năng:</a:t>
            </a:r>
          </a:p>
          <a:p>
            <a:pPr marL="457200" lvl="0" indent="-457200">
              <a:spcBef>
                <a:spcPts val="300"/>
              </a:spcBef>
              <a:spcAft>
                <a:spcPts val="600"/>
              </a:spcAft>
              <a:buFont typeface="+mj-lt"/>
              <a:buAutoNum type="arabicParenR"/>
            </a:pPr>
            <a:r>
              <a:rPr lang="en-US" b="0"/>
              <a:t>Vận chuyển nhanh các lưu lượng dữ liệu</a:t>
            </a:r>
          </a:p>
          <a:p>
            <a:pPr marL="457200" lvl="0" indent="-457200">
              <a:spcBef>
                <a:spcPts val="300"/>
              </a:spcBef>
              <a:spcAft>
                <a:spcPts val="600"/>
              </a:spcAft>
              <a:buFont typeface="+mj-lt"/>
              <a:buAutoNum type="arabicParenR"/>
            </a:pPr>
            <a:r>
              <a:rPr lang="en-US" b="0"/>
              <a:t>Độ tin cậy cao</a:t>
            </a:r>
          </a:p>
          <a:p>
            <a:pPr marL="457200" lvl="0" indent="-457200">
              <a:spcBef>
                <a:spcPts val="300"/>
              </a:spcBef>
              <a:spcAft>
                <a:spcPts val="600"/>
              </a:spcAft>
              <a:buFont typeface="+mj-lt"/>
              <a:buAutoNum type="arabicParenR"/>
            </a:pPr>
            <a:r>
              <a:rPr lang="en-US" b="0"/>
              <a:t>Khả năng dự phòng cao</a:t>
            </a:r>
          </a:p>
          <a:p>
            <a:pPr marL="457200" lvl="0" indent="-457200">
              <a:spcBef>
                <a:spcPts val="300"/>
              </a:spcBef>
              <a:spcAft>
                <a:spcPts val="600"/>
              </a:spcAft>
              <a:buFont typeface="+mj-lt"/>
              <a:buAutoNum type="arabicParenR"/>
            </a:pPr>
            <a:r>
              <a:rPr lang="en-US" b="0"/>
              <a:t>Khả năng chịu lỗi</a:t>
            </a:r>
          </a:p>
          <a:p>
            <a:pPr marL="457200" lvl="0" indent="-457200">
              <a:spcBef>
                <a:spcPts val="300"/>
              </a:spcBef>
              <a:spcAft>
                <a:spcPts val="600"/>
              </a:spcAft>
              <a:buFont typeface="+mj-lt"/>
              <a:buAutoNum type="arabicParenR"/>
            </a:pPr>
            <a:r>
              <a:rPr lang="en-US" b="0"/>
              <a:t>Độ trễ thấp và khả năng quản lý tốt</a:t>
            </a:r>
          </a:p>
          <a:p>
            <a:pPr marL="457200" lvl="0" indent="-457200">
              <a:spcBef>
                <a:spcPts val="300"/>
              </a:spcBef>
              <a:spcAft>
                <a:spcPts val="600"/>
              </a:spcAft>
              <a:buFont typeface="+mj-lt"/>
              <a:buAutoNum type="arabicParenR"/>
            </a:pPr>
            <a:r>
              <a:rPr lang="en-US" b="0"/>
              <a:t>Tránh các tiêu tốn nhiều CPU do bảo mật, QoS, hoặc các tiến trình khác</a:t>
            </a:r>
          </a:p>
          <a:p>
            <a:pPr marL="457200" lvl="0" indent="-457200">
              <a:spcBef>
                <a:spcPts val="300"/>
              </a:spcBef>
              <a:spcAft>
                <a:spcPts val="600"/>
              </a:spcAft>
              <a:buFont typeface="+mj-lt"/>
              <a:buAutoNum type="arabicParenR"/>
            </a:pPr>
            <a:r>
              <a:rPr lang="en-US" b="0"/>
              <a:t>Phạm vi triển khai giới hạn </a:t>
            </a:r>
          </a:p>
          <a:p>
            <a:pPr marL="457200" indent="-457200">
              <a:spcBef>
                <a:spcPts val="300"/>
              </a:spcBef>
              <a:spcAft>
                <a:spcPts val="600"/>
              </a:spcAft>
              <a:buFont typeface="+mj-lt"/>
              <a:buAutoNum type="arabicParenR"/>
            </a:pPr>
            <a:r>
              <a:rPr lang="en-US" b="0"/>
              <a:t>QoS</a:t>
            </a:r>
          </a:p>
        </p:txBody>
      </p:sp>
    </p:spTree>
    <p:extLst>
      <p:ext uri="{BB962C8B-B14F-4D97-AF65-F5344CB8AC3E}">
        <p14:creationId xmlns:p14="http://schemas.microsoft.com/office/powerpoint/2010/main" val="17739434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838200"/>
            <a:ext cx="8915400" cy="2667000"/>
          </a:xfrm>
        </p:spPr>
        <p:txBody>
          <a:bodyPr/>
          <a:lstStyle/>
          <a:p>
            <a:pPr marL="0" indent="0" algn="ctr">
              <a:buNone/>
            </a:pPr>
            <a:r>
              <a:rPr lang="en-US" sz="2800" smtClean="0">
                <a:solidFill>
                  <a:srgbClr val="FF0000"/>
                </a:solidFill>
              </a:rPr>
              <a:t>(1) Tầng lõi – Core layer (tt)</a:t>
            </a:r>
            <a:endParaRPr lang="en-US" sz="2800">
              <a:solidFill>
                <a:srgbClr val="FF0000"/>
              </a:solidFill>
            </a:endParaRPr>
          </a:p>
          <a:p>
            <a:pPr marL="0" lvl="0" indent="0">
              <a:buNone/>
            </a:pPr>
            <a:endParaRPr lang="en-US" sz="2400"/>
          </a:p>
        </p:txBody>
      </p:sp>
      <p:sp>
        <p:nvSpPr>
          <p:cNvPr id="2" name="Rectangle 1"/>
          <p:cNvSpPr/>
          <p:nvPr/>
        </p:nvSpPr>
        <p:spPr>
          <a:xfrm>
            <a:off x="228600" y="1219200"/>
            <a:ext cx="8860436" cy="4985980"/>
          </a:xfrm>
          <a:prstGeom prst="rect">
            <a:avLst/>
          </a:prstGeom>
        </p:spPr>
        <p:txBody>
          <a:bodyPr wrap="square">
            <a:spAutoFit/>
          </a:bodyPr>
          <a:lstStyle/>
          <a:p>
            <a:pPr marL="342900" indent="-342900">
              <a:spcBef>
                <a:spcPts val="600"/>
              </a:spcBef>
              <a:spcAft>
                <a:spcPts val="600"/>
              </a:spcAft>
              <a:buFontTx/>
              <a:buChar char="-"/>
            </a:pPr>
            <a:r>
              <a:rPr lang="en-US" b="0" smtClean="0"/>
              <a:t>Hệ </a:t>
            </a:r>
            <a:r>
              <a:rPr lang="en-US" b="0"/>
              <a:t>thống mạng lõi </a:t>
            </a:r>
            <a:r>
              <a:rPr lang="en-US" b="0">
                <a:solidFill>
                  <a:srgbClr val="FF0000"/>
                </a:solidFill>
              </a:rPr>
              <a:t>có vai trò trung tâm </a:t>
            </a:r>
            <a:r>
              <a:rPr lang="en-US" b="0"/>
              <a:t>trong toàn bộ hệ thống hạ tầng </a:t>
            </a:r>
            <a:r>
              <a:rPr lang="en-US" b="0" smtClean="0"/>
              <a:t>mạng (network backbone). </a:t>
            </a:r>
            <a:r>
              <a:rPr lang="en-US" b="0"/>
              <a:t>Hệ thống core layer có </a:t>
            </a:r>
            <a:r>
              <a:rPr lang="en-US" b="0">
                <a:solidFill>
                  <a:srgbClr val="FF0000"/>
                </a:solidFill>
              </a:rPr>
              <a:t>tốc độ chuyển mạch cao nhất </a:t>
            </a:r>
            <a:r>
              <a:rPr lang="en-US" b="0"/>
              <a:t>trong các thành phần thiết kế. </a:t>
            </a:r>
            <a:endParaRPr lang="en-US" b="0" smtClean="0"/>
          </a:p>
          <a:p>
            <a:pPr marL="342900" indent="-342900">
              <a:spcBef>
                <a:spcPts val="600"/>
              </a:spcBef>
              <a:spcAft>
                <a:spcPts val="600"/>
              </a:spcAft>
              <a:buFontTx/>
              <a:buChar char="-"/>
            </a:pPr>
            <a:r>
              <a:rPr lang="en-US" b="0"/>
              <a:t>Trong thiết kế core layer, xem xét đến các yếu tố về </a:t>
            </a:r>
            <a:r>
              <a:rPr lang="en-US" b="0">
                <a:solidFill>
                  <a:srgbClr val="FF0000"/>
                </a:solidFill>
              </a:rPr>
              <a:t>dự phòng</a:t>
            </a:r>
            <a:r>
              <a:rPr lang="en-US" b="0"/>
              <a:t>, xác định các </a:t>
            </a:r>
            <a:r>
              <a:rPr lang="en-US" b="0">
                <a:solidFill>
                  <a:srgbClr val="FF0000"/>
                </a:solidFill>
              </a:rPr>
              <a:t>kết nối </a:t>
            </a:r>
            <a:r>
              <a:rPr lang="en-US" b="0"/>
              <a:t>WAN đến core hay đến khu vực </a:t>
            </a:r>
            <a:r>
              <a:rPr lang="en-US" b="0">
                <a:solidFill>
                  <a:srgbClr val="FF0000"/>
                </a:solidFill>
              </a:rPr>
              <a:t>server farm</a:t>
            </a:r>
            <a:r>
              <a:rPr lang="en-US" b="0"/>
              <a:t>. </a:t>
            </a:r>
            <a:endParaRPr lang="en-US" b="0" smtClean="0"/>
          </a:p>
          <a:p>
            <a:pPr marL="342900" indent="-342900">
              <a:spcBef>
                <a:spcPts val="600"/>
              </a:spcBef>
              <a:spcAft>
                <a:spcPts val="600"/>
              </a:spcAft>
              <a:buFontTx/>
              <a:buChar char="-"/>
            </a:pPr>
            <a:r>
              <a:rPr lang="en-US" b="0"/>
              <a:t>Hệ thống hạ tầng mạng lõi có thể xem xét là thành phần từ </a:t>
            </a:r>
            <a:r>
              <a:rPr lang="en-US" b="0">
                <a:solidFill>
                  <a:srgbClr val="FF0000"/>
                </a:solidFill>
              </a:rPr>
              <a:t>router gateway </a:t>
            </a:r>
            <a:r>
              <a:rPr lang="en-US" b="0"/>
              <a:t>vào </a:t>
            </a:r>
            <a:r>
              <a:rPr lang="en-US" b="0">
                <a:solidFill>
                  <a:srgbClr val="FF0000"/>
                </a:solidFill>
              </a:rPr>
              <a:t>firewall</a:t>
            </a:r>
            <a:r>
              <a:rPr lang="en-US" b="0"/>
              <a:t>, đến </a:t>
            </a:r>
            <a:r>
              <a:rPr lang="en-US" b="0">
                <a:solidFill>
                  <a:srgbClr val="FF0000"/>
                </a:solidFill>
              </a:rPr>
              <a:t>core switch </a:t>
            </a:r>
            <a:r>
              <a:rPr lang="en-US" b="0"/>
              <a:t>và đến </a:t>
            </a:r>
            <a:r>
              <a:rPr lang="en-US" b="0">
                <a:solidFill>
                  <a:srgbClr val="FF0000"/>
                </a:solidFill>
              </a:rPr>
              <a:t>khu vực server </a:t>
            </a:r>
            <a:r>
              <a:rPr lang="en-US" b="0"/>
              <a:t>(bao gồm khu vực DMZ và Internal server</a:t>
            </a:r>
            <a:r>
              <a:rPr lang="en-US" b="0" smtClean="0"/>
              <a:t>).</a:t>
            </a:r>
          </a:p>
          <a:p>
            <a:pPr marL="342900" indent="-342900">
              <a:spcBef>
                <a:spcPts val="600"/>
              </a:spcBef>
              <a:spcAft>
                <a:spcPts val="600"/>
              </a:spcAft>
              <a:buFontTx/>
              <a:buChar char="-"/>
            </a:pPr>
            <a:r>
              <a:rPr lang="en-US" b="0">
                <a:solidFill>
                  <a:srgbClr val="FF0000"/>
                </a:solidFill>
              </a:rPr>
              <a:t>Trong mạng nội bộ</a:t>
            </a:r>
            <a:r>
              <a:rPr lang="en-US" b="0"/>
              <a:t>, tầng Core có thể kết nối đến các tòa nhà, kết nối đến khu vực server farm, kết nối đến khu vực Enterprise Edge để hỗ trợ kết nối Internet, WAN</a:t>
            </a:r>
          </a:p>
        </p:txBody>
      </p:sp>
    </p:spTree>
    <p:extLst>
      <p:ext uri="{BB962C8B-B14F-4D97-AF65-F5344CB8AC3E}">
        <p14:creationId xmlns:p14="http://schemas.microsoft.com/office/powerpoint/2010/main" val="34698180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838200"/>
            <a:ext cx="8915400" cy="2667000"/>
          </a:xfrm>
        </p:spPr>
        <p:txBody>
          <a:bodyPr/>
          <a:lstStyle/>
          <a:p>
            <a:pPr marL="0" indent="0" algn="ctr">
              <a:buNone/>
            </a:pPr>
            <a:r>
              <a:rPr lang="en-US" sz="2800" smtClean="0">
                <a:solidFill>
                  <a:srgbClr val="FF0000"/>
                </a:solidFill>
              </a:rPr>
              <a:t>(1) Tầng lõi – Core layer (tt)</a:t>
            </a:r>
          </a:p>
          <a:p>
            <a:pPr marL="0" indent="0" algn="ctr">
              <a:buNone/>
            </a:pPr>
            <a:endParaRPr lang="en-US" sz="2800">
              <a:solidFill>
                <a:srgbClr val="FF0000"/>
              </a:solidFill>
            </a:endParaRPr>
          </a:p>
        </p:txBody>
      </p:sp>
      <p:sp>
        <p:nvSpPr>
          <p:cNvPr id="2" name="Rectangle 1"/>
          <p:cNvSpPr/>
          <p:nvPr/>
        </p:nvSpPr>
        <p:spPr>
          <a:xfrm>
            <a:off x="228600" y="1219200"/>
            <a:ext cx="8860436" cy="5486117"/>
          </a:xfrm>
          <a:prstGeom prst="rect">
            <a:avLst/>
          </a:prstGeom>
        </p:spPr>
        <p:txBody>
          <a:bodyPr wrap="square">
            <a:spAutoFit/>
          </a:bodyPr>
          <a:lstStyle/>
          <a:p>
            <a:pPr marL="342900" indent="-342900">
              <a:spcBef>
                <a:spcPts val="600"/>
              </a:spcBef>
              <a:spcAft>
                <a:spcPts val="300"/>
              </a:spcAft>
              <a:buFont typeface="Wingdings" pitchFamily="2" charset="2"/>
              <a:buChar char="§"/>
            </a:pPr>
            <a:r>
              <a:rPr lang="en-US">
                <a:solidFill>
                  <a:srgbClr val="7030A0"/>
                </a:solidFill>
              </a:rPr>
              <a:t>Mục tiêu của thiết kế tầng Core</a:t>
            </a:r>
            <a:r>
              <a:rPr lang="en-US" smtClean="0">
                <a:solidFill>
                  <a:srgbClr val="7030A0"/>
                </a:solidFill>
              </a:rPr>
              <a:t>:</a:t>
            </a:r>
          </a:p>
          <a:p>
            <a:pPr marL="800100" lvl="1" indent="-342900">
              <a:spcBef>
                <a:spcPts val="600"/>
              </a:spcBef>
              <a:spcAft>
                <a:spcPts val="300"/>
              </a:spcAft>
              <a:buFont typeface="Wingdings" pitchFamily="2" charset="2"/>
              <a:buChar char="ü"/>
            </a:pPr>
            <a:r>
              <a:rPr lang="en-US" b="0"/>
              <a:t>Cung cấp 100% uptime</a:t>
            </a:r>
          </a:p>
          <a:p>
            <a:pPr marL="800100" lvl="1" indent="-342900">
              <a:spcBef>
                <a:spcPts val="600"/>
              </a:spcBef>
              <a:spcAft>
                <a:spcPts val="300"/>
              </a:spcAft>
              <a:buFont typeface="Wingdings" pitchFamily="2" charset="2"/>
              <a:buChar char="ü"/>
            </a:pPr>
            <a:r>
              <a:rPr lang="en-US" b="0"/>
              <a:t>Thông lượng lớn nhất trong toàn hệ thống</a:t>
            </a:r>
          </a:p>
          <a:p>
            <a:pPr marL="800100" lvl="1" indent="-342900">
              <a:spcBef>
                <a:spcPts val="600"/>
              </a:spcBef>
              <a:spcAft>
                <a:spcPts val="300"/>
              </a:spcAft>
              <a:buFont typeface="Wingdings" pitchFamily="2" charset="2"/>
              <a:buChar char="ü"/>
            </a:pPr>
            <a:r>
              <a:rPr lang="en-US" b="0"/>
              <a:t>Tạo điều kiện phát triển </a:t>
            </a:r>
            <a:r>
              <a:rPr lang="en-US" b="0" smtClean="0"/>
              <a:t>mạng</a:t>
            </a:r>
          </a:p>
          <a:p>
            <a:pPr marL="342900" indent="-342900">
              <a:spcBef>
                <a:spcPts val="600"/>
              </a:spcBef>
              <a:spcAft>
                <a:spcPts val="300"/>
              </a:spcAft>
              <a:buFont typeface="Wingdings" pitchFamily="2" charset="2"/>
              <a:buChar char="§"/>
            </a:pPr>
            <a:r>
              <a:rPr lang="en-US">
                <a:solidFill>
                  <a:srgbClr val="7030A0"/>
                </a:solidFill>
              </a:rPr>
              <a:t>Các kỹ thuật ở tầng Core:</a:t>
            </a:r>
          </a:p>
          <a:p>
            <a:pPr marL="800100" lvl="1" indent="-342900">
              <a:spcBef>
                <a:spcPts val="600"/>
              </a:spcBef>
              <a:spcAft>
                <a:spcPts val="300"/>
              </a:spcAft>
              <a:buFont typeface="Wingdings" pitchFamily="2" charset="2"/>
              <a:buChar char="ü"/>
            </a:pPr>
            <a:r>
              <a:rPr lang="en-US" b="0"/>
              <a:t>Router hoặc Switch L3</a:t>
            </a:r>
          </a:p>
          <a:p>
            <a:pPr marL="800100" lvl="1" indent="-342900">
              <a:spcBef>
                <a:spcPts val="600"/>
              </a:spcBef>
              <a:spcAft>
                <a:spcPts val="300"/>
              </a:spcAft>
              <a:buFont typeface="Wingdings" pitchFamily="2" charset="2"/>
              <a:buChar char="ü"/>
            </a:pPr>
            <a:r>
              <a:rPr lang="en-US" b="0"/>
              <a:t>Khả năng dự phòng và chia tải</a:t>
            </a:r>
          </a:p>
          <a:p>
            <a:pPr marL="800100" lvl="1" indent="-342900">
              <a:spcBef>
                <a:spcPts val="600"/>
              </a:spcBef>
              <a:spcAft>
                <a:spcPts val="300"/>
              </a:spcAft>
              <a:buFont typeface="Wingdings" pitchFamily="2" charset="2"/>
              <a:buChar char="ü"/>
            </a:pPr>
            <a:r>
              <a:rPr lang="en-US" b="0"/>
              <a:t>Kết nối tốc độ cao và khả năng kết hợp các kết nối (aggregate links)</a:t>
            </a:r>
          </a:p>
          <a:p>
            <a:pPr marL="800100" lvl="1" indent="-342900">
              <a:spcBef>
                <a:spcPts val="600"/>
              </a:spcBef>
              <a:spcAft>
                <a:spcPts val="300"/>
              </a:spcAft>
              <a:buFont typeface="Wingdings" pitchFamily="2" charset="2"/>
              <a:buChar char="ü"/>
            </a:pPr>
            <a:r>
              <a:rPr lang="en-US" b="0"/>
              <a:t>Giao thức định tuyến có khả năng mở rộng thiết bị và hội tụ nhanh</a:t>
            </a:r>
          </a:p>
          <a:p>
            <a:pPr marL="342900" indent="-342900">
              <a:buFont typeface="Wingdings" pitchFamily="2" charset="2"/>
              <a:buChar char="§"/>
            </a:pPr>
            <a:endParaRPr lang="en-US" b="0"/>
          </a:p>
        </p:txBody>
      </p:sp>
    </p:spTree>
    <p:extLst>
      <p:ext uri="{BB962C8B-B14F-4D97-AF65-F5344CB8AC3E}">
        <p14:creationId xmlns:p14="http://schemas.microsoft.com/office/powerpoint/2010/main" val="31055366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838200"/>
            <a:ext cx="8915400" cy="2667000"/>
          </a:xfrm>
        </p:spPr>
        <p:txBody>
          <a:bodyPr/>
          <a:lstStyle/>
          <a:p>
            <a:pPr marL="0" indent="0" algn="ctr">
              <a:buNone/>
            </a:pPr>
            <a:r>
              <a:rPr lang="en-US" sz="2800" smtClean="0">
                <a:solidFill>
                  <a:srgbClr val="FF0000"/>
                </a:solidFill>
              </a:rPr>
              <a:t>(1) Tầng lõi – Core layer (tt)</a:t>
            </a:r>
          </a:p>
          <a:p>
            <a:pPr marL="0" indent="0" algn="ctr">
              <a:buNone/>
            </a:pPr>
            <a:endParaRPr lang="en-US" sz="2800">
              <a:solidFill>
                <a:srgbClr val="FF0000"/>
              </a:solidFill>
            </a:endParaRPr>
          </a:p>
        </p:txBody>
      </p:sp>
      <p:sp>
        <p:nvSpPr>
          <p:cNvPr id="2" name="Rectangle 1"/>
          <p:cNvSpPr/>
          <p:nvPr/>
        </p:nvSpPr>
        <p:spPr>
          <a:xfrm>
            <a:off x="228600" y="1219200"/>
            <a:ext cx="8860436" cy="2215991"/>
          </a:xfrm>
          <a:prstGeom prst="rect">
            <a:avLst/>
          </a:prstGeom>
        </p:spPr>
        <p:txBody>
          <a:bodyPr wrap="square">
            <a:spAutoFit/>
          </a:bodyPr>
          <a:lstStyle/>
          <a:p>
            <a:pPr marL="342900" indent="-342900">
              <a:spcBef>
                <a:spcPts val="600"/>
              </a:spcBef>
              <a:spcAft>
                <a:spcPts val="300"/>
              </a:spcAft>
              <a:buFont typeface="Wingdings" pitchFamily="2" charset="2"/>
              <a:buChar char="§"/>
            </a:pPr>
            <a:r>
              <a:rPr lang="en-US" sz="2000" b="0"/>
              <a:t>Hầu hết tầng Core được triển khai theo dạng có dây theo mô hình full-mesh hoặc partial-mesh</a:t>
            </a:r>
            <a:r>
              <a:rPr lang="en-US" sz="2000" b="0" smtClean="0"/>
              <a:t>. Trong </a:t>
            </a:r>
            <a:r>
              <a:rPr lang="en-US" sz="2000" b="0"/>
              <a:t>mô hình partial-mesh, mỗi thiết bị kết nối ít nhất đến 2 thiết bị khác tạo ra các kết nối dự phòng và giảm mức độ phức tạp hơn so với mạng full-mesh.</a:t>
            </a:r>
            <a:endParaRPr lang="en-US" sz="2000" b="0" smtClean="0"/>
          </a:p>
          <a:p>
            <a:pPr marL="342900" indent="-342900">
              <a:spcBef>
                <a:spcPts val="600"/>
              </a:spcBef>
              <a:spcAft>
                <a:spcPts val="300"/>
              </a:spcAft>
              <a:buFont typeface="Wingdings" pitchFamily="2" charset="2"/>
              <a:buChar char="§"/>
            </a:pPr>
            <a:endParaRPr lang="en-US" sz="2000" b="0"/>
          </a:p>
          <a:p>
            <a:pPr marL="342900" indent="-342900">
              <a:buFont typeface="Wingdings" pitchFamily="2" charset="2"/>
              <a:buChar char="§"/>
            </a:pPr>
            <a:endParaRPr lang="en-US" b="0"/>
          </a:p>
        </p:txBody>
      </p:sp>
      <p:pic>
        <p:nvPicPr>
          <p:cNvPr id="6" name="Picture 5"/>
          <p:cNvPicPr/>
          <p:nvPr/>
        </p:nvPicPr>
        <p:blipFill>
          <a:blip r:embed="rId2"/>
          <a:stretch>
            <a:fillRect/>
          </a:stretch>
        </p:blipFill>
        <p:spPr>
          <a:xfrm>
            <a:off x="1219200" y="2514600"/>
            <a:ext cx="5943600" cy="3990975"/>
          </a:xfrm>
          <a:prstGeom prst="rect">
            <a:avLst/>
          </a:prstGeom>
        </p:spPr>
      </p:pic>
    </p:spTree>
    <p:extLst>
      <p:ext uri="{BB962C8B-B14F-4D97-AF65-F5344CB8AC3E}">
        <p14:creationId xmlns:p14="http://schemas.microsoft.com/office/powerpoint/2010/main" val="30850484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762000"/>
            <a:ext cx="8915400" cy="2667000"/>
          </a:xfrm>
        </p:spPr>
        <p:txBody>
          <a:bodyPr/>
          <a:lstStyle/>
          <a:p>
            <a:pPr marL="0" indent="0" algn="ctr">
              <a:buNone/>
            </a:pPr>
            <a:r>
              <a:rPr lang="en-US" sz="2800" smtClean="0">
                <a:solidFill>
                  <a:srgbClr val="FF0000"/>
                </a:solidFill>
              </a:rPr>
              <a:t>(1) Tầng lõi – Core layer (tt)</a:t>
            </a:r>
          </a:p>
          <a:p>
            <a:pPr marL="0" indent="0" algn="ctr">
              <a:buNone/>
            </a:pPr>
            <a:endParaRPr lang="en-US" sz="2800">
              <a:solidFill>
                <a:srgbClr val="FF0000"/>
              </a:solidFill>
            </a:endParaRPr>
          </a:p>
        </p:txBody>
      </p:sp>
      <p:sp>
        <p:nvSpPr>
          <p:cNvPr id="2" name="Rectangle 1"/>
          <p:cNvSpPr/>
          <p:nvPr/>
        </p:nvSpPr>
        <p:spPr>
          <a:xfrm>
            <a:off x="228600" y="1143000"/>
            <a:ext cx="8860436" cy="5924699"/>
          </a:xfrm>
          <a:prstGeom prst="rect">
            <a:avLst/>
          </a:prstGeom>
        </p:spPr>
        <p:txBody>
          <a:bodyPr wrap="square">
            <a:spAutoFit/>
          </a:bodyPr>
          <a:lstStyle/>
          <a:p>
            <a:pPr marL="342900" indent="-342900">
              <a:spcBef>
                <a:spcPts val="600"/>
              </a:spcBef>
              <a:spcAft>
                <a:spcPts val="300"/>
              </a:spcAft>
              <a:buFont typeface="Wingdings" pitchFamily="2" charset="2"/>
              <a:buChar char="§"/>
            </a:pPr>
            <a:r>
              <a:rPr lang="en-US" sz="2000" b="0" dirty="0" err="1"/>
              <a:t>Các</a:t>
            </a:r>
            <a:r>
              <a:rPr lang="en-US" sz="2000" b="0" dirty="0"/>
              <a:t> </a:t>
            </a:r>
            <a:r>
              <a:rPr lang="en-US" sz="2000" b="0" dirty="0" err="1"/>
              <a:t>trục</a:t>
            </a:r>
            <a:r>
              <a:rPr lang="en-US" sz="2000" b="0" dirty="0"/>
              <a:t> </a:t>
            </a:r>
            <a:r>
              <a:rPr lang="en-US" sz="2000" b="0" dirty="0" err="1"/>
              <a:t>trặc</a:t>
            </a:r>
            <a:r>
              <a:rPr lang="en-US" sz="2000" b="0" dirty="0"/>
              <a:t> ở </a:t>
            </a:r>
            <a:r>
              <a:rPr lang="en-US" sz="2000" b="0" dirty="0" err="1"/>
              <a:t>tầng</a:t>
            </a:r>
            <a:r>
              <a:rPr lang="en-US" sz="2000" b="0" dirty="0"/>
              <a:t> Core </a:t>
            </a:r>
            <a:r>
              <a:rPr lang="en-US" sz="2000" b="0" dirty="0" err="1"/>
              <a:t>có</a:t>
            </a:r>
            <a:r>
              <a:rPr lang="en-US" sz="2000" b="0" dirty="0"/>
              <a:t> </a:t>
            </a:r>
            <a:r>
              <a:rPr lang="en-US" sz="2000" b="0" dirty="0" err="1"/>
              <a:t>thể</a:t>
            </a:r>
            <a:r>
              <a:rPr lang="en-US" sz="2000" b="0" dirty="0"/>
              <a:t> </a:t>
            </a:r>
            <a:r>
              <a:rPr lang="en-US" sz="2000" b="0" dirty="0" err="1">
                <a:solidFill>
                  <a:srgbClr val="FF3300"/>
                </a:solidFill>
              </a:rPr>
              <a:t>ảnh</a:t>
            </a:r>
            <a:r>
              <a:rPr lang="en-US" sz="2000" b="0" dirty="0">
                <a:solidFill>
                  <a:srgbClr val="FF3300"/>
                </a:solidFill>
              </a:rPr>
              <a:t> </a:t>
            </a:r>
            <a:r>
              <a:rPr lang="en-US" sz="2000" b="0" dirty="0" err="1">
                <a:solidFill>
                  <a:srgbClr val="FF3300"/>
                </a:solidFill>
              </a:rPr>
              <a:t>hưởng</a:t>
            </a:r>
            <a:r>
              <a:rPr lang="en-US" sz="2000" b="0" dirty="0">
                <a:solidFill>
                  <a:srgbClr val="FF3300"/>
                </a:solidFill>
              </a:rPr>
              <a:t> </a:t>
            </a:r>
            <a:r>
              <a:rPr lang="en-US" sz="2000" b="0" dirty="0" err="1">
                <a:solidFill>
                  <a:srgbClr val="FF3300"/>
                </a:solidFill>
              </a:rPr>
              <a:t>đến</a:t>
            </a:r>
            <a:r>
              <a:rPr lang="en-US" sz="2000" b="0" dirty="0">
                <a:solidFill>
                  <a:srgbClr val="FF3300"/>
                </a:solidFill>
              </a:rPr>
              <a:t> </a:t>
            </a:r>
            <a:r>
              <a:rPr lang="en-US" sz="2000" b="0" dirty="0" err="1">
                <a:solidFill>
                  <a:srgbClr val="FF3300"/>
                </a:solidFill>
              </a:rPr>
              <a:t>tất</a:t>
            </a:r>
            <a:r>
              <a:rPr lang="en-US" sz="2000" b="0" dirty="0">
                <a:solidFill>
                  <a:srgbClr val="FF3300"/>
                </a:solidFill>
              </a:rPr>
              <a:t> </a:t>
            </a:r>
            <a:r>
              <a:rPr lang="en-US" sz="2000" b="0" dirty="0" err="1">
                <a:solidFill>
                  <a:srgbClr val="FF3300"/>
                </a:solidFill>
              </a:rPr>
              <a:t>cả</a:t>
            </a:r>
            <a:r>
              <a:rPr lang="en-US" sz="2000" b="0" dirty="0">
                <a:solidFill>
                  <a:srgbClr val="FF3300"/>
                </a:solidFill>
              </a:rPr>
              <a:t> </a:t>
            </a:r>
            <a:r>
              <a:rPr lang="en-US" sz="2000" b="0" dirty="0" err="1">
                <a:solidFill>
                  <a:srgbClr val="FF3300"/>
                </a:solidFill>
              </a:rPr>
              <a:t>người</a:t>
            </a:r>
            <a:r>
              <a:rPr lang="en-US" sz="2000" b="0" dirty="0">
                <a:solidFill>
                  <a:srgbClr val="FF3300"/>
                </a:solidFill>
              </a:rPr>
              <a:t> </a:t>
            </a:r>
            <a:r>
              <a:rPr lang="en-US" sz="2000" b="0" dirty="0" err="1"/>
              <a:t>dùng</a:t>
            </a:r>
            <a:r>
              <a:rPr lang="en-US" sz="2000" b="0" dirty="0"/>
              <a:t> </a:t>
            </a:r>
            <a:r>
              <a:rPr lang="en-US" sz="2000" b="0" dirty="0" err="1"/>
              <a:t>trong</a:t>
            </a:r>
            <a:r>
              <a:rPr lang="en-US" sz="2000" b="0" dirty="0"/>
              <a:t> </a:t>
            </a:r>
            <a:r>
              <a:rPr lang="en-US" sz="2000" b="0" dirty="0" err="1"/>
              <a:t>toàn</a:t>
            </a:r>
            <a:r>
              <a:rPr lang="en-US" sz="2000" b="0" dirty="0"/>
              <a:t> </a:t>
            </a:r>
            <a:r>
              <a:rPr lang="en-US" sz="2000" b="0" dirty="0" err="1"/>
              <a:t>hệ</a:t>
            </a:r>
            <a:r>
              <a:rPr lang="en-US" sz="2000" b="0" dirty="0"/>
              <a:t> </a:t>
            </a:r>
            <a:r>
              <a:rPr lang="en-US" sz="2000" b="0" dirty="0" err="1"/>
              <a:t>thống</a:t>
            </a:r>
            <a:r>
              <a:rPr lang="en-US" sz="2000" b="0" dirty="0"/>
              <a:t>. Do </a:t>
            </a:r>
            <a:r>
              <a:rPr lang="en-US" sz="2000" b="0" dirty="0" err="1"/>
              <a:t>đó</a:t>
            </a:r>
            <a:r>
              <a:rPr lang="en-US" sz="2000" b="0" dirty="0"/>
              <a:t>, </a:t>
            </a:r>
            <a:r>
              <a:rPr lang="en-US" sz="2000" b="0" dirty="0" err="1"/>
              <a:t>việc</a:t>
            </a:r>
            <a:r>
              <a:rPr lang="en-US" sz="2000" b="0" dirty="0"/>
              <a:t> </a:t>
            </a:r>
            <a:r>
              <a:rPr lang="en-US" sz="2000" b="0" dirty="0" err="1"/>
              <a:t>phòng</a:t>
            </a:r>
            <a:r>
              <a:rPr lang="en-US" sz="2000" b="0" dirty="0"/>
              <a:t> </a:t>
            </a:r>
            <a:r>
              <a:rPr lang="en-US" sz="2000" b="0" dirty="0" err="1"/>
              <a:t>tránh</a:t>
            </a:r>
            <a:r>
              <a:rPr lang="en-US" sz="2000" b="0" dirty="0"/>
              <a:t> </a:t>
            </a:r>
            <a:r>
              <a:rPr lang="en-US" sz="2000" b="0" dirty="0" err="1"/>
              <a:t>các</a:t>
            </a:r>
            <a:r>
              <a:rPr lang="en-US" sz="2000" b="0" dirty="0"/>
              <a:t> </a:t>
            </a:r>
            <a:r>
              <a:rPr lang="en-US" sz="2000" b="0" dirty="0" err="1"/>
              <a:t>tình</a:t>
            </a:r>
            <a:r>
              <a:rPr lang="en-US" sz="2000" b="0" dirty="0"/>
              <a:t> </a:t>
            </a:r>
            <a:r>
              <a:rPr lang="en-US" sz="2000" b="0" dirty="0" err="1"/>
              <a:t>trạng</a:t>
            </a:r>
            <a:r>
              <a:rPr lang="en-US" sz="2000" b="0" dirty="0"/>
              <a:t> </a:t>
            </a:r>
            <a:r>
              <a:rPr lang="en-US" sz="2000" b="0" dirty="0" err="1"/>
              <a:t>trục</a:t>
            </a:r>
            <a:r>
              <a:rPr lang="en-US" sz="2000" b="0" dirty="0"/>
              <a:t> </a:t>
            </a:r>
            <a:r>
              <a:rPr lang="en-US" sz="2000" b="0" dirty="0" err="1"/>
              <a:t>trặc</a:t>
            </a:r>
            <a:r>
              <a:rPr lang="en-US" sz="2000" b="0" dirty="0"/>
              <a:t> ở </a:t>
            </a:r>
            <a:r>
              <a:rPr lang="en-US" sz="2000" b="0" dirty="0" err="1"/>
              <a:t>tầng</a:t>
            </a:r>
            <a:r>
              <a:rPr lang="en-US" sz="2000" b="0" dirty="0"/>
              <a:t> </a:t>
            </a:r>
            <a:r>
              <a:rPr lang="en-US" sz="2000" b="0" dirty="0" err="1"/>
              <a:t>này</a:t>
            </a:r>
            <a:r>
              <a:rPr lang="en-US" sz="2000" b="0" dirty="0"/>
              <a:t> </a:t>
            </a:r>
            <a:r>
              <a:rPr lang="en-US" sz="2000" b="0" dirty="0" err="1"/>
              <a:t>là</a:t>
            </a:r>
            <a:r>
              <a:rPr lang="en-US" sz="2000" b="0" dirty="0"/>
              <a:t> </a:t>
            </a:r>
            <a:r>
              <a:rPr lang="en-US" sz="2000" b="0" dirty="0" err="1"/>
              <a:t>một</a:t>
            </a:r>
            <a:r>
              <a:rPr lang="en-US" sz="2000" b="0" dirty="0"/>
              <a:t> </a:t>
            </a:r>
            <a:r>
              <a:rPr lang="en-US" sz="2000" b="0" dirty="0" err="1"/>
              <a:t>nhiệm</a:t>
            </a:r>
            <a:r>
              <a:rPr lang="en-US" sz="2000" b="0" dirty="0"/>
              <a:t> </a:t>
            </a:r>
            <a:r>
              <a:rPr lang="en-US" sz="2000" b="0" dirty="0" err="1"/>
              <a:t>vụ</a:t>
            </a:r>
            <a:r>
              <a:rPr lang="en-US" sz="2000" b="0" dirty="0"/>
              <a:t> </a:t>
            </a:r>
            <a:r>
              <a:rPr lang="en-US" sz="2000" b="0" dirty="0" err="1"/>
              <a:t>khó</a:t>
            </a:r>
            <a:r>
              <a:rPr lang="en-US" sz="2000" b="0" dirty="0"/>
              <a:t> </a:t>
            </a:r>
            <a:r>
              <a:rPr lang="en-US" sz="2000" b="0" dirty="0" err="1"/>
              <a:t>khăn</a:t>
            </a:r>
            <a:r>
              <a:rPr lang="en-US" sz="2000" b="0" dirty="0"/>
              <a:t>. </a:t>
            </a:r>
            <a:r>
              <a:rPr lang="en-US" sz="2000" b="0" dirty="0" err="1"/>
              <a:t>Người</a:t>
            </a:r>
            <a:r>
              <a:rPr lang="en-US" sz="2000" b="0" dirty="0"/>
              <a:t> </a:t>
            </a:r>
            <a:r>
              <a:rPr lang="en-US" sz="2000" b="0" dirty="0" err="1">
                <a:solidFill>
                  <a:srgbClr val="FF3300"/>
                </a:solidFill>
              </a:rPr>
              <a:t>thiết</a:t>
            </a:r>
            <a:r>
              <a:rPr lang="en-US" sz="2000" b="0" dirty="0">
                <a:solidFill>
                  <a:srgbClr val="FF3300"/>
                </a:solidFill>
              </a:rPr>
              <a:t> </a:t>
            </a:r>
            <a:r>
              <a:rPr lang="en-US" sz="2000" b="0" dirty="0" err="1">
                <a:solidFill>
                  <a:srgbClr val="FF3300"/>
                </a:solidFill>
              </a:rPr>
              <a:t>kế</a:t>
            </a:r>
            <a:r>
              <a:rPr lang="en-US" sz="2000" b="0" dirty="0">
                <a:solidFill>
                  <a:srgbClr val="FF3300"/>
                </a:solidFill>
              </a:rPr>
              <a:t> </a:t>
            </a:r>
            <a:r>
              <a:rPr lang="en-US" sz="2000" b="0" dirty="0" err="1">
                <a:solidFill>
                  <a:srgbClr val="FF3300"/>
                </a:solidFill>
              </a:rPr>
              <a:t>phải</a:t>
            </a:r>
            <a:r>
              <a:rPr lang="en-US" sz="2000" b="0" dirty="0">
                <a:solidFill>
                  <a:srgbClr val="FF3300"/>
                </a:solidFill>
              </a:rPr>
              <a:t> </a:t>
            </a:r>
            <a:r>
              <a:rPr lang="en-US" sz="2000" b="0" dirty="0" err="1">
                <a:solidFill>
                  <a:srgbClr val="FF3300"/>
                </a:solidFill>
              </a:rPr>
              <a:t>phối</a:t>
            </a:r>
            <a:r>
              <a:rPr lang="en-US" sz="2000" b="0" dirty="0">
                <a:solidFill>
                  <a:srgbClr val="FF3300"/>
                </a:solidFill>
              </a:rPr>
              <a:t> </a:t>
            </a:r>
            <a:r>
              <a:rPr lang="en-US" sz="2000" b="0" dirty="0" err="1">
                <a:solidFill>
                  <a:srgbClr val="FF3300"/>
                </a:solidFill>
              </a:rPr>
              <a:t>hợp</a:t>
            </a:r>
            <a:r>
              <a:rPr lang="en-US" sz="2000" b="0" dirty="0">
                <a:solidFill>
                  <a:srgbClr val="FF3300"/>
                </a:solidFill>
              </a:rPr>
              <a:t> </a:t>
            </a:r>
            <a:r>
              <a:rPr lang="en-US" sz="2000" b="0" dirty="0" err="1">
                <a:solidFill>
                  <a:srgbClr val="FF3300"/>
                </a:solidFill>
              </a:rPr>
              <a:t>các</a:t>
            </a:r>
            <a:r>
              <a:rPr lang="en-US" sz="2000" b="0" dirty="0">
                <a:solidFill>
                  <a:srgbClr val="FF3300"/>
                </a:solidFill>
              </a:rPr>
              <a:t> </a:t>
            </a:r>
            <a:r>
              <a:rPr lang="en-US" sz="2000" b="0" dirty="0" err="1">
                <a:solidFill>
                  <a:srgbClr val="FF3300"/>
                </a:solidFill>
              </a:rPr>
              <a:t>tính</a:t>
            </a:r>
            <a:r>
              <a:rPr lang="en-US" sz="2000" b="0" dirty="0">
                <a:solidFill>
                  <a:srgbClr val="FF3300"/>
                </a:solidFill>
              </a:rPr>
              <a:t> </a:t>
            </a:r>
            <a:r>
              <a:rPr lang="en-US" sz="2000" b="0" dirty="0" err="1">
                <a:solidFill>
                  <a:srgbClr val="FF3300"/>
                </a:solidFill>
              </a:rPr>
              <a:t>năng</a:t>
            </a:r>
            <a:r>
              <a:rPr lang="en-US" sz="2000" b="0" dirty="0">
                <a:solidFill>
                  <a:srgbClr val="FF3300"/>
                </a:solidFill>
              </a:rPr>
              <a:t> </a:t>
            </a:r>
            <a:r>
              <a:rPr lang="en-US" sz="2000" b="0" dirty="0" err="1" smtClean="0"/>
              <a:t>để</a:t>
            </a:r>
            <a:r>
              <a:rPr lang="en-US" sz="2000" b="0" dirty="0" smtClean="0"/>
              <a:t> </a:t>
            </a:r>
            <a:r>
              <a:rPr lang="en-US" sz="2000" b="0" dirty="0" err="1"/>
              <a:t>giảm</a:t>
            </a:r>
            <a:r>
              <a:rPr lang="en-US" sz="2000" b="0" dirty="0"/>
              <a:t> </a:t>
            </a:r>
            <a:r>
              <a:rPr lang="en-US" sz="2000" b="0" dirty="0" err="1"/>
              <a:t>hoặc</a:t>
            </a:r>
            <a:r>
              <a:rPr lang="en-US" sz="2000" b="0" dirty="0"/>
              <a:t> </a:t>
            </a:r>
            <a:r>
              <a:rPr lang="en-US" sz="2000" b="0" dirty="0" err="1"/>
              <a:t>loại</a:t>
            </a:r>
            <a:r>
              <a:rPr lang="en-US" sz="2000" b="0" dirty="0"/>
              <a:t> </a:t>
            </a:r>
            <a:r>
              <a:rPr lang="en-US" sz="2000" b="0" dirty="0" err="1"/>
              <a:t>bỏ</a:t>
            </a:r>
            <a:r>
              <a:rPr lang="en-US" sz="2000" b="0" dirty="0"/>
              <a:t> </a:t>
            </a:r>
            <a:r>
              <a:rPr lang="en-US" sz="2000" b="0" dirty="0" err="1"/>
              <a:t>các</a:t>
            </a:r>
            <a:r>
              <a:rPr lang="en-US" sz="2000" b="0" dirty="0"/>
              <a:t> </a:t>
            </a:r>
            <a:r>
              <a:rPr lang="en-US" sz="2000" b="0" dirty="0" err="1"/>
              <a:t>ảnh</a:t>
            </a:r>
            <a:r>
              <a:rPr lang="en-US" sz="2000" b="0" dirty="0"/>
              <a:t> </a:t>
            </a:r>
            <a:r>
              <a:rPr lang="en-US" sz="2000" b="0" dirty="0" err="1"/>
              <a:t>hưởng</a:t>
            </a:r>
            <a:r>
              <a:rPr lang="en-US" sz="2000" b="0" dirty="0"/>
              <a:t> </a:t>
            </a:r>
            <a:r>
              <a:rPr lang="en-US" sz="2000" b="0" dirty="0" err="1" smtClean="0"/>
              <a:t>này</a:t>
            </a:r>
            <a:endParaRPr lang="en-US" sz="2000" b="0" dirty="0" smtClean="0"/>
          </a:p>
          <a:p>
            <a:pPr marL="342900" lvl="0" indent="-342900">
              <a:buFont typeface="Wingdings" pitchFamily="2" charset="2"/>
              <a:buChar char="§"/>
            </a:pPr>
            <a:r>
              <a:rPr lang="en-US" sz="2000" dirty="0" err="1"/>
              <a:t>Phòng</a:t>
            </a:r>
            <a:r>
              <a:rPr lang="en-US" sz="2000" dirty="0"/>
              <a:t> </a:t>
            </a:r>
            <a:r>
              <a:rPr lang="en-US" sz="2000" dirty="0" err="1"/>
              <a:t>chống</a:t>
            </a:r>
            <a:r>
              <a:rPr lang="en-US" sz="2000" dirty="0"/>
              <a:t> </a:t>
            </a:r>
            <a:r>
              <a:rPr lang="en-US" sz="2000" dirty="0" err="1"/>
              <a:t>các</a:t>
            </a:r>
            <a:r>
              <a:rPr lang="en-US" sz="2000" dirty="0"/>
              <a:t> </a:t>
            </a:r>
            <a:r>
              <a:rPr lang="en-US" sz="2000" dirty="0" err="1"/>
              <a:t>trục</a:t>
            </a:r>
            <a:r>
              <a:rPr lang="en-US" sz="2000" dirty="0"/>
              <a:t> </a:t>
            </a:r>
            <a:r>
              <a:rPr lang="en-US" sz="2000" dirty="0" err="1"/>
              <a:t>trặc</a:t>
            </a:r>
            <a:r>
              <a:rPr lang="en-US" sz="2000" dirty="0"/>
              <a:t>: </a:t>
            </a:r>
            <a:r>
              <a:rPr lang="en-US" sz="2000" b="0" dirty="0" err="1"/>
              <a:t>người</a:t>
            </a:r>
            <a:r>
              <a:rPr lang="en-US" sz="2000" b="0" dirty="0"/>
              <a:t> </a:t>
            </a:r>
            <a:r>
              <a:rPr lang="en-US" sz="2000" b="0" dirty="0" err="1"/>
              <a:t>thiết</a:t>
            </a:r>
            <a:r>
              <a:rPr lang="en-US" sz="2000" b="0" dirty="0"/>
              <a:t> </a:t>
            </a:r>
            <a:r>
              <a:rPr lang="en-US" sz="2000" b="0" dirty="0" err="1"/>
              <a:t>kế</a:t>
            </a:r>
            <a:r>
              <a:rPr lang="en-US" sz="2000" b="0" dirty="0"/>
              <a:t> </a:t>
            </a:r>
            <a:r>
              <a:rPr lang="en-US" sz="2000" b="0" dirty="0" err="1"/>
              <a:t>phải</a:t>
            </a:r>
            <a:r>
              <a:rPr lang="en-US" sz="2000" b="0" dirty="0"/>
              <a:t> </a:t>
            </a:r>
            <a:r>
              <a:rPr lang="en-US" sz="2000" b="0" dirty="0" err="1"/>
              <a:t>cung</a:t>
            </a:r>
            <a:r>
              <a:rPr lang="en-US" sz="2000" b="0" dirty="0"/>
              <a:t> </a:t>
            </a:r>
            <a:r>
              <a:rPr lang="en-US" sz="2000" b="0" dirty="0" err="1"/>
              <a:t>cấp</a:t>
            </a:r>
            <a:r>
              <a:rPr lang="en-US" sz="2000" b="0" dirty="0"/>
              <a:t> </a:t>
            </a:r>
            <a:r>
              <a:rPr lang="en-US" sz="2000" b="0" dirty="0" err="1"/>
              <a:t>giải</a:t>
            </a:r>
            <a:r>
              <a:rPr lang="en-US" sz="2000" b="0" dirty="0"/>
              <a:t> </a:t>
            </a:r>
            <a:r>
              <a:rPr lang="en-US" sz="2000" b="0" dirty="0" err="1"/>
              <a:t>pháp</a:t>
            </a:r>
            <a:r>
              <a:rPr lang="en-US" sz="2000" b="0" dirty="0"/>
              <a:t> </a:t>
            </a:r>
            <a:r>
              <a:rPr lang="en-US" sz="2000" b="0" dirty="0" err="1"/>
              <a:t>phòng</a:t>
            </a:r>
            <a:r>
              <a:rPr lang="en-US" sz="2000" b="0" dirty="0"/>
              <a:t> </a:t>
            </a:r>
            <a:r>
              <a:rPr lang="en-US" sz="2000" b="0" dirty="0" err="1"/>
              <a:t>chống</a:t>
            </a:r>
            <a:r>
              <a:rPr lang="en-US" sz="2000" b="0" dirty="0"/>
              <a:t> </a:t>
            </a:r>
            <a:r>
              <a:rPr lang="en-US" sz="2000" b="0" dirty="0" err="1"/>
              <a:t>các</a:t>
            </a:r>
            <a:r>
              <a:rPr lang="en-US" sz="2000" b="0" dirty="0"/>
              <a:t> </a:t>
            </a:r>
            <a:r>
              <a:rPr lang="en-US" sz="2000" b="0" dirty="0" err="1"/>
              <a:t>trục</a:t>
            </a:r>
            <a:r>
              <a:rPr lang="en-US" sz="2000" b="0" dirty="0"/>
              <a:t> </a:t>
            </a:r>
            <a:r>
              <a:rPr lang="en-US" sz="2000" b="0" dirty="0" err="1"/>
              <a:t>trặc</a:t>
            </a:r>
            <a:r>
              <a:rPr lang="en-US" sz="2000" b="0" dirty="0"/>
              <a:t> </a:t>
            </a:r>
            <a:r>
              <a:rPr lang="en-US" sz="2000" b="0" dirty="0" err="1"/>
              <a:t>có</a:t>
            </a:r>
            <a:r>
              <a:rPr lang="en-US" sz="2000" b="0" dirty="0"/>
              <a:t> </a:t>
            </a:r>
            <a:r>
              <a:rPr lang="en-US" sz="2000" b="0" dirty="0" err="1"/>
              <a:t>thể</a:t>
            </a:r>
            <a:r>
              <a:rPr lang="en-US" sz="2000" b="0" dirty="0"/>
              <a:t> </a:t>
            </a:r>
            <a:r>
              <a:rPr lang="en-US" sz="2000" b="0" dirty="0" err="1"/>
              <a:t>xảy</a:t>
            </a:r>
            <a:r>
              <a:rPr lang="en-US" sz="2000" b="0" dirty="0"/>
              <a:t> </a:t>
            </a:r>
            <a:r>
              <a:rPr lang="en-US" sz="2000" b="0" dirty="0" err="1"/>
              <a:t>ra</a:t>
            </a:r>
            <a:r>
              <a:rPr lang="en-US" sz="2000" b="0" dirty="0"/>
              <a:t> </a:t>
            </a:r>
            <a:r>
              <a:rPr lang="en-US" sz="2000" b="0" dirty="0" err="1"/>
              <a:t>và</a:t>
            </a:r>
            <a:r>
              <a:rPr lang="en-US" sz="2000" b="0" dirty="0"/>
              <a:t> </a:t>
            </a:r>
            <a:r>
              <a:rPr lang="en-US" sz="2000" b="0" dirty="0" err="1"/>
              <a:t>khả</a:t>
            </a:r>
            <a:r>
              <a:rPr lang="en-US" sz="2000" b="0" dirty="0"/>
              <a:t> </a:t>
            </a:r>
            <a:r>
              <a:rPr lang="en-US" sz="2000" b="0" dirty="0" err="1"/>
              <a:t>năng</a:t>
            </a:r>
            <a:r>
              <a:rPr lang="en-US" sz="2000" b="0" dirty="0"/>
              <a:t> </a:t>
            </a:r>
            <a:r>
              <a:rPr lang="en-US" sz="2000" b="0" dirty="0" err="1"/>
              <a:t>khôi</a:t>
            </a:r>
            <a:r>
              <a:rPr lang="en-US" sz="2000" b="0" dirty="0"/>
              <a:t> </a:t>
            </a:r>
            <a:r>
              <a:rPr lang="en-US" sz="2000" b="0" dirty="0" err="1"/>
              <a:t>phục</a:t>
            </a:r>
            <a:r>
              <a:rPr lang="en-US" sz="2000" b="0" dirty="0"/>
              <a:t> </a:t>
            </a:r>
            <a:r>
              <a:rPr lang="en-US" sz="2000" b="0" dirty="0" err="1"/>
              <a:t>nhanh</a:t>
            </a:r>
            <a:r>
              <a:rPr lang="en-US" sz="2000" b="0" dirty="0"/>
              <a:t> </a:t>
            </a:r>
            <a:r>
              <a:rPr lang="en-US" sz="2000" b="0" dirty="0" err="1"/>
              <a:t>chóng</a:t>
            </a:r>
            <a:r>
              <a:rPr lang="en-US" sz="2000" b="0" dirty="0"/>
              <a:t>. </a:t>
            </a:r>
            <a:r>
              <a:rPr lang="en-US" sz="2000" b="0" dirty="0" err="1"/>
              <a:t>Các</a:t>
            </a:r>
            <a:r>
              <a:rPr lang="en-US" sz="2000" b="0" dirty="0"/>
              <a:t> </a:t>
            </a:r>
            <a:r>
              <a:rPr lang="en-US" sz="2000" b="0" dirty="0" err="1"/>
              <a:t>thiết</a:t>
            </a:r>
            <a:r>
              <a:rPr lang="en-US" sz="2000" b="0" dirty="0"/>
              <a:t> </a:t>
            </a:r>
            <a:r>
              <a:rPr lang="en-US" sz="2000" b="0" dirty="0" err="1"/>
              <a:t>bị</a:t>
            </a:r>
            <a:r>
              <a:rPr lang="en-US" sz="2000" b="0" dirty="0"/>
              <a:t> </a:t>
            </a:r>
            <a:r>
              <a:rPr lang="en-US" sz="2000" b="0" dirty="0" err="1"/>
              <a:t>tầng</a:t>
            </a:r>
            <a:r>
              <a:rPr lang="en-US" sz="2000" b="0" dirty="0"/>
              <a:t> </a:t>
            </a:r>
            <a:r>
              <a:rPr lang="en-US" sz="2000" b="0" dirty="0" err="1"/>
              <a:t>này</a:t>
            </a:r>
            <a:r>
              <a:rPr lang="en-US" sz="2000" b="0" dirty="0"/>
              <a:t> </a:t>
            </a:r>
            <a:r>
              <a:rPr lang="en-US" sz="2000" b="0" dirty="0" err="1"/>
              <a:t>nên</a:t>
            </a:r>
            <a:r>
              <a:rPr lang="en-US" sz="2000" b="0" dirty="0"/>
              <a:t> </a:t>
            </a:r>
            <a:r>
              <a:rPr lang="en-US" sz="2000" b="0" dirty="0" err="1"/>
              <a:t>được</a:t>
            </a:r>
            <a:r>
              <a:rPr lang="en-US" sz="2000" b="0" dirty="0"/>
              <a:t> </a:t>
            </a:r>
            <a:r>
              <a:rPr lang="en-US" sz="2000" b="0" dirty="0" err="1"/>
              <a:t>thiết</a:t>
            </a:r>
            <a:r>
              <a:rPr lang="en-US" sz="2000" b="0" dirty="0"/>
              <a:t> </a:t>
            </a:r>
            <a:r>
              <a:rPr lang="en-US" sz="2000" b="0" dirty="0" err="1"/>
              <a:t>kế</a:t>
            </a:r>
            <a:r>
              <a:rPr lang="en-US" sz="2000" b="0" dirty="0"/>
              <a:t> </a:t>
            </a:r>
            <a:r>
              <a:rPr lang="en-US" sz="2000" b="0" dirty="0" err="1"/>
              <a:t>bao</a:t>
            </a:r>
            <a:r>
              <a:rPr lang="en-US" sz="2000" b="0" dirty="0"/>
              <a:t> </a:t>
            </a:r>
            <a:r>
              <a:rPr lang="en-US" sz="2000" b="0" dirty="0" err="1"/>
              <a:t>gồm</a:t>
            </a:r>
            <a:r>
              <a:rPr lang="en-US" sz="2000" b="0" dirty="0"/>
              <a:t> </a:t>
            </a:r>
            <a:r>
              <a:rPr lang="en-US" sz="2000" b="0" dirty="0" err="1"/>
              <a:t>những</a:t>
            </a:r>
            <a:r>
              <a:rPr lang="en-US" sz="2000" b="0" dirty="0"/>
              <a:t> </a:t>
            </a:r>
            <a:r>
              <a:rPr lang="en-US" sz="2000" b="0" dirty="0" err="1"/>
              <a:t>yếu</a:t>
            </a:r>
            <a:r>
              <a:rPr lang="en-US" sz="2000" b="0" dirty="0"/>
              <a:t> </a:t>
            </a:r>
            <a:r>
              <a:rPr lang="en-US" sz="2000" b="0" dirty="0" err="1"/>
              <a:t>tố</a:t>
            </a:r>
            <a:r>
              <a:rPr lang="en-US" sz="2000" b="0" dirty="0"/>
              <a:t> </a:t>
            </a:r>
            <a:r>
              <a:rPr lang="en-US" sz="2000" b="0" dirty="0" err="1"/>
              <a:t>sau</a:t>
            </a:r>
            <a:r>
              <a:rPr lang="en-US" sz="2000" b="0" dirty="0"/>
              <a:t>:</a:t>
            </a:r>
          </a:p>
          <a:p>
            <a:pPr marL="800100" lvl="1" indent="-342900">
              <a:buFont typeface="Wingdings" pitchFamily="2" charset="2"/>
              <a:buChar char="ü"/>
            </a:pPr>
            <a:r>
              <a:rPr lang="en-US" sz="2000" b="0" dirty="0" err="1"/>
              <a:t>Nguồn</a:t>
            </a:r>
            <a:r>
              <a:rPr lang="en-US" sz="2000" b="0" dirty="0"/>
              <a:t> </a:t>
            </a:r>
            <a:r>
              <a:rPr lang="en-US" sz="2000" b="0" dirty="0" err="1"/>
              <a:t>và</a:t>
            </a:r>
            <a:r>
              <a:rPr lang="en-US" sz="2000" b="0" dirty="0"/>
              <a:t> </a:t>
            </a:r>
            <a:r>
              <a:rPr lang="en-US" sz="2000" b="0" dirty="0" err="1"/>
              <a:t>quạt</a:t>
            </a:r>
            <a:r>
              <a:rPr lang="en-US" sz="2000" b="0" dirty="0"/>
              <a:t> </a:t>
            </a:r>
            <a:r>
              <a:rPr lang="en-US" sz="2000" b="0" dirty="0" err="1"/>
              <a:t>dự</a:t>
            </a:r>
            <a:r>
              <a:rPr lang="en-US" sz="2000" b="0" dirty="0"/>
              <a:t> </a:t>
            </a:r>
            <a:r>
              <a:rPr lang="en-US" sz="2000" b="0" dirty="0" err="1"/>
              <a:t>phòng</a:t>
            </a:r>
            <a:endParaRPr lang="en-US" sz="2000" b="0" dirty="0"/>
          </a:p>
          <a:p>
            <a:pPr marL="800100" lvl="1" indent="-342900">
              <a:buFont typeface="Wingdings" pitchFamily="2" charset="2"/>
              <a:buChar char="ü"/>
            </a:pPr>
            <a:r>
              <a:rPr lang="en-US" sz="2000" b="0" dirty="0" err="1"/>
              <a:t>Thiết</a:t>
            </a:r>
            <a:r>
              <a:rPr lang="en-US" sz="2000" b="0" dirty="0"/>
              <a:t> </a:t>
            </a:r>
            <a:r>
              <a:rPr lang="en-US" sz="2000" b="0" dirty="0" err="1"/>
              <a:t>kế</a:t>
            </a:r>
            <a:r>
              <a:rPr lang="en-US" sz="2000" b="0" dirty="0"/>
              <a:t> </a:t>
            </a:r>
            <a:r>
              <a:rPr lang="en-US" sz="2000" b="0" dirty="0" err="1" smtClean="0"/>
              <a:t>dựa</a:t>
            </a:r>
            <a:r>
              <a:rPr lang="en-US" sz="2000" b="0" dirty="0" smtClean="0"/>
              <a:t> </a:t>
            </a:r>
            <a:r>
              <a:rPr lang="en-US" sz="2000" b="0" dirty="0" err="1"/>
              <a:t>trên</a:t>
            </a:r>
            <a:r>
              <a:rPr lang="en-US" sz="2000" b="0" dirty="0"/>
              <a:t> </a:t>
            </a:r>
            <a:r>
              <a:rPr lang="en-US" sz="2000" b="0" dirty="0" err="1"/>
              <a:t>dạng</a:t>
            </a:r>
            <a:r>
              <a:rPr lang="en-US" sz="2000" b="0" dirty="0"/>
              <a:t> </a:t>
            </a:r>
            <a:r>
              <a:rPr lang="en-US" sz="2000" b="0" dirty="0" err="1"/>
              <a:t>khung</a:t>
            </a:r>
            <a:r>
              <a:rPr lang="en-US" sz="2000" b="0" dirty="0"/>
              <a:t> (chassis)</a:t>
            </a:r>
          </a:p>
          <a:p>
            <a:pPr marL="800100" lvl="1" indent="-342900">
              <a:buFont typeface="Wingdings" pitchFamily="2" charset="2"/>
              <a:buChar char="ü"/>
            </a:pPr>
            <a:r>
              <a:rPr lang="en-US" sz="2000" b="0" dirty="0" err="1"/>
              <a:t>Bổ</a:t>
            </a:r>
            <a:r>
              <a:rPr lang="en-US" sz="2000" b="0" dirty="0"/>
              <a:t> sung module </a:t>
            </a:r>
            <a:r>
              <a:rPr lang="en-US" sz="2000" b="0" dirty="0" err="1"/>
              <a:t>quản</a:t>
            </a:r>
            <a:r>
              <a:rPr lang="en-US" sz="2000" b="0" dirty="0"/>
              <a:t> </a:t>
            </a:r>
            <a:r>
              <a:rPr lang="en-US" sz="2000" b="0" dirty="0" err="1"/>
              <a:t>trị</a:t>
            </a:r>
            <a:endParaRPr lang="en-US" sz="2000" b="0" dirty="0"/>
          </a:p>
          <a:p>
            <a:pPr marL="342900" indent="-342900">
              <a:spcBef>
                <a:spcPts val="600"/>
              </a:spcBef>
              <a:spcAft>
                <a:spcPts val="300"/>
              </a:spcAft>
              <a:buFont typeface="Wingdings" pitchFamily="2" charset="2"/>
              <a:buChar char="§"/>
            </a:pPr>
            <a:r>
              <a:rPr lang="en-US" sz="2000" b="0" dirty="0" err="1"/>
              <a:t>Các</a:t>
            </a:r>
            <a:r>
              <a:rPr lang="en-US" sz="2000" b="0" dirty="0"/>
              <a:t> </a:t>
            </a:r>
            <a:r>
              <a:rPr lang="en-US" sz="2000" b="0" dirty="0" err="1"/>
              <a:t>thành</a:t>
            </a:r>
            <a:r>
              <a:rPr lang="en-US" sz="2000" b="0" dirty="0"/>
              <a:t> </a:t>
            </a:r>
            <a:r>
              <a:rPr lang="en-US" sz="2000" b="0" dirty="0" err="1"/>
              <a:t>phần</a:t>
            </a:r>
            <a:r>
              <a:rPr lang="en-US" sz="2000" b="0" dirty="0"/>
              <a:t> </a:t>
            </a:r>
            <a:r>
              <a:rPr lang="en-US" sz="2000" b="0" dirty="0" err="1"/>
              <a:t>dự</a:t>
            </a:r>
            <a:r>
              <a:rPr lang="en-US" sz="2000" b="0" dirty="0"/>
              <a:t> </a:t>
            </a:r>
            <a:r>
              <a:rPr lang="en-US" sz="2000" b="0" dirty="0" err="1"/>
              <a:t>phòng</a:t>
            </a:r>
            <a:r>
              <a:rPr lang="en-US" sz="2000" b="0" dirty="0"/>
              <a:t> </a:t>
            </a:r>
            <a:r>
              <a:rPr lang="en-US" sz="2000" b="0" dirty="0" err="1"/>
              <a:t>làm</a:t>
            </a:r>
            <a:r>
              <a:rPr lang="en-US" sz="2000" b="0" dirty="0"/>
              <a:t> </a:t>
            </a:r>
            <a:r>
              <a:rPr lang="en-US" sz="2000" b="0" dirty="0" err="1">
                <a:solidFill>
                  <a:srgbClr val="FF3300"/>
                </a:solidFill>
              </a:rPr>
              <a:t>tăng</a:t>
            </a:r>
            <a:r>
              <a:rPr lang="en-US" sz="2000" b="0" dirty="0">
                <a:solidFill>
                  <a:srgbClr val="FF3300"/>
                </a:solidFill>
              </a:rPr>
              <a:t> chi </a:t>
            </a:r>
            <a:r>
              <a:rPr lang="en-US" sz="2000" b="0" dirty="0" err="1">
                <a:solidFill>
                  <a:srgbClr val="FF3300"/>
                </a:solidFill>
              </a:rPr>
              <a:t>phí</a:t>
            </a:r>
            <a:r>
              <a:rPr lang="en-US" sz="2000" b="0" dirty="0"/>
              <a:t>, </a:t>
            </a:r>
            <a:r>
              <a:rPr lang="en-US" sz="2000" b="0" dirty="0" err="1"/>
              <a:t>nhưng</a:t>
            </a:r>
            <a:r>
              <a:rPr lang="en-US" sz="2000" b="0" dirty="0"/>
              <a:t> </a:t>
            </a:r>
            <a:r>
              <a:rPr lang="en-US" sz="2000" b="0" dirty="0" err="1"/>
              <a:t>chúng</a:t>
            </a:r>
            <a:r>
              <a:rPr lang="en-US" sz="2000" b="0" dirty="0"/>
              <a:t> </a:t>
            </a:r>
            <a:r>
              <a:rPr lang="en-US" sz="2000" b="0" dirty="0" err="1"/>
              <a:t>có</a:t>
            </a:r>
            <a:r>
              <a:rPr lang="en-US" sz="2000" b="0" dirty="0"/>
              <a:t> </a:t>
            </a:r>
            <a:r>
              <a:rPr lang="en-US" sz="2000" b="0" dirty="0" err="1">
                <a:solidFill>
                  <a:srgbClr val="FF3300"/>
                </a:solidFill>
              </a:rPr>
              <a:t>giá</a:t>
            </a:r>
            <a:r>
              <a:rPr lang="en-US" sz="2000" b="0" dirty="0">
                <a:solidFill>
                  <a:srgbClr val="FF3300"/>
                </a:solidFill>
              </a:rPr>
              <a:t> </a:t>
            </a:r>
            <a:r>
              <a:rPr lang="en-US" sz="2000" b="0" dirty="0" err="1">
                <a:solidFill>
                  <a:srgbClr val="FF3300"/>
                </a:solidFill>
              </a:rPr>
              <a:t>trị</a:t>
            </a:r>
            <a:r>
              <a:rPr lang="en-US" sz="2000" b="0" dirty="0">
                <a:solidFill>
                  <a:srgbClr val="FF3300"/>
                </a:solidFill>
              </a:rPr>
              <a:t> </a:t>
            </a:r>
            <a:r>
              <a:rPr lang="en-US" sz="2000" b="0" dirty="0" err="1">
                <a:solidFill>
                  <a:srgbClr val="FF3300"/>
                </a:solidFill>
              </a:rPr>
              <a:t>quan</a:t>
            </a:r>
            <a:r>
              <a:rPr lang="en-US" sz="2000" b="0" dirty="0">
                <a:solidFill>
                  <a:srgbClr val="FF3300"/>
                </a:solidFill>
              </a:rPr>
              <a:t> </a:t>
            </a:r>
            <a:r>
              <a:rPr lang="en-US" sz="2000" b="0" dirty="0" err="1">
                <a:solidFill>
                  <a:srgbClr val="FF3300"/>
                </a:solidFill>
              </a:rPr>
              <a:t>trọng</a:t>
            </a:r>
            <a:r>
              <a:rPr lang="en-US" sz="2000" b="0" dirty="0"/>
              <a:t>. </a:t>
            </a:r>
            <a:r>
              <a:rPr lang="en-US" sz="2000" b="0" dirty="0" err="1"/>
              <a:t>Các</a:t>
            </a:r>
            <a:r>
              <a:rPr lang="en-US" sz="2000" b="0" dirty="0"/>
              <a:t> </a:t>
            </a:r>
            <a:r>
              <a:rPr lang="en-US" sz="2000" b="0" dirty="0" err="1"/>
              <a:t>thiết</a:t>
            </a:r>
            <a:r>
              <a:rPr lang="en-US" sz="2000" b="0" dirty="0"/>
              <a:t> </a:t>
            </a:r>
            <a:r>
              <a:rPr lang="en-US" sz="2000" b="0" dirty="0" err="1"/>
              <a:t>bị</a:t>
            </a:r>
            <a:r>
              <a:rPr lang="en-US" sz="2000" b="0" dirty="0"/>
              <a:t> </a:t>
            </a:r>
            <a:r>
              <a:rPr lang="en-US" sz="2000" b="0" dirty="0" err="1"/>
              <a:t>tầng</a:t>
            </a:r>
            <a:r>
              <a:rPr lang="en-US" sz="2000" b="0" dirty="0"/>
              <a:t> Core </a:t>
            </a:r>
            <a:r>
              <a:rPr lang="en-US" sz="2000" b="0" dirty="0" err="1"/>
              <a:t>nên</a:t>
            </a:r>
            <a:r>
              <a:rPr lang="en-US" sz="2000" b="0" dirty="0"/>
              <a:t> </a:t>
            </a:r>
            <a:r>
              <a:rPr lang="en-US" sz="2000" b="0" dirty="0" err="1"/>
              <a:t>có</a:t>
            </a:r>
            <a:r>
              <a:rPr lang="en-US" sz="2000" b="0" dirty="0"/>
              <a:t> </a:t>
            </a:r>
            <a:r>
              <a:rPr lang="en-US" sz="2000" b="0" dirty="0" err="1"/>
              <a:t>các</a:t>
            </a:r>
            <a:r>
              <a:rPr lang="en-US" sz="2000" b="0" dirty="0"/>
              <a:t> </a:t>
            </a:r>
            <a:r>
              <a:rPr lang="en-US" sz="2000" b="0" dirty="0" err="1"/>
              <a:t>thành</a:t>
            </a:r>
            <a:r>
              <a:rPr lang="en-US" sz="2000" b="0" dirty="0"/>
              <a:t> </a:t>
            </a:r>
            <a:r>
              <a:rPr lang="en-US" sz="2000" b="0" dirty="0" err="1"/>
              <a:t>phần</a:t>
            </a:r>
            <a:r>
              <a:rPr lang="en-US" sz="2000" b="0" dirty="0"/>
              <a:t> </a:t>
            </a:r>
            <a:r>
              <a:rPr lang="en-US" sz="2000" b="0" dirty="0" err="1"/>
              <a:t>có</a:t>
            </a:r>
            <a:r>
              <a:rPr lang="en-US" sz="2000" b="0" dirty="0"/>
              <a:t> </a:t>
            </a:r>
            <a:r>
              <a:rPr lang="en-US" sz="2000" b="0" dirty="0" err="1"/>
              <a:t>thể</a:t>
            </a:r>
            <a:r>
              <a:rPr lang="en-US" sz="2000" b="0" dirty="0"/>
              <a:t> </a:t>
            </a:r>
            <a:r>
              <a:rPr lang="en-US" sz="2000" b="0" dirty="0" err="1"/>
              <a:t>thay</a:t>
            </a:r>
            <a:r>
              <a:rPr lang="en-US" sz="2000" b="0" dirty="0"/>
              <a:t> </a:t>
            </a:r>
            <a:r>
              <a:rPr lang="en-US" sz="2000" b="0" dirty="0" err="1"/>
              <a:t>thế</a:t>
            </a:r>
            <a:r>
              <a:rPr lang="en-US" sz="2000" b="0" dirty="0"/>
              <a:t> </a:t>
            </a:r>
            <a:r>
              <a:rPr lang="en-US" sz="2000" b="0" dirty="0" err="1"/>
              <a:t>dạng</a:t>
            </a:r>
            <a:r>
              <a:rPr lang="en-US" sz="2000" b="0" dirty="0"/>
              <a:t> </a:t>
            </a:r>
            <a:r>
              <a:rPr lang="en-US" sz="2000" b="0" dirty="0">
                <a:solidFill>
                  <a:srgbClr val="FF3300"/>
                </a:solidFill>
              </a:rPr>
              <a:t>hot-swap</a:t>
            </a:r>
            <a:r>
              <a:rPr lang="en-US" sz="2000" b="0" dirty="0"/>
              <a:t>. </a:t>
            </a:r>
            <a:r>
              <a:rPr lang="en-US" sz="2000" b="0" dirty="0" err="1" smtClean="0"/>
              <a:t>Các</a:t>
            </a:r>
            <a:r>
              <a:rPr lang="en-US" sz="2000" b="0" dirty="0" smtClean="0"/>
              <a:t> </a:t>
            </a:r>
            <a:r>
              <a:rPr lang="en-US" sz="2000" b="0" dirty="0" err="1" smtClean="0"/>
              <a:t>thành</a:t>
            </a:r>
            <a:r>
              <a:rPr lang="en-US" sz="2000" b="0" dirty="0" smtClean="0"/>
              <a:t> </a:t>
            </a:r>
            <a:r>
              <a:rPr lang="en-US" sz="2000" b="0" dirty="0" err="1" smtClean="0"/>
              <a:t>phần</a:t>
            </a:r>
            <a:r>
              <a:rPr lang="en-US" sz="2000" b="0" dirty="0" smtClean="0"/>
              <a:t> </a:t>
            </a:r>
            <a:r>
              <a:rPr lang="en-US" sz="2000" b="0" dirty="0" err="1" smtClean="0"/>
              <a:t>này</a:t>
            </a:r>
            <a:r>
              <a:rPr lang="en-US" sz="2000" b="0" dirty="0" smtClean="0"/>
              <a:t> </a:t>
            </a:r>
            <a:r>
              <a:rPr lang="en-US" sz="2000" b="0" dirty="0" err="1" smtClean="0"/>
              <a:t>có</a:t>
            </a:r>
            <a:r>
              <a:rPr lang="en-US" sz="2000" b="0" dirty="0" smtClean="0"/>
              <a:t> </a:t>
            </a:r>
            <a:r>
              <a:rPr lang="en-US" sz="2000" b="0" dirty="0" err="1" smtClean="0"/>
              <a:t>thể</a:t>
            </a:r>
            <a:r>
              <a:rPr lang="en-US" sz="2000" b="0" dirty="0" smtClean="0"/>
              <a:t> </a:t>
            </a:r>
            <a:r>
              <a:rPr lang="en-US" sz="2000" b="0" dirty="0" err="1" smtClean="0"/>
              <a:t>gắn</a:t>
            </a:r>
            <a:r>
              <a:rPr lang="en-US" sz="2000" b="0" dirty="0" smtClean="0"/>
              <a:t> </a:t>
            </a:r>
            <a:r>
              <a:rPr lang="en-US" sz="2000" b="0" dirty="0" err="1" smtClean="0"/>
              <a:t>vào</a:t>
            </a:r>
            <a:r>
              <a:rPr lang="en-US" sz="2000" b="0" dirty="0" smtClean="0"/>
              <a:t> </a:t>
            </a:r>
            <a:r>
              <a:rPr lang="en-US" sz="2000" b="0" dirty="0" err="1" smtClean="0"/>
              <a:t>hoặc</a:t>
            </a:r>
            <a:r>
              <a:rPr lang="en-US" sz="2000" b="0" dirty="0" smtClean="0"/>
              <a:t> </a:t>
            </a:r>
            <a:r>
              <a:rPr lang="en-US" sz="2000" b="0" dirty="0" err="1" smtClean="0"/>
              <a:t>gỡ</a:t>
            </a:r>
            <a:r>
              <a:rPr lang="en-US" sz="2000" b="0" dirty="0" smtClean="0"/>
              <a:t> </a:t>
            </a:r>
            <a:r>
              <a:rPr lang="en-US" sz="2000" b="0" dirty="0" err="1" smtClean="0"/>
              <a:t>ra</a:t>
            </a:r>
            <a:r>
              <a:rPr lang="en-US" sz="2000" b="0" dirty="0" smtClean="0"/>
              <a:t> </a:t>
            </a:r>
            <a:r>
              <a:rPr lang="en-US" sz="2000" b="0" dirty="0" err="1" smtClean="0"/>
              <a:t>mà</a:t>
            </a:r>
            <a:r>
              <a:rPr lang="en-US" sz="2000" b="0" dirty="0" smtClean="0"/>
              <a:t> </a:t>
            </a:r>
            <a:r>
              <a:rPr lang="en-US" sz="2000" b="0" dirty="0" err="1" smtClean="0"/>
              <a:t>không</a:t>
            </a:r>
            <a:r>
              <a:rPr lang="en-US" sz="2000" b="0" dirty="0" smtClean="0"/>
              <a:t> </a:t>
            </a:r>
            <a:r>
              <a:rPr lang="en-US" sz="2000" b="0" dirty="0" err="1" smtClean="0"/>
              <a:t>cần</a:t>
            </a:r>
            <a:r>
              <a:rPr lang="en-US" sz="2000" b="0" dirty="0" smtClean="0"/>
              <a:t> </a:t>
            </a:r>
            <a:r>
              <a:rPr lang="en-US" sz="2000" b="0" dirty="0" err="1" smtClean="0"/>
              <a:t>phải</a:t>
            </a:r>
            <a:r>
              <a:rPr lang="en-US" sz="2000" b="0" dirty="0" smtClean="0"/>
              <a:t> </a:t>
            </a:r>
            <a:r>
              <a:rPr lang="en-US" sz="2000" b="0" dirty="0" err="1" smtClean="0"/>
              <a:t>tắt</a:t>
            </a:r>
            <a:r>
              <a:rPr lang="en-US" sz="2000" b="0" dirty="0" smtClean="0"/>
              <a:t> </a:t>
            </a:r>
            <a:r>
              <a:rPr lang="en-US" sz="2000" b="0" dirty="0" err="1" smtClean="0"/>
              <a:t>nguồn</a:t>
            </a:r>
            <a:r>
              <a:rPr lang="en-US" sz="2000" b="0" dirty="0" smtClean="0"/>
              <a:t> </a:t>
            </a:r>
            <a:r>
              <a:rPr lang="en-US" sz="2000" b="0" dirty="0" err="1" smtClean="0"/>
              <a:t>thiết</a:t>
            </a:r>
            <a:r>
              <a:rPr lang="en-US" sz="2000" b="0" dirty="0" smtClean="0"/>
              <a:t> </a:t>
            </a:r>
            <a:r>
              <a:rPr lang="en-US" sz="2000" b="0" dirty="0" err="1" smtClean="0"/>
              <a:t>bị</a:t>
            </a:r>
            <a:r>
              <a:rPr lang="en-US" sz="2000" b="0" dirty="0" smtClean="0"/>
              <a:t>. </a:t>
            </a:r>
            <a:r>
              <a:rPr lang="en-US" sz="2000" b="0" dirty="0" err="1" smtClean="0">
                <a:solidFill>
                  <a:srgbClr val="FF3300"/>
                </a:solidFill>
              </a:rPr>
              <a:t>Như</a:t>
            </a:r>
            <a:r>
              <a:rPr lang="en-US" sz="2000" b="0" dirty="0" smtClean="0">
                <a:solidFill>
                  <a:srgbClr val="FF3300"/>
                </a:solidFill>
              </a:rPr>
              <a:t> </a:t>
            </a:r>
            <a:r>
              <a:rPr lang="en-US" sz="2000" b="0" dirty="0" err="1">
                <a:solidFill>
                  <a:srgbClr val="FF3300"/>
                </a:solidFill>
              </a:rPr>
              <a:t>vậy</a:t>
            </a:r>
            <a:r>
              <a:rPr lang="en-US" sz="2000" b="0" dirty="0">
                <a:solidFill>
                  <a:srgbClr val="FF3300"/>
                </a:solidFill>
              </a:rPr>
              <a:t> </a:t>
            </a:r>
            <a:r>
              <a:rPr lang="en-US" sz="2000" b="0" dirty="0" err="1">
                <a:solidFill>
                  <a:srgbClr val="FF3300"/>
                </a:solidFill>
              </a:rPr>
              <a:t>sẽ</a:t>
            </a:r>
            <a:r>
              <a:rPr lang="en-US" sz="2000" b="0" dirty="0">
                <a:solidFill>
                  <a:srgbClr val="FF3300"/>
                </a:solidFill>
              </a:rPr>
              <a:t> </a:t>
            </a:r>
            <a:r>
              <a:rPr lang="en-US" sz="2000" b="0" dirty="0" err="1">
                <a:solidFill>
                  <a:srgbClr val="FF3300"/>
                </a:solidFill>
              </a:rPr>
              <a:t>giảm</a:t>
            </a:r>
            <a:r>
              <a:rPr lang="en-US" sz="2000" b="0" dirty="0">
                <a:solidFill>
                  <a:srgbClr val="FF3300"/>
                </a:solidFill>
              </a:rPr>
              <a:t> </a:t>
            </a:r>
            <a:r>
              <a:rPr lang="en-US" sz="2000" b="0" dirty="0" err="1">
                <a:solidFill>
                  <a:srgbClr val="FF3300"/>
                </a:solidFill>
              </a:rPr>
              <a:t>thời</a:t>
            </a:r>
            <a:r>
              <a:rPr lang="en-US" sz="2000" b="0" dirty="0">
                <a:solidFill>
                  <a:srgbClr val="FF3300"/>
                </a:solidFill>
              </a:rPr>
              <a:t> </a:t>
            </a:r>
            <a:r>
              <a:rPr lang="en-US" sz="2000" b="0" dirty="0" err="1">
                <a:solidFill>
                  <a:srgbClr val="FF3300"/>
                </a:solidFill>
              </a:rPr>
              <a:t>gian</a:t>
            </a:r>
            <a:r>
              <a:rPr lang="en-US" sz="2000" b="0" dirty="0">
                <a:solidFill>
                  <a:srgbClr val="FF3300"/>
                </a:solidFill>
              </a:rPr>
              <a:t> </a:t>
            </a:r>
            <a:r>
              <a:rPr lang="en-US" sz="2000" b="0" dirty="0" err="1">
                <a:solidFill>
                  <a:srgbClr val="FF3300"/>
                </a:solidFill>
              </a:rPr>
              <a:t>sửa</a:t>
            </a:r>
            <a:r>
              <a:rPr lang="en-US" sz="2000" b="0" dirty="0">
                <a:solidFill>
                  <a:srgbClr val="FF3300"/>
                </a:solidFill>
              </a:rPr>
              <a:t> </a:t>
            </a:r>
            <a:r>
              <a:rPr lang="en-US" sz="2000" b="0" dirty="0" err="1">
                <a:solidFill>
                  <a:srgbClr val="FF3300"/>
                </a:solidFill>
              </a:rPr>
              <a:t>chữa</a:t>
            </a:r>
            <a:r>
              <a:rPr lang="en-US" sz="2000" b="0" dirty="0">
                <a:solidFill>
                  <a:srgbClr val="FF3300"/>
                </a:solidFill>
              </a:rPr>
              <a:t> </a:t>
            </a:r>
            <a:r>
              <a:rPr lang="en-US" sz="2000" b="0" dirty="0" err="1">
                <a:solidFill>
                  <a:srgbClr val="FF3300"/>
                </a:solidFill>
              </a:rPr>
              <a:t>và</a:t>
            </a:r>
            <a:r>
              <a:rPr lang="en-US" sz="2000" b="0" dirty="0">
                <a:solidFill>
                  <a:srgbClr val="FF3300"/>
                </a:solidFill>
              </a:rPr>
              <a:t> </a:t>
            </a:r>
            <a:r>
              <a:rPr lang="en-US" sz="2000" b="0" dirty="0" err="1">
                <a:solidFill>
                  <a:srgbClr val="FF3300"/>
                </a:solidFill>
              </a:rPr>
              <a:t>gián</a:t>
            </a:r>
            <a:r>
              <a:rPr lang="en-US" sz="2000" b="0" dirty="0">
                <a:solidFill>
                  <a:srgbClr val="FF3300"/>
                </a:solidFill>
              </a:rPr>
              <a:t> </a:t>
            </a:r>
            <a:r>
              <a:rPr lang="en-US" sz="2000" b="0" dirty="0" err="1">
                <a:solidFill>
                  <a:srgbClr val="FF3300"/>
                </a:solidFill>
              </a:rPr>
              <a:t>đoạn</a:t>
            </a:r>
            <a:r>
              <a:rPr lang="en-US" sz="2000" b="0" dirty="0">
                <a:solidFill>
                  <a:srgbClr val="FF3300"/>
                </a:solidFill>
              </a:rPr>
              <a:t> </a:t>
            </a:r>
            <a:r>
              <a:rPr lang="en-US" sz="2000" b="0" dirty="0" err="1">
                <a:solidFill>
                  <a:srgbClr val="FF3300"/>
                </a:solidFill>
              </a:rPr>
              <a:t>các</a:t>
            </a:r>
            <a:r>
              <a:rPr lang="en-US" sz="2000" b="0" dirty="0">
                <a:solidFill>
                  <a:srgbClr val="FF3300"/>
                </a:solidFill>
              </a:rPr>
              <a:t> </a:t>
            </a:r>
            <a:r>
              <a:rPr lang="en-US" sz="2000" b="0" dirty="0" err="1">
                <a:solidFill>
                  <a:srgbClr val="FF3300"/>
                </a:solidFill>
              </a:rPr>
              <a:t>dịch</a:t>
            </a:r>
            <a:r>
              <a:rPr lang="en-US" sz="2000" b="0" dirty="0">
                <a:solidFill>
                  <a:srgbClr val="FF3300"/>
                </a:solidFill>
              </a:rPr>
              <a:t> </a:t>
            </a:r>
            <a:r>
              <a:rPr lang="en-US" sz="2000" b="0" dirty="0" err="1">
                <a:solidFill>
                  <a:srgbClr val="FF3300"/>
                </a:solidFill>
              </a:rPr>
              <a:t>vụ</a:t>
            </a:r>
            <a:r>
              <a:rPr lang="en-US" sz="2000" b="0" dirty="0">
                <a:solidFill>
                  <a:srgbClr val="FF3300"/>
                </a:solidFill>
              </a:rPr>
              <a:t> </a:t>
            </a:r>
            <a:r>
              <a:rPr lang="en-US" sz="2000" b="0" dirty="0" err="1">
                <a:solidFill>
                  <a:srgbClr val="FF3300"/>
                </a:solidFill>
              </a:rPr>
              <a:t>mạng</a:t>
            </a:r>
            <a:r>
              <a:rPr lang="en-US" sz="2000" b="0" dirty="0">
                <a:solidFill>
                  <a:srgbClr val="FF3300"/>
                </a:solidFill>
              </a:rPr>
              <a:t>.</a:t>
            </a:r>
            <a:r>
              <a:rPr lang="en-US" sz="2000" b="0" dirty="0"/>
              <a:t> </a:t>
            </a:r>
            <a:r>
              <a:rPr lang="en-US" sz="2000" b="0" dirty="0" err="1"/>
              <a:t>Các</a:t>
            </a:r>
            <a:r>
              <a:rPr lang="en-US" sz="2000" b="0" dirty="0"/>
              <a:t> </a:t>
            </a:r>
            <a:r>
              <a:rPr lang="en-US" sz="2000" b="0" dirty="0" err="1"/>
              <a:t>thiết</a:t>
            </a:r>
            <a:r>
              <a:rPr lang="en-US" sz="2000" b="0" dirty="0"/>
              <a:t> </a:t>
            </a:r>
            <a:r>
              <a:rPr lang="en-US" sz="2000" b="0" dirty="0" err="1"/>
              <a:t>bị</a:t>
            </a:r>
            <a:r>
              <a:rPr lang="en-US" sz="2000" b="0" dirty="0"/>
              <a:t> UPS </a:t>
            </a:r>
            <a:r>
              <a:rPr lang="en-US" sz="2000" b="0" dirty="0" err="1"/>
              <a:t>nên</a:t>
            </a:r>
            <a:r>
              <a:rPr lang="en-US" sz="2000" b="0" dirty="0"/>
              <a:t> </a:t>
            </a:r>
            <a:r>
              <a:rPr lang="en-US" sz="2000" b="0" dirty="0" err="1"/>
              <a:t>được</a:t>
            </a:r>
            <a:r>
              <a:rPr lang="en-US" sz="2000" b="0" dirty="0"/>
              <a:t> </a:t>
            </a:r>
            <a:r>
              <a:rPr lang="en-US" sz="2000" b="0" dirty="0" err="1"/>
              <a:t>bố</a:t>
            </a:r>
            <a:r>
              <a:rPr lang="en-US" sz="2000" b="0" dirty="0"/>
              <a:t> </a:t>
            </a:r>
            <a:r>
              <a:rPr lang="en-US" sz="2000" b="0" dirty="0" err="1"/>
              <a:t>trí</a:t>
            </a:r>
            <a:r>
              <a:rPr lang="en-US" sz="2000" b="0" dirty="0"/>
              <a:t> </a:t>
            </a:r>
            <a:r>
              <a:rPr lang="en-US" sz="2000" b="0" dirty="0" err="1"/>
              <a:t>để</a:t>
            </a:r>
            <a:r>
              <a:rPr lang="en-US" sz="2000" b="0" dirty="0"/>
              <a:t> </a:t>
            </a:r>
            <a:r>
              <a:rPr lang="en-US" sz="2000" b="0" dirty="0" err="1"/>
              <a:t>đảm</a:t>
            </a:r>
            <a:r>
              <a:rPr lang="en-US" sz="2000" b="0" dirty="0"/>
              <a:t> </a:t>
            </a:r>
            <a:r>
              <a:rPr lang="en-US" sz="2000" b="0" dirty="0" err="1"/>
              <a:t>bảo</a:t>
            </a:r>
            <a:r>
              <a:rPr lang="en-US" sz="2000" b="0" dirty="0"/>
              <a:t> </a:t>
            </a:r>
            <a:r>
              <a:rPr lang="en-US" sz="2000" b="0" dirty="0" err="1"/>
              <a:t>nguồn</a:t>
            </a:r>
            <a:r>
              <a:rPr lang="en-US" sz="2000" b="0" dirty="0"/>
              <a:t> </a:t>
            </a:r>
            <a:r>
              <a:rPr lang="en-US" sz="2000" b="0" dirty="0" err="1"/>
              <a:t>cho</a:t>
            </a:r>
            <a:r>
              <a:rPr lang="en-US" sz="2000" b="0" dirty="0"/>
              <a:t> </a:t>
            </a:r>
            <a:r>
              <a:rPr lang="en-US" sz="2000" b="0" dirty="0" err="1"/>
              <a:t>các</a:t>
            </a:r>
            <a:r>
              <a:rPr lang="en-US" sz="2000" b="0" dirty="0"/>
              <a:t> </a:t>
            </a:r>
            <a:r>
              <a:rPr lang="en-US" sz="2000" b="0" dirty="0" err="1"/>
              <a:t>thiết</a:t>
            </a:r>
            <a:r>
              <a:rPr lang="en-US" sz="2000" b="0" dirty="0"/>
              <a:t> </a:t>
            </a:r>
            <a:r>
              <a:rPr lang="en-US" sz="2000" b="0" dirty="0" err="1"/>
              <a:t>bị</a:t>
            </a:r>
            <a:r>
              <a:rPr lang="en-US" sz="2000" b="0" dirty="0"/>
              <a:t>.</a:t>
            </a:r>
            <a:endParaRPr lang="en-US" b="0" dirty="0"/>
          </a:p>
          <a:p>
            <a:pPr marL="342900" indent="-342900">
              <a:spcBef>
                <a:spcPts val="600"/>
              </a:spcBef>
              <a:spcAft>
                <a:spcPts val="300"/>
              </a:spcAft>
              <a:buFont typeface="Wingdings" pitchFamily="2" charset="2"/>
              <a:buChar char="§"/>
            </a:pPr>
            <a:endParaRPr lang="en-US" b="0" dirty="0"/>
          </a:p>
        </p:txBody>
      </p:sp>
    </p:spTree>
    <p:extLst>
      <p:ext uri="{BB962C8B-B14F-4D97-AF65-F5344CB8AC3E}">
        <p14:creationId xmlns:p14="http://schemas.microsoft.com/office/powerpoint/2010/main" val="3742213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838200"/>
            <a:ext cx="8915400" cy="2667000"/>
          </a:xfrm>
        </p:spPr>
        <p:txBody>
          <a:bodyPr/>
          <a:lstStyle/>
          <a:p>
            <a:pPr marL="0" indent="0" algn="ctr">
              <a:buNone/>
            </a:pPr>
            <a:r>
              <a:rPr lang="en-US" sz="2800" smtClean="0">
                <a:solidFill>
                  <a:srgbClr val="FF0000"/>
                </a:solidFill>
              </a:rPr>
              <a:t>(1) Tầng lõi – Core layer (tt)</a:t>
            </a:r>
          </a:p>
          <a:p>
            <a:pPr marL="0" indent="0" algn="ctr">
              <a:buNone/>
            </a:pPr>
            <a:endParaRPr lang="en-US" sz="2800">
              <a:solidFill>
                <a:srgbClr val="FF0000"/>
              </a:solidFill>
            </a:endParaRPr>
          </a:p>
        </p:txBody>
      </p:sp>
      <p:sp>
        <p:nvSpPr>
          <p:cNvPr id="2" name="Rectangle 1"/>
          <p:cNvSpPr/>
          <p:nvPr/>
        </p:nvSpPr>
        <p:spPr>
          <a:xfrm>
            <a:off x="228600" y="1219200"/>
            <a:ext cx="8860436" cy="3400931"/>
          </a:xfrm>
          <a:prstGeom prst="rect">
            <a:avLst/>
          </a:prstGeom>
        </p:spPr>
        <p:txBody>
          <a:bodyPr wrap="square">
            <a:spAutoFit/>
          </a:bodyPr>
          <a:lstStyle/>
          <a:p>
            <a:pPr lvl="0"/>
            <a:r>
              <a:rPr lang="en-US" sz="2000"/>
              <a:t>Giảm lỗi do yếu tố con người</a:t>
            </a:r>
          </a:p>
          <a:p>
            <a:pPr marL="342900" indent="-342900">
              <a:spcBef>
                <a:spcPts val="600"/>
              </a:spcBef>
              <a:spcAft>
                <a:spcPts val="600"/>
              </a:spcAft>
              <a:buFont typeface="Wingdings" pitchFamily="2" charset="2"/>
              <a:buChar char="§"/>
            </a:pPr>
            <a:r>
              <a:rPr lang="en-US" sz="2000" b="0"/>
              <a:t>Lỗi do con người tạo ra các lỗi về mạng. </a:t>
            </a:r>
            <a:r>
              <a:rPr lang="en-US" sz="2000" b="0">
                <a:solidFill>
                  <a:srgbClr val="FF0000"/>
                </a:solidFill>
              </a:rPr>
              <a:t>Việc bổ sung các kết nối dự phòng và các thiết bị dự phòng không thể loại bỏ yếu tố này</a:t>
            </a:r>
            <a:r>
              <a:rPr lang="en-US" sz="2000" b="0"/>
              <a:t>. Nhiều sự cố về mạng là do việc cập nhật và bổ sung </a:t>
            </a:r>
            <a:r>
              <a:rPr lang="en-US" sz="2000" b="0">
                <a:solidFill>
                  <a:srgbClr val="FF0000"/>
                </a:solidFill>
              </a:rPr>
              <a:t>các thiết bị mới chưa được lên kế hoạch, chưa được kiểm tra</a:t>
            </a:r>
            <a:r>
              <a:rPr lang="en-US" sz="2000" b="0"/>
              <a:t>. Không kiểm tra việc thực thi các thay đổi trong phòng thí nghiệm trước khi đưa vào hệ thống đang vận hành.</a:t>
            </a:r>
          </a:p>
          <a:p>
            <a:pPr marL="342900" indent="-342900">
              <a:spcBef>
                <a:spcPts val="600"/>
              </a:spcBef>
              <a:spcAft>
                <a:spcPts val="600"/>
              </a:spcAft>
              <a:buFont typeface="Wingdings" pitchFamily="2" charset="2"/>
              <a:buChar char="§"/>
            </a:pPr>
            <a:r>
              <a:rPr lang="en-US" sz="2000"/>
              <a:t>Nên có các chính sách bằng văn bản </a:t>
            </a:r>
            <a:r>
              <a:rPr lang="en-US" sz="2000" b="0"/>
              <a:t>để kiểm soát các thay đổi có được chấp nhận, có được kiểm thử, cài đặt và tài liệu hóa. Có kế hoạch để hệ thống có khả năng khôi phục lại trạng thái trước đó trong trường hợp các thay đổi không thành công.</a:t>
            </a:r>
            <a:endParaRPr lang="en-US" b="0"/>
          </a:p>
        </p:txBody>
      </p:sp>
    </p:spTree>
    <p:extLst>
      <p:ext uri="{BB962C8B-B14F-4D97-AF65-F5344CB8AC3E}">
        <p14:creationId xmlns:p14="http://schemas.microsoft.com/office/powerpoint/2010/main" val="29975119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838200"/>
            <a:ext cx="8915400" cy="2667000"/>
          </a:xfrm>
        </p:spPr>
        <p:txBody>
          <a:bodyPr/>
          <a:lstStyle/>
          <a:p>
            <a:pPr marL="0" indent="0" algn="ctr">
              <a:buNone/>
            </a:pPr>
            <a:r>
              <a:rPr lang="en-US" sz="2800" smtClean="0">
                <a:solidFill>
                  <a:srgbClr val="FF0000"/>
                </a:solidFill>
              </a:rPr>
              <a:t>(1) Tầng lõi – Core layer (tt)</a:t>
            </a:r>
          </a:p>
          <a:p>
            <a:pPr marL="0" indent="0" algn="ctr">
              <a:buNone/>
            </a:pPr>
            <a:endParaRPr lang="en-US" sz="2800">
              <a:solidFill>
                <a:srgbClr val="FF0000"/>
              </a:solidFill>
            </a:endParaRPr>
          </a:p>
        </p:txBody>
      </p:sp>
      <p:sp>
        <p:nvSpPr>
          <p:cNvPr id="2" name="Rectangle 1"/>
          <p:cNvSpPr/>
          <p:nvPr/>
        </p:nvSpPr>
        <p:spPr>
          <a:xfrm>
            <a:off x="228600" y="1219200"/>
            <a:ext cx="8860436" cy="4462760"/>
          </a:xfrm>
          <a:prstGeom prst="rect">
            <a:avLst/>
          </a:prstGeom>
        </p:spPr>
        <p:txBody>
          <a:bodyPr wrap="square">
            <a:spAutoFit/>
          </a:bodyPr>
          <a:lstStyle/>
          <a:p>
            <a:pPr lvl="0"/>
            <a:r>
              <a:rPr lang="en-US"/>
              <a:t>Hội tụ </a:t>
            </a:r>
            <a:r>
              <a:rPr lang="en-US" smtClean="0"/>
              <a:t>mạng:</a:t>
            </a:r>
            <a:endParaRPr lang="en-US"/>
          </a:p>
          <a:p>
            <a:r>
              <a:rPr lang="en-US" sz="2000" b="0"/>
              <a:t>Lựa chọn giao thức định tuyến cho tầng Core dựa trên độ lớn của mạng. </a:t>
            </a:r>
            <a:endParaRPr lang="en-US" sz="2000" b="0" smtClean="0"/>
          </a:p>
          <a:p>
            <a:r>
              <a:rPr lang="en-US" sz="2000" b="0" smtClean="0"/>
              <a:t>Hội </a:t>
            </a:r>
            <a:r>
              <a:rPr lang="en-US" sz="2000" b="0"/>
              <a:t>tụ mạng xảy ra khi tất cả các router có thông tin đầy đủ và chính xác về </a:t>
            </a:r>
            <a:r>
              <a:rPr lang="en-US" sz="2000" b="0" smtClean="0"/>
              <a:t>mạng.Thời </a:t>
            </a:r>
            <a:r>
              <a:rPr lang="en-US" sz="2000" b="0"/>
              <a:t>gian hội tụ nhanh hơn thì mạng có thể nhanh chóng phản ứng với các thay đổi trong hệ thống. các yếu tố ảnh hưởng đến thời gian hội tụ gồm:</a:t>
            </a:r>
          </a:p>
          <a:p>
            <a:pPr marL="800100" lvl="1" indent="-342900">
              <a:buFont typeface="Wingdings" pitchFamily="2" charset="2"/>
              <a:buChar char="ü"/>
            </a:pPr>
            <a:r>
              <a:rPr lang="en-US" sz="2000" b="0"/>
              <a:t>Tốc độ cập nhật định tuyến đối với các router trong mạng</a:t>
            </a:r>
          </a:p>
          <a:p>
            <a:pPr marL="800100" lvl="1" indent="-342900">
              <a:buFont typeface="Wingdings" pitchFamily="2" charset="2"/>
              <a:buChar char="ü"/>
            </a:pPr>
            <a:r>
              <a:rPr lang="en-US" sz="2000" b="0"/>
              <a:t>Thời gian mỗi router thực hiện tính toán để xác định các đường đi tốt nhất.</a:t>
            </a:r>
          </a:p>
          <a:p>
            <a:r>
              <a:rPr lang="en-US" sz="2000"/>
              <a:t>Những cân nhắc khi thiết kế với độ hội tụ mạng</a:t>
            </a:r>
            <a:r>
              <a:rPr lang="en-US" sz="2000" b="0"/>
              <a:t>: hầu hết các mạng đều có sự kết hợp giữa </a:t>
            </a:r>
            <a:r>
              <a:rPr lang="en-US" sz="2000"/>
              <a:t>định tuyến tĩnh và động</a:t>
            </a:r>
            <a:r>
              <a:rPr lang="en-US" sz="2000" b="0"/>
              <a:t>. người thiết kế cần xem xét tất cả các đường đi trong toàn hệ thống. Bảng định tuyến lớn có thể tốn nhiều thời gian để hội tụ. </a:t>
            </a:r>
            <a:r>
              <a:rPr lang="en-US" sz="2000" b="0">
                <a:solidFill>
                  <a:srgbClr val="FF0000"/>
                </a:solidFill>
              </a:rPr>
              <a:t>Thiết kế chiến lược cho không gian địa chỉ </a:t>
            </a:r>
            <a:r>
              <a:rPr lang="en-US" sz="2000" b="0"/>
              <a:t>và </a:t>
            </a:r>
            <a:r>
              <a:rPr lang="en-US" sz="2000" b="0">
                <a:solidFill>
                  <a:srgbClr val="FF0000"/>
                </a:solidFill>
              </a:rPr>
              <a:t>tổng hợp </a:t>
            </a:r>
            <a:r>
              <a:rPr lang="en-US" sz="2000" b="0"/>
              <a:t>các tuyến trong tất cả các tầng nên được xem xét để </a:t>
            </a:r>
            <a:r>
              <a:rPr lang="en-US" sz="2000" b="0">
                <a:solidFill>
                  <a:srgbClr val="FF0000"/>
                </a:solidFill>
              </a:rPr>
              <a:t>giảm thời gian hội tụ</a:t>
            </a:r>
            <a:r>
              <a:rPr lang="en-US" sz="2000" b="0"/>
              <a:t>.</a:t>
            </a:r>
            <a:endParaRPr lang="en-US" b="0"/>
          </a:p>
        </p:txBody>
      </p:sp>
    </p:spTree>
    <p:extLst>
      <p:ext uri="{BB962C8B-B14F-4D97-AF65-F5344CB8AC3E}">
        <p14:creationId xmlns:p14="http://schemas.microsoft.com/office/powerpoint/2010/main" val="19200698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88626" y="762000"/>
            <a:ext cx="8915400" cy="2667000"/>
          </a:xfrm>
        </p:spPr>
        <p:txBody>
          <a:bodyPr/>
          <a:lstStyle/>
          <a:p>
            <a:pPr marL="0" indent="0" algn="ctr">
              <a:buNone/>
            </a:pPr>
            <a:r>
              <a:rPr lang="en-US" sz="2800" smtClean="0">
                <a:solidFill>
                  <a:srgbClr val="FF0000"/>
                </a:solidFill>
              </a:rPr>
              <a:t>(2) Tầng phân phối – Distribution layer</a:t>
            </a:r>
            <a:endParaRPr lang="en-US" sz="2800">
              <a:solidFill>
                <a:srgbClr val="FF0000"/>
              </a:solidFill>
            </a:endParaRPr>
          </a:p>
          <a:p>
            <a:pPr marL="0" lvl="0" indent="0">
              <a:buNone/>
            </a:pPr>
            <a:endParaRPr lang="en-US" sz="2400"/>
          </a:p>
        </p:txBody>
      </p:sp>
      <p:sp>
        <p:nvSpPr>
          <p:cNvPr id="2" name="Rectangle 1"/>
          <p:cNvSpPr/>
          <p:nvPr/>
        </p:nvSpPr>
        <p:spPr>
          <a:xfrm>
            <a:off x="243590" y="1066800"/>
            <a:ext cx="8860436" cy="5178341"/>
          </a:xfrm>
          <a:prstGeom prst="rect">
            <a:avLst/>
          </a:prstGeom>
        </p:spPr>
        <p:txBody>
          <a:bodyPr wrap="square">
            <a:spAutoFit/>
          </a:bodyPr>
          <a:lstStyle/>
          <a:p>
            <a:r>
              <a:rPr lang="en-US" b="0"/>
              <a:t>Là khu vực trung gian giữa tầng lõi </a:t>
            </a:r>
            <a:r>
              <a:rPr lang="en-US" b="0" smtClean="0"/>
              <a:t>và </a:t>
            </a:r>
            <a:r>
              <a:rPr lang="en-US" b="0"/>
              <a:t>tầng truy </a:t>
            </a:r>
            <a:r>
              <a:rPr lang="en-US" b="0" smtClean="0"/>
              <a:t>cập. </a:t>
            </a:r>
            <a:r>
              <a:rPr lang="en-US" b="0"/>
              <a:t>Tầng phân phối có thể gồm nhiều chức năng như:</a:t>
            </a:r>
          </a:p>
          <a:p>
            <a:pPr marL="457200" lvl="0" indent="-457200">
              <a:spcBef>
                <a:spcPts val="300"/>
              </a:spcBef>
              <a:spcAft>
                <a:spcPts val="600"/>
              </a:spcAft>
              <a:buFont typeface="+mj-lt"/>
              <a:buAutoNum type="arabicParenR"/>
            </a:pPr>
            <a:r>
              <a:rPr lang="en-US" sz="2200" b="0"/>
              <a:t>Thiết lập các chính sách kết nối, định tuyến</a:t>
            </a:r>
          </a:p>
          <a:p>
            <a:pPr marL="457200" lvl="0" indent="-457200">
              <a:spcBef>
                <a:spcPts val="300"/>
              </a:spcBef>
              <a:spcAft>
                <a:spcPts val="600"/>
              </a:spcAft>
              <a:buFont typeface="+mj-lt"/>
              <a:buAutoNum type="arabicParenR"/>
            </a:pPr>
            <a:r>
              <a:rPr lang="en-US" sz="2200" b="0"/>
              <a:t>Khả năng dự phòng và chia tải lưu lượng dữ liệu</a:t>
            </a:r>
          </a:p>
          <a:p>
            <a:pPr marL="457200" lvl="0" indent="-457200">
              <a:spcBef>
                <a:spcPts val="300"/>
              </a:spcBef>
              <a:spcAft>
                <a:spcPts val="600"/>
              </a:spcAft>
              <a:buFont typeface="+mj-lt"/>
              <a:buAutoNum type="arabicParenR"/>
            </a:pPr>
            <a:r>
              <a:rPr lang="en-US" sz="2200" b="0"/>
              <a:t>Điểm tập trung các kết nối từ các LAN</a:t>
            </a:r>
          </a:p>
          <a:p>
            <a:pPr marL="457200" lvl="0" indent="-457200">
              <a:spcBef>
                <a:spcPts val="300"/>
              </a:spcBef>
              <a:spcAft>
                <a:spcPts val="600"/>
              </a:spcAft>
              <a:buFont typeface="+mj-lt"/>
              <a:buAutoNum type="arabicParenR"/>
            </a:pPr>
            <a:r>
              <a:rPr lang="en-US" sz="2200" b="0"/>
              <a:t>Điểm tập trung cho các kết nối WAN</a:t>
            </a:r>
          </a:p>
          <a:p>
            <a:pPr marL="457200" lvl="0" indent="-457200">
              <a:spcBef>
                <a:spcPts val="300"/>
              </a:spcBef>
              <a:spcAft>
                <a:spcPts val="600"/>
              </a:spcAft>
              <a:buFont typeface="+mj-lt"/>
              <a:buAutoNum type="arabicParenR"/>
            </a:pPr>
            <a:r>
              <a:rPr lang="en-US" sz="2200" b="0"/>
              <a:t>Các chính sách về QoS</a:t>
            </a:r>
          </a:p>
          <a:p>
            <a:pPr marL="457200" lvl="0" indent="-457200">
              <a:spcBef>
                <a:spcPts val="300"/>
              </a:spcBef>
              <a:spcAft>
                <a:spcPts val="600"/>
              </a:spcAft>
              <a:buFont typeface="+mj-lt"/>
              <a:buAutoNum type="arabicParenR"/>
            </a:pPr>
            <a:r>
              <a:rPr lang="en-US" sz="2200" b="0"/>
              <a:t>Security filtering</a:t>
            </a:r>
          </a:p>
          <a:p>
            <a:pPr marL="457200" lvl="0" indent="-457200">
              <a:spcBef>
                <a:spcPts val="300"/>
              </a:spcBef>
              <a:spcAft>
                <a:spcPts val="600"/>
              </a:spcAft>
              <a:buFont typeface="+mj-lt"/>
              <a:buAutoNum type="arabicParenR"/>
            </a:pPr>
            <a:r>
              <a:rPr lang="en-US" sz="2200" b="0"/>
              <a:t>Tóm tắt địa chỉ đến </a:t>
            </a:r>
            <a:r>
              <a:rPr lang="en-US" sz="2200" b="0" smtClean="0"/>
              <a:t>core layer </a:t>
            </a:r>
            <a:r>
              <a:rPr lang="en-US" sz="2200" b="0"/>
              <a:t>(route summarization)</a:t>
            </a:r>
          </a:p>
          <a:p>
            <a:pPr marL="457200" lvl="0" indent="-457200">
              <a:spcBef>
                <a:spcPts val="300"/>
              </a:spcBef>
              <a:spcAft>
                <a:spcPts val="600"/>
              </a:spcAft>
              <a:buFont typeface="+mj-lt"/>
              <a:buAutoNum type="arabicParenR"/>
            </a:pPr>
            <a:r>
              <a:rPr lang="en-US" sz="2200" b="0"/>
              <a:t>Định tuyến cho các VLAN</a:t>
            </a:r>
          </a:p>
          <a:p>
            <a:pPr marL="457200" indent="-457200">
              <a:spcBef>
                <a:spcPts val="300"/>
              </a:spcBef>
              <a:spcAft>
                <a:spcPts val="600"/>
              </a:spcAft>
              <a:buFont typeface="+mj-lt"/>
              <a:buAutoNum type="arabicParenR"/>
            </a:pPr>
            <a:r>
              <a:rPr lang="en-US" sz="2200" b="0"/>
              <a:t>Nơi thực hiện các chức năng định tuyến theo chính sách hay phân phối giữa các giao thức định tuyến</a:t>
            </a:r>
          </a:p>
        </p:txBody>
      </p:sp>
    </p:spTree>
    <p:extLst>
      <p:ext uri="{BB962C8B-B14F-4D97-AF65-F5344CB8AC3E}">
        <p14:creationId xmlns:p14="http://schemas.microsoft.com/office/powerpoint/2010/main" val="25389339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88626" y="762000"/>
            <a:ext cx="8915400" cy="2667000"/>
          </a:xfrm>
        </p:spPr>
        <p:txBody>
          <a:bodyPr/>
          <a:lstStyle/>
          <a:p>
            <a:pPr marL="0" indent="0" algn="ctr">
              <a:buNone/>
            </a:pPr>
            <a:r>
              <a:rPr lang="en-US" sz="2800" smtClean="0">
                <a:solidFill>
                  <a:srgbClr val="FF0000"/>
                </a:solidFill>
              </a:rPr>
              <a:t>(2) Tầng phân phối – Distribution layer (tt)</a:t>
            </a:r>
            <a:endParaRPr lang="en-US" sz="2800">
              <a:solidFill>
                <a:srgbClr val="FF0000"/>
              </a:solidFill>
            </a:endParaRPr>
          </a:p>
          <a:p>
            <a:pPr marL="0" lvl="0" indent="0">
              <a:buNone/>
            </a:pPr>
            <a:endParaRPr lang="en-US" sz="2400"/>
          </a:p>
        </p:txBody>
      </p:sp>
      <p:sp>
        <p:nvSpPr>
          <p:cNvPr id="2" name="Rectangle 1"/>
          <p:cNvSpPr/>
          <p:nvPr/>
        </p:nvSpPr>
        <p:spPr>
          <a:xfrm>
            <a:off x="224852" y="1371600"/>
            <a:ext cx="8860436" cy="4639732"/>
          </a:xfrm>
          <a:prstGeom prst="rect">
            <a:avLst/>
          </a:prstGeom>
        </p:spPr>
        <p:txBody>
          <a:bodyPr wrap="square">
            <a:spAutoFit/>
          </a:bodyPr>
          <a:lstStyle/>
          <a:p>
            <a:pPr marL="342900" indent="-342900">
              <a:spcBef>
                <a:spcPts val="600"/>
              </a:spcBef>
              <a:spcAft>
                <a:spcPts val="300"/>
              </a:spcAft>
              <a:buFont typeface="Wingdings" pitchFamily="2" charset="2"/>
              <a:buChar char="§"/>
            </a:pPr>
            <a:r>
              <a:rPr lang="en-US" sz="2100" b="0"/>
              <a:t>Tầng Distribution liên quan đến các kỹ thuật định tuyến, lọc lưu lượng và là điểm giao tiếp trung gian giữa access layer và core </a:t>
            </a:r>
            <a:r>
              <a:rPr lang="en-US" sz="2100" b="0" smtClean="0"/>
              <a:t>layer</a:t>
            </a:r>
          </a:p>
          <a:p>
            <a:pPr marL="342900" indent="-342900">
              <a:spcBef>
                <a:spcPts val="600"/>
              </a:spcBef>
              <a:spcAft>
                <a:spcPts val="300"/>
              </a:spcAft>
              <a:buFont typeface="Wingdings" pitchFamily="2" charset="2"/>
              <a:buChar char="§"/>
            </a:pPr>
            <a:r>
              <a:rPr lang="en-US" sz="2100" b="0"/>
              <a:t>Trong các thiết kế, tùy vào vi mô có thể </a:t>
            </a:r>
            <a:r>
              <a:rPr lang="en-US" sz="2100" b="0">
                <a:solidFill>
                  <a:srgbClr val="FF3300"/>
                </a:solidFill>
              </a:rPr>
              <a:t>xem xét tích hợp core/distribution</a:t>
            </a:r>
            <a:r>
              <a:rPr lang="en-US" sz="2100" b="0"/>
              <a:t> là một. </a:t>
            </a:r>
            <a:endParaRPr lang="en-US" sz="2100" b="0" smtClean="0"/>
          </a:p>
          <a:p>
            <a:pPr marL="342900" indent="-342900">
              <a:spcBef>
                <a:spcPts val="600"/>
              </a:spcBef>
              <a:spcAft>
                <a:spcPts val="300"/>
              </a:spcAft>
              <a:buFont typeface="Wingdings" pitchFamily="2" charset="2"/>
              <a:buChar char="§"/>
            </a:pPr>
            <a:r>
              <a:rPr lang="en-US" sz="2100" b="0"/>
              <a:t>Chức năng của thành phần này là </a:t>
            </a:r>
            <a:r>
              <a:rPr lang="en-US" sz="2100" b="0">
                <a:solidFill>
                  <a:srgbClr val="FF3300"/>
                </a:solidFill>
              </a:rPr>
              <a:t>thực hiện các chính sách kết nối </a:t>
            </a:r>
            <a:r>
              <a:rPr lang="en-US" sz="2100" b="0"/>
              <a:t>như sách sách định tuyến, điều phối luồng lưu lượng của các VLAN ở access layer truy cập vào các thành phần của hệ thống. Thiết bị triển khai có chức năng hoạt động ở layer 3 hay còn gọi là Multilayer switch (switch layer 3). </a:t>
            </a:r>
            <a:endParaRPr lang="en-US" sz="2100" b="0" smtClean="0"/>
          </a:p>
          <a:p>
            <a:pPr marL="342900" indent="-342900">
              <a:spcBef>
                <a:spcPts val="600"/>
              </a:spcBef>
              <a:spcAft>
                <a:spcPts val="300"/>
              </a:spcAft>
              <a:buFont typeface="Wingdings" pitchFamily="2" charset="2"/>
              <a:buChar char="§"/>
            </a:pPr>
            <a:r>
              <a:rPr lang="en-US" sz="2100" b="0"/>
              <a:t>Thành phần distribution layer có thể mở rộng triển khai cho </a:t>
            </a:r>
            <a:r>
              <a:rPr lang="en-US" sz="2100" b="0">
                <a:solidFill>
                  <a:srgbClr val="FF3300"/>
                </a:solidFill>
              </a:rPr>
              <a:t>khu vực biên</a:t>
            </a:r>
            <a:r>
              <a:rPr lang="en-US" sz="2100" b="0"/>
              <a:t> (enterprise edge) gọi là </a:t>
            </a:r>
            <a:r>
              <a:rPr lang="en-US" sz="2100" b="0">
                <a:solidFill>
                  <a:srgbClr val="FF3300"/>
                </a:solidFill>
              </a:rPr>
              <a:t>edge distribution </a:t>
            </a:r>
            <a:r>
              <a:rPr lang="en-US" sz="2100" b="0"/>
              <a:t>để </a:t>
            </a:r>
            <a:r>
              <a:rPr lang="en-US" sz="2100" b="0">
                <a:solidFill>
                  <a:srgbClr val="FF3300"/>
                </a:solidFill>
              </a:rPr>
              <a:t>điều phối lưu lượng </a:t>
            </a:r>
            <a:r>
              <a:rPr lang="en-US" sz="2100" b="0"/>
              <a:t>kết nối từ </a:t>
            </a:r>
            <a:r>
              <a:rPr lang="en-US" sz="2100" b="0">
                <a:solidFill>
                  <a:srgbClr val="FF3300"/>
                </a:solidFill>
              </a:rPr>
              <a:t>core layer </a:t>
            </a:r>
            <a:r>
              <a:rPr lang="en-US" sz="2100" b="0"/>
              <a:t>đến khu vực </a:t>
            </a:r>
            <a:r>
              <a:rPr lang="en-US" sz="2100" b="0">
                <a:solidFill>
                  <a:srgbClr val="FF3300"/>
                </a:solidFill>
              </a:rPr>
              <a:t>enterprise edge </a:t>
            </a:r>
            <a:r>
              <a:rPr lang="en-US" sz="2100" b="0"/>
              <a:t>để bảo vệ mạng lõi. Một số chức năng như: kiểm tra các truy cập trái phép, phân tích gói.</a:t>
            </a:r>
          </a:p>
        </p:txBody>
      </p:sp>
    </p:spTree>
    <p:extLst>
      <p:ext uri="{BB962C8B-B14F-4D97-AF65-F5344CB8AC3E}">
        <p14:creationId xmlns:p14="http://schemas.microsoft.com/office/powerpoint/2010/main" val="32019658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88626" y="762000"/>
            <a:ext cx="8915400" cy="2667000"/>
          </a:xfrm>
        </p:spPr>
        <p:txBody>
          <a:bodyPr/>
          <a:lstStyle/>
          <a:p>
            <a:pPr marL="0" indent="0" algn="ctr">
              <a:buNone/>
            </a:pPr>
            <a:r>
              <a:rPr lang="en-US" sz="2800" smtClean="0">
                <a:solidFill>
                  <a:srgbClr val="FF0000"/>
                </a:solidFill>
              </a:rPr>
              <a:t>(2) Tầng phân phối – Distribution layer (tt)</a:t>
            </a:r>
            <a:endParaRPr lang="en-US" sz="2800">
              <a:solidFill>
                <a:srgbClr val="FF0000"/>
              </a:solidFill>
            </a:endParaRPr>
          </a:p>
          <a:p>
            <a:pPr marL="0" lvl="0" indent="0">
              <a:buNone/>
            </a:pPr>
            <a:endParaRPr lang="en-US" sz="2400"/>
          </a:p>
        </p:txBody>
      </p:sp>
      <p:sp>
        <p:nvSpPr>
          <p:cNvPr id="2" name="Rectangle 1"/>
          <p:cNvSpPr/>
          <p:nvPr/>
        </p:nvSpPr>
        <p:spPr>
          <a:xfrm>
            <a:off x="224852" y="1371600"/>
            <a:ext cx="8860436" cy="3508653"/>
          </a:xfrm>
          <a:prstGeom prst="rect">
            <a:avLst/>
          </a:prstGeom>
        </p:spPr>
        <p:txBody>
          <a:bodyPr wrap="square">
            <a:spAutoFit/>
          </a:bodyPr>
          <a:lstStyle/>
          <a:p>
            <a:r>
              <a:rPr lang="en-US" sz="2000"/>
              <a:t>Kết nối Trunk:</a:t>
            </a:r>
          </a:p>
          <a:p>
            <a:r>
              <a:rPr lang="en-US" sz="2000"/>
              <a:t>	</a:t>
            </a:r>
            <a:r>
              <a:rPr lang="en-US" sz="2000" b="0"/>
              <a:t>Các kết nối Trunk thường được cấu hình kết nối giữa các thiết bị mạng tầng </a:t>
            </a:r>
            <a:r>
              <a:rPr lang="en-US" sz="2000" b="0">
                <a:solidFill>
                  <a:srgbClr val="FF3300"/>
                </a:solidFill>
              </a:rPr>
              <a:t>Access</a:t>
            </a:r>
            <a:r>
              <a:rPr lang="en-US" sz="2000" b="0"/>
              <a:t> và tầng </a:t>
            </a:r>
            <a:r>
              <a:rPr lang="en-US" sz="2000" b="0">
                <a:solidFill>
                  <a:srgbClr val="FF3300"/>
                </a:solidFill>
              </a:rPr>
              <a:t>Distribution</a:t>
            </a:r>
            <a:r>
              <a:rPr lang="en-US" sz="2000" b="0"/>
              <a:t>. Đường Trunk được dùng để vận chuyển lưu lượng của các VLAN giữa các thiết bị. </a:t>
            </a:r>
            <a:r>
              <a:rPr lang="en-US" sz="2000" b="0" smtClean="0"/>
              <a:t>Người </a:t>
            </a:r>
            <a:r>
              <a:rPr lang="en-US" sz="2000" b="0"/>
              <a:t>thiết kế cần xem xét </a:t>
            </a:r>
            <a:r>
              <a:rPr lang="en-US" sz="2000" b="0">
                <a:solidFill>
                  <a:srgbClr val="FF3300"/>
                </a:solidFill>
              </a:rPr>
              <a:t>chiến lược VLAN tổng thể</a:t>
            </a:r>
            <a:r>
              <a:rPr lang="en-US" sz="2000" b="0"/>
              <a:t> và </a:t>
            </a:r>
            <a:r>
              <a:rPr lang="en-US" sz="2000" b="0">
                <a:solidFill>
                  <a:srgbClr val="FF3300"/>
                </a:solidFill>
              </a:rPr>
              <a:t>các loại lưu lượng </a:t>
            </a:r>
            <a:r>
              <a:rPr lang="en-US" sz="2000" b="0"/>
              <a:t>khi thiết kế đường </a:t>
            </a:r>
            <a:r>
              <a:rPr lang="en-US" sz="2000" b="0" smtClean="0"/>
              <a:t>Trunk</a:t>
            </a:r>
          </a:p>
          <a:p>
            <a:endParaRPr lang="en-US" sz="2000" b="0"/>
          </a:p>
          <a:p>
            <a:r>
              <a:rPr lang="en-US" sz="2000"/>
              <a:t>Kết nối dự phòng:</a:t>
            </a:r>
          </a:p>
          <a:p>
            <a:r>
              <a:rPr lang="en-US" sz="2000"/>
              <a:t>	</a:t>
            </a:r>
            <a:r>
              <a:rPr lang="en-US" sz="2000" b="0"/>
              <a:t>Khi các </a:t>
            </a:r>
            <a:r>
              <a:rPr lang="en-US" sz="2000" b="0">
                <a:solidFill>
                  <a:srgbClr val="FF3300"/>
                </a:solidFill>
              </a:rPr>
              <a:t>kết nối dự phòng</a:t>
            </a:r>
            <a:r>
              <a:rPr lang="en-US" sz="2000" b="0"/>
              <a:t> tồn tại giữa các thiế bị tầng Distribution, các thiết bị có thể cấu hình để </a:t>
            </a:r>
            <a:r>
              <a:rPr lang="en-US" sz="2000" b="0">
                <a:solidFill>
                  <a:srgbClr val="FF3300"/>
                </a:solidFill>
              </a:rPr>
              <a:t>chia tải lưu lượng </a:t>
            </a:r>
            <a:r>
              <a:rPr lang="en-US" sz="2000" b="0"/>
              <a:t>qua các kết nối này. Cân bằng tải là một tùy chọn để tăng băng thông dự phòng cho các ứng dụng.</a:t>
            </a:r>
          </a:p>
          <a:p>
            <a:endParaRPr lang="en-US" sz="2200" b="0"/>
          </a:p>
        </p:txBody>
      </p:sp>
    </p:spTree>
    <p:extLst>
      <p:ext uri="{BB962C8B-B14F-4D97-AF65-F5344CB8AC3E}">
        <p14:creationId xmlns:p14="http://schemas.microsoft.com/office/powerpoint/2010/main" val="5041518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762000"/>
            <a:ext cx="8915400" cy="2667000"/>
          </a:xfrm>
        </p:spPr>
        <p:txBody>
          <a:bodyPr/>
          <a:lstStyle/>
          <a:p>
            <a:pPr marL="0" indent="0" algn="ctr">
              <a:buNone/>
            </a:pPr>
            <a:r>
              <a:rPr lang="en-US" sz="2800" smtClean="0"/>
              <a:t>(</a:t>
            </a:r>
            <a:r>
              <a:rPr lang="en-US" sz="2800" smtClean="0">
                <a:solidFill>
                  <a:srgbClr val="FF0000"/>
                </a:solidFill>
              </a:rPr>
              <a:t>3) Tầng truy cập – Access layer</a:t>
            </a:r>
            <a:endParaRPr lang="en-US" sz="2800">
              <a:solidFill>
                <a:srgbClr val="FF0000"/>
              </a:solidFill>
            </a:endParaRPr>
          </a:p>
          <a:p>
            <a:pPr marL="0" lvl="0" indent="0">
              <a:buNone/>
            </a:pPr>
            <a:endParaRPr lang="en-US" sz="2400"/>
          </a:p>
        </p:txBody>
      </p:sp>
      <p:sp>
        <p:nvSpPr>
          <p:cNvPr id="2" name="Rectangle 1"/>
          <p:cNvSpPr/>
          <p:nvPr/>
        </p:nvSpPr>
        <p:spPr>
          <a:xfrm>
            <a:off x="228600" y="1066800"/>
            <a:ext cx="8860436" cy="4947508"/>
          </a:xfrm>
          <a:prstGeom prst="rect">
            <a:avLst/>
          </a:prstGeom>
        </p:spPr>
        <p:txBody>
          <a:bodyPr wrap="square">
            <a:spAutoFit/>
          </a:bodyPr>
          <a:lstStyle/>
          <a:p>
            <a:r>
              <a:rPr lang="en-US" b="0"/>
              <a:t>Lớp truy cập cung cấp cho người dùng truy xuất vào hệ thống mạng, thông thường sử dụng các switch L</a:t>
            </a:r>
            <a:r>
              <a:rPr lang="en-US" b="0" smtClean="0"/>
              <a:t>2</a:t>
            </a:r>
            <a:r>
              <a:rPr lang="en-US" b="0"/>
              <a:t>. Các chức </a:t>
            </a:r>
            <a:r>
              <a:rPr lang="en-US" b="0" smtClean="0"/>
              <a:t>năng:</a:t>
            </a:r>
            <a:endParaRPr lang="en-US" b="0"/>
          </a:p>
          <a:p>
            <a:pPr marL="457200" lvl="0" indent="-457200">
              <a:spcBef>
                <a:spcPts val="300"/>
              </a:spcBef>
              <a:spcAft>
                <a:spcPts val="300"/>
              </a:spcAft>
              <a:buFont typeface="+mj-lt"/>
              <a:buAutoNum type="arabicParenR"/>
            </a:pPr>
            <a:r>
              <a:rPr lang="en-US" sz="2200" b="0"/>
              <a:t>Chuyển mạch layer 2</a:t>
            </a:r>
          </a:p>
          <a:p>
            <a:pPr marL="457200" lvl="0" indent="-457200">
              <a:spcBef>
                <a:spcPts val="300"/>
              </a:spcBef>
              <a:spcAft>
                <a:spcPts val="300"/>
              </a:spcAft>
              <a:buFont typeface="+mj-lt"/>
              <a:buAutoNum type="arabicParenR"/>
            </a:pPr>
            <a:r>
              <a:rPr lang="en-US" sz="2200" b="0"/>
              <a:t>Khả năng sẵn sàng cao</a:t>
            </a:r>
          </a:p>
          <a:p>
            <a:pPr marL="457200" lvl="0" indent="-457200">
              <a:spcBef>
                <a:spcPts val="300"/>
              </a:spcBef>
              <a:spcAft>
                <a:spcPts val="300"/>
              </a:spcAft>
              <a:buFont typeface="+mj-lt"/>
              <a:buAutoNum type="arabicParenR"/>
            </a:pPr>
            <a:r>
              <a:rPr lang="en-US" sz="2200" b="0"/>
              <a:t>Port security</a:t>
            </a:r>
          </a:p>
          <a:p>
            <a:pPr marL="457200" lvl="0" indent="-457200">
              <a:spcBef>
                <a:spcPts val="300"/>
              </a:spcBef>
              <a:spcAft>
                <a:spcPts val="300"/>
              </a:spcAft>
              <a:buFont typeface="+mj-lt"/>
              <a:buAutoNum type="arabicParenR"/>
            </a:pPr>
            <a:r>
              <a:rPr lang="en-US" sz="2200" b="0"/>
              <a:t>Giới hạn miền quảng </a:t>
            </a:r>
            <a:r>
              <a:rPr lang="en-US" sz="2200" b="0" smtClean="0"/>
              <a:t>bá</a:t>
            </a:r>
            <a:endParaRPr lang="en-US" sz="2200" b="0"/>
          </a:p>
          <a:p>
            <a:pPr marL="457200" lvl="0" indent="-457200">
              <a:spcBef>
                <a:spcPts val="300"/>
              </a:spcBef>
              <a:spcAft>
                <a:spcPts val="300"/>
              </a:spcAft>
              <a:buFont typeface="+mj-lt"/>
              <a:buAutoNum type="arabicParenR"/>
            </a:pPr>
            <a:r>
              <a:rPr lang="en-US" sz="2200" b="0"/>
              <a:t>Kiểm tra ARP</a:t>
            </a:r>
          </a:p>
          <a:p>
            <a:pPr marL="457200" lvl="0" indent="-457200">
              <a:spcBef>
                <a:spcPts val="300"/>
              </a:spcBef>
              <a:spcAft>
                <a:spcPts val="300"/>
              </a:spcAft>
              <a:buFont typeface="+mj-lt"/>
              <a:buAutoNum type="arabicParenR"/>
            </a:pPr>
            <a:r>
              <a:rPr lang="en-US" sz="2200" b="0"/>
              <a:t>VACL (VLAN access control lists)</a:t>
            </a:r>
          </a:p>
          <a:p>
            <a:pPr marL="457200" lvl="0" indent="-457200">
              <a:spcBef>
                <a:spcPts val="300"/>
              </a:spcBef>
              <a:spcAft>
                <a:spcPts val="300"/>
              </a:spcAft>
              <a:buFont typeface="+mj-lt"/>
              <a:buAutoNum type="arabicParenR"/>
            </a:pPr>
            <a:r>
              <a:rPr lang="en-US" sz="2200" b="0"/>
              <a:t>STP</a:t>
            </a:r>
          </a:p>
          <a:p>
            <a:pPr marL="457200" lvl="0" indent="-457200">
              <a:spcBef>
                <a:spcPts val="300"/>
              </a:spcBef>
              <a:spcAft>
                <a:spcPts val="300"/>
              </a:spcAft>
              <a:buFont typeface="+mj-lt"/>
              <a:buAutoNum type="arabicParenR"/>
            </a:pPr>
            <a:r>
              <a:rPr lang="en-US" sz="2200" b="0"/>
              <a:t>PoE</a:t>
            </a:r>
          </a:p>
          <a:p>
            <a:pPr marL="457200" lvl="0" indent="-457200">
              <a:spcBef>
                <a:spcPts val="300"/>
              </a:spcBef>
              <a:spcAft>
                <a:spcPts val="300"/>
              </a:spcAft>
              <a:buFont typeface="+mj-lt"/>
              <a:buAutoNum type="arabicParenR"/>
            </a:pPr>
            <a:r>
              <a:rPr lang="en-US" sz="2200" b="0"/>
              <a:t>Giới hạn tốc độ</a:t>
            </a:r>
          </a:p>
          <a:p>
            <a:pPr marL="457200" indent="-457200">
              <a:spcBef>
                <a:spcPts val="300"/>
              </a:spcBef>
              <a:spcAft>
                <a:spcPts val="300"/>
              </a:spcAft>
              <a:buFont typeface="+mj-lt"/>
              <a:buAutoNum type="arabicParenR"/>
            </a:pPr>
            <a:r>
              <a:rPr lang="en-US" sz="2200" b="0"/>
              <a:t>Phân </a:t>
            </a:r>
            <a:r>
              <a:rPr lang="en-US" sz="2200" b="0" smtClean="0"/>
              <a:t>loại mức độ </a:t>
            </a:r>
            <a:r>
              <a:rPr lang="en-US" sz="2200" b="0"/>
              <a:t>tin cậy</a:t>
            </a:r>
          </a:p>
        </p:txBody>
      </p:sp>
    </p:spTree>
    <p:extLst>
      <p:ext uri="{BB962C8B-B14F-4D97-AF65-F5344CB8AC3E}">
        <p14:creationId xmlns:p14="http://schemas.microsoft.com/office/powerpoint/2010/main" val="26782227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762000"/>
            <a:ext cx="8915400" cy="2667000"/>
          </a:xfrm>
        </p:spPr>
        <p:txBody>
          <a:bodyPr/>
          <a:lstStyle/>
          <a:p>
            <a:pPr marL="0" indent="0" algn="ctr">
              <a:buNone/>
            </a:pPr>
            <a:r>
              <a:rPr lang="en-US" sz="2800" smtClean="0"/>
              <a:t>(</a:t>
            </a:r>
            <a:r>
              <a:rPr lang="en-US" sz="2800" smtClean="0">
                <a:solidFill>
                  <a:srgbClr val="FF0000"/>
                </a:solidFill>
              </a:rPr>
              <a:t>3) Tầng truy cập – Access layer (tt)</a:t>
            </a:r>
            <a:endParaRPr lang="en-US" sz="2800">
              <a:solidFill>
                <a:srgbClr val="FF0000"/>
              </a:solidFill>
            </a:endParaRPr>
          </a:p>
          <a:p>
            <a:pPr marL="0" lvl="0" indent="0">
              <a:buNone/>
            </a:pPr>
            <a:endParaRPr lang="en-US" sz="2400"/>
          </a:p>
        </p:txBody>
      </p:sp>
      <p:sp>
        <p:nvSpPr>
          <p:cNvPr id="2" name="Rectangle 1"/>
          <p:cNvSpPr/>
          <p:nvPr/>
        </p:nvSpPr>
        <p:spPr>
          <a:xfrm>
            <a:off x="227351" y="1600200"/>
            <a:ext cx="8860436" cy="4093428"/>
          </a:xfrm>
          <a:prstGeom prst="rect">
            <a:avLst/>
          </a:prstGeom>
        </p:spPr>
        <p:txBody>
          <a:bodyPr wrap="square">
            <a:spAutoFit/>
          </a:bodyPr>
          <a:lstStyle/>
          <a:p>
            <a:pPr marL="342900" indent="-342900">
              <a:spcBef>
                <a:spcPts val="600"/>
              </a:spcBef>
              <a:spcAft>
                <a:spcPts val="600"/>
              </a:spcAft>
              <a:buFont typeface="Wingdings" pitchFamily="2" charset="2"/>
              <a:buChar char="§"/>
            </a:pPr>
            <a:r>
              <a:rPr lang="en-US" b="0"/>
              <a:t>Thành phần lớp truy cập </a:t>
            </a:r>
            <a:r>
              <a:rPr lang="en-US" b="0">
                <a:solidFill>
                  <a:srgbClr val="FF3300"/>
                </a:solidFill>
              </a:rPr>
              <a:t>liên quan đến các switch layer </a:t>
            </a:r>
            <a:r>
              <a:rPr lang="en-US" b="0"/>
              <a:t>2 kết nối các các thiết bị người dùng cuối. </a:t>
            </a:r>
            <a:endParaRPr lang="en-US" b="0" smtClean="0"/>
          </a:p>
          <a:p>
            <a:pPr marL="342900" indent="-342900">
              <a:spcBef>
                <a:spcPts val="600"/>
              </a:spcBef>
              <a:spcAft>
                <a:spcPts val="600"/>
              </a:spcAft>
              <a:buFont typeface="Wingdings" pitchFamily="2" charset="2"/>
              <a:buChar char="§"/>
            </a:pPr>
            <a:r>
              <a:rPr lang="en-US" b="0" smtClean="0"/>
              <a:t>Khi </a:t>
            </a:r>
            <a:r>
              <a:rPr lang="en-US" b="0"/>
              <a:t>thiết kế thành phần này nên xem xét các yếu tố về</a:t>
            </a:r>
            <a:r>
              <a:rPr lang="en-US" b="0">
                <a:solidFill>
                  <a:srgbClr val="FF3300"/>
                </a:solidFill>
              </a:rPr>
              <a:t> số lượng người dùng</a:t>
            </a:r>
            <a:r>
              <a:rPr lang="en-US" b="0"/>
              <a:t> để chọn các switch có số lượng cổng phù hợp. </a:t>
            </a:r>
            <a:r>
              <a:rPr lang="en-US" b="0" smtClean="0">
                <a:solidFill>
                  <a:srgbClr val="FF3300"/>
                </a:solidFill>
              </a:rPr>
              <a:t>Tốc </a:t>
            </a:r>
            <a:r>
              <a:rPr lang="en-US" b="0">
                <a:solidFill>
                  <a:srgbClr val="FF3300"/>
                </a:solidFill>
              </a:rPr>
              <a:t>độ cổng kết nối </a:t>
            </a:r>
            <a:r>
              <a:rPr lang="en-US" b="0"/>
              <a:t>của mỗi host cũng nên được xem xét như Fast Ethernet, Gigabit Ehternet hoặc port channel, tốc độ cổng kết nối từ access switch đến distribution switch (cổng uplink). </a:t>
            </a:r>
            <a:endParaRPr lang="en-US" b="0" smtClean="0"/>
          </a:p>
          <a:p>
            <a:pPr marL="342900" indent="-342900">
              <a:spcBef>
                <a:spcPts val="600"/>
              </a:spcBef>
              <a:spcAft>
                <a:spcPts val="600"/>
              </a:spcAft>
              <a:buFont typeface="Wingdings" pitchFamily="2" charset="2"/>
              <a:buChar char="§"/>
            </a:pPr>
            <a:r>
              <a:rPr lang="en-US" b="0" smtClean="0"/>
              <a:t>Một </a:t>
            </a:r>
            <a:r>
              <a:rPr lang="en-US" b="0"/>
              <a:t>số kỹ thuật ở access layer như VLAN, STP, port security có thể xem xét áp dụng.</a:t>
            </a:r>
          </a:p>
        </p:txBody>
      </p:sp>
    </p:spTree>
    <p:extLst>
      <p:ext uri="{BB962C8B-B14F-4D97-AF65-F5344CB8AC3E}">
        <p14:creationId xmlns:p14="http://schemas.microsoft.com/office/powerpoint/2010/main" val="38407748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5" name="Content Placeholder 4"/>
          <p:cNvSpPr>
            <a:spLocks noGrp="1"/>
          </p:cNvSpPr>
          <p:nvPr>
            <p:ph idx="1"/>
          </p:nvPr>
        </p:nvSpPr>
        <p:spPr>
          <a:xfrm>
            <a:off x="152400" y="762000"/>
            <a:ext cx="8915400" cy="2667000"/>
          </a:xfrm>
        </p:spPr>
        <p:txBody>
          <a:bodyPr/>
          <a:lstStyle/>
          <a:p>
            <a:pPr marL="0" indent="0" algn="ctr">
              <a:buNone/>
            </a:pPr>
            <a:r>
              <a:rPr lang="en-US" sz="2800" smtClean="0"/>
              <a:t>(</a:t>
            </a:r>
            <a:r>
              <a:rPr lang="en-US" sz="2800" smtClean="0">
                <a:solidFill>
                  <a:srgbClr val="FF0000"/>
                </a:solidFill>
              </a:rPr>
              <a:t>3) Tầng truy cập – Access layer (tt)</a:t>
            </a:r>
            <a:endParaRPr lang="en-US" sz="2800">
              <a:solidFill>
                <a:srgbClr val="FF0000"/>
              </a:solidFill>
            </a:endParaRPr>
          </a:p>
          <a:p>
            <a:pPr marL="0" lvl="0" indent="0">
              <a:buNone/>
            </a:pPr>
            <a:endParaRPr lang="en-US" sz="2400"/>
          </a:p>
        </p:txBody>
      </p:sp>
      <p:sp>
        <p:nvSpPr>
          <p:cNvPr id="2" name="Rectangle 1"/>
          <p:cNvSpPr/>
          <p:nvPr/>
        </p:nvSpPr>
        <p:spPr>
          <a:xfrm>
            <a:off x="227351" y="1600200"/>
            <a:ext cx="8860436" cy="3093154"/>
          </a:xfrm>
          <a:prstGeom prst="rect">
            <a:avLst/>
          </a:prstGeom>
        </p:spPr>
        <p:txBody>
          <a:bodyPr wrap="square">
            <a:spAutoFit/>
          </a:bodyPr>
          <a:lstStyle/>
          <a:p>
            <a:r>
              <a:rPr lang="en-US" b="0"/>
              <a:t>Một số yếu tố nên sử dụng khi thiết kế như sau:</a:t>
            </a:r>
          </a:p>
          <a:p>
            <a:pPr marL="342900" lvl="0" indent="-342900">
              <a:spcBef>
                <a:spcPts val="600"/>
              </a:spcBef>
              <a:spcAft>
                <a:spcPts val="600"/>
              </a:spcAft>
              <a:buFont typeface="Wingdings" pitchFamily="2" charset="2"/>
              <a:buChar char="§"/>
            </a:pPr>
            <a:r>
              <a:rPr lang="en-US" sz="2100" b="0"/>
              <a:t>Giới hạn các VLAN trong các kết nối có yêu cầu tính sẵn sàng cao</a:t>
            </a:r>
          </a:p>
          <a:p>
            <a:pPr marL="342900" lvl="0" indent="-342900">
              <a:spcBef>
                <a:spcPts val="600"/>
              </a:spcBef>
              <a:spcAft>
                <a:spcPts val="600"/>
              </a:spcAft>
              <a:buFont typeface="Wingdings" pitchFamily="2" charset="2"/>
              <a:buChar char="§"/>
            </a:pPr>
            <a:r>
              <a:rPr lang="en-US" sz="2100" b="0"/>
              <a:t>Sử dụng RPVST+ để tăng tốc độ hội tụ so với STP truyền thống</a:t>
            </a:r>
          </a:p>
          <a:p>
            <a:pPr marL="342900" lvl="0" indent="-342900">
              <a:spcBef>
                <a:spcPts val="600"/>
              </a:spcBef>
              <a:spcAft>
                <a:spcPts val="600"/>
              </a:spcAft>
              <a:buFont typeface="Wingdings" pitchFamily="2" charset="2"/>
              <a:buChar char="§"/>
            </a:pPr>
            <a:r>
              <a:rPr lang="en-US" sz="2100" b="0"/>
              <a:t>Đường trunk nên được cấu hình rõ ràng, không nên để ở chế độ tự động thiết lập</a:t>
            </a:r>
          </a:p>
          <a:p>
            <a:pPr marL="342900" lvl="0" indent="-342900">
              <a:spcBef>
                <a:spcPts val="600"/>
              </a:spcBef>
              <a:spcAft>
                <a:spcPts val="600"/>
              </a:spcAft>
              <a:buFont typeface="Wingdings" pitchFamily="2" charset="2"/>
              <a:buChar char="§"/>
            </a:pPr>
            <a:r>
              <a:rPr lang="en-US" sz="2100" b="0"/>
              <a:t>Sử dụng portfast ở các host port</a:t>
            </a:r>
          </a:p>
          <a:p>
            <a:pPr marL="342900" lvl="0" indent="-342900">
              <a:spcBef>
                <a:spcPts val="600"/>
              </a:spcBef>
              <a:spcAft>
                <a:spcPts val="600"/>
              </a:spcAft>
              <a:buFont typeface="Wingdings" pitchFamily="2" charset="2"/>
              <a:buChar char="§"/>
            </a:pPr>
            <a:r>
              <a:rPr lang="en-US" sz="2100" b="0"/>
              <a:t>Tắt các port không sử dụng </a:t>
            </a:r>
          </a:p>
        </p:txBody>
      </p:sp>
    </p:spTree>
    <p:extLst>
      <p:ext uri="{BB962C8B-B14F-4D97-AF65-F5344CB8AC3E}">
        <p14:creationId xmlns:p14="http://schemas.microsoft.com/office/powerpoint/2010/main" val="28839947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2" name="Rectangle 1"/>
          <p:cNvSpPr/>
          <p:nvPr/>
        </p:nvSpPr>
        <p:spPr>
          <a:xfrm>
            <a:off x="228600" y="1219200"/>
            <a:ext cx="8860436" cy="3231654"/>
          </a:xfrm>
          <a:prstGeom prst="rect">
            <a:avLst/>
          </a:prstGeom>
        </p:spPr>
        <p:txBody>
          <a:bodyPr wrap="square">
            <a:spAutoFit/>
          </a:bodyPr>
          <a:lstStyle/>
          <a:p>
            <a:pPr>
              <a:spcBef>
                <a:spcPts val="1200"/>
              </a:spcBef>
              <a:spcAft>
                <a:spcPts val="1200"/>
              </a:spcAft>
            </a:pPr>
            <a:r>
              <a:rPr lang="en-US"/>
              <a:t>Những nguyên tắc thiết kế sau đây có khả năng cải thiện khả năng quản trị và hỗ trợ:</a:t>
            </a:r>
          </a:p>
          <a:p>
            <a:pPr marL="457200" lvl="0" indent="-457200">
              <a:spcBef>
                <a:spcPts val="1200"/>
              </a:spcBef>
              <a:spcAft>
                <a:spcPts val="1200"/>
              </a:spcAft>
              <a:buFont typeface="+mj-lt"/>
              <a:buAutoNum type="arabicParenR"/>
            </a:pPr>
            <a:r>
              <a:rPr lang="en-US" b="0"/>
              <a:t>Bảo đảm rằng mạng sẽ không trở nên quá phức tạp</a:t>
            </a:r>
          </a:p>
          <a:p>
            <a:pPr marL="457200" lvl="0" indent="-457200">
              <a:spcBef>
                <a:spcPts val="1200"/>
              </a:spcBef>
              <a:spcAft>
                <a:spcPts val="1200"/>
              </a:spcAft>
              <a:buFont typeface="+mj-lt"/>
              <a:buAutoNum type="arabicParenR"/>
            </a:pPr>
            <a:r>
              <a:rPr lang="en-US" b="0"/>
              <a:t>Cho phép xử lý sự cố dễ dàng khi có vấn đề xảy ra</a:t>
            </a:r>
          </a:p>
          <a:p>
            <a:pPr marL="457200" indent="-457200">
              <a:spcBef>
                <a:spcPts val="1200"/>
              </a:spcBef>
              <a:spcAft>
                <a:spcPts val="1200"/>
              </a:spcAft>
              <a:buFont typeface="+mj-lt"/>
              <a:buAutoNum type="arabicParenR"/>
            </a:pPr>
            <a:r>
              <a:rPr lang="en-US" b="0"/>
              <a:t>Tạo sự đơn giản khi bổ sung các tính năng và dịch vụ mới trong tương lai.</a:t>
            </a:r>
          </a:p>
        </p:txBody>
      </p:sp>
    </p:spTree>
    <p:extLst>
      <p:ext uri="{BB962C8B-B14F-4D97-AF65-F5344CB8AC3E}">
        <p14:creationId xmlns:p14="http://schemas.microsoft.com/office/powerpoint/2010/main" val="6542352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3. Thiết kế mạng phân </a:t>
            </a:r>
            <a:r>
              <a:rPr lang="en-US">
                <a:solidFill>
                  <a:schemeClr val="bg1"/>
                </a:solidFill>
              </a:rPr>
              <a:t>lớp</a:t>
            </a:r>
          </a:p>
        </p:txBody>
      </p:sp>
      <p:sp>
        <p:nvSpPr>
          <p:cNvPr id="2" name="Rectangle 1"/>
          <p:cNvSpPr/>
          <p:nvPr/>
        </p:nvSpPr>
        <p:spPr>
          <a:xfrm>
            <a:off x="228600" y="1219200"/>
            <a:ext cx="8860436" cy="4216539"/>
          </a:xfrm>
          <a:prstGeom prst="rect">
            <a:avLst/>
          </a:prstGeom>
        </p:spPr>
        <p:txBody>
          <a:bodyPr wrap="square">
            <a:spAutoFit/>
          </a:bodyPr>
          <a:lstStyle/>
          <a:p>
            <a:pPr>
              <a:spcBef>
                <a:spcPts val="1200"/>
              </a:spcBef>
              <a:spcAft>
                <a:spcPts val="1200"/>
              </a:spcAft>
            </a:pPr>
            <a:r>
              <a:rPr lang="en-US"/>
              <a:t>Thiết kế cho mạng doanh nghiệp vừa và lớn tập trung vào thiết kế cho các module:</a:t>
            </a:r>
          </a:p>
          <a:p>
            <a:pPr marL="457200" lvl="0" indent="-457200">
              <a:spcBef>
                <a:spcPts val="1200"/>
              </a:spcBef>
              <a:spcAft>
                <a:spcPts val="1200"/>
              </a:spcAft>
              <a:buFont typeface="+mj-lt"/>
              <a:buAutoNum type="arabicParenR"/>
            </a:pPr>
            <a:r>
              <a:rPr lang="en-US" b="0"/>
              <a:t>Core</a:t>
            </a:r>
          </a:p>
          <a:p>
            <a:pPr marL="457200" lvl="0" indent="-457200">
              <a:spcBef>
                <a:spcPts val="1200"/>
              </a:spcBef>
              <a:spcAft>
                <a:spcPts val="1200"/>
              </a:spcAft>
              <a:buFont typeface="+mj-lt"/>
              <a:buAutoNum type="arabicParenR"/>
            </a:pPr>
            <a:r>
              <a:rPr lang="en-US" b="0"/>
              <a:t>Distribution</a:t>
            </a:r>
          </a:p>
          <a:p>
            <a:pPr marL="457200" lvl="0" indent="-457200">
              <a:spcBef>
                <a:spcPts val="1200"/>
              </a:spcBef>
              <a:spcAft>
                <a:spcPts val="1200"/>
              </a:spcAft>
              <a:buFont typeface="+mj-lt"/>
              <a:buAutoNum type="arabicParenR"/>
            </a:pPr>
            <a:r>
              <a:rPr lang="en-US" b="0"/>
              <a:t>Access</a:t>
            </a:r>
          </a:p>
          <a:p>
            <a:pPr marL="457200" lvl="0" indent="-457200">
              <a:spcBef>
                <a:spcPts val="1200"/>
              </a:spcBef>
              <a:spcAft>
                <a:spcPts val="1200"/>
              </a:spcAft>
              <a:buFont typeface="+mj-lt"/>
              <a:buAutoNum type="arabicParenR"/>
            </a:pPr>
            <a:r>
              <a:rPr lang="en-US" b="0"/>
              <a:t>Server farm/data center</a:t>
            </a:r>
          </a:p>
          <a:p>
            <a:pPr marL="457200" indent="-457200">
              <a:spcBef>
                <a:spcPts val="1200"/>
              </a:spcBef>
              <a:spcAft>
                <a:spcPts val="1200"/>
              </a:spcAft>
              <a:buFont typeface="+mj-lt"/>
              <a:buAutoNum type="arabicParenR"/>
            </a:pPr>
            <a:r>
              <a:rPr lang="en-US" b="0"/>
              <a:t>Enterprise edge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959144"/>
            <a:ext cx="4974236" cy="2789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04852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4. Các yếu tố cần xem xét</a:t>
            </a:r>
            <a:endParaRPr lang="en-US">
              <a:solidFill>
                <a:schemeClr val="bg1"/>
              </a:solidFill>
            </a:endParaRPr>
          </a:p>
        </p:txBody>
      </p:sp>
      <p:sp>
        <p:nvSpPr>
          <p:cNvPr id="2" name="Rectangle 1"/>
          <p:cNvSpPr/>
          <p:nvPr/>
        </p:nvSpPr>
        <p:spPr>
          <a:xfrm>
            <a:off x="228600" y="1219200"/>
            <a:ext cx="8860436" cy="1200329"/>
          </a:xfrm>
          <a:prstGeom prst="rect">
            <a:avLst/>
          </a:prstGeom>
        </p:spPr>
        <p:txBody>
          <a:bodyPr wrap="square">
            <a:spAutoFit/>
          </a:bodyPr>
          <a:lstStyle/>
          <a:p>
            <a:r>
              <a:rPr lang="en-US" b="0"/>
              <a:t>Một số yếu tố cần xem xét khi thiết kế theo mô hình phân lớp như </a:t>
            </a:r>
            <a:r>
              <a:rPr lang="en-US" b="0">
                <a:solidFill>
                  <a:srgbClr val="FF0000"/>
                </a:solidFill>
              </a:rPr>
              <a:t>đặc trưng </a:t>
            </a:r>
            <a:r>
              <a:rPr lang="en-US" b="0"/>
              <a:t>của các </a:t>
            </a:r>
            <a:r>
              <a:rPr lang="en-US" b="0">
                <a:solidFill>
                  <a:srgbClr val="FF0000"/>
                </a:solidFill>
              </a:rPr>
              <a:t>ứng dụng mạng</a:t>
            </a:r>
            <a:r>
              <a:rPr lang="en-US" b="0"/>
              <a:t>, đặc trưng của </a:t>
            </a:r>
            <a:r>
              <a:rPr lang="en-US" b="0">
                <a:solidFill>
                  <a:srgbClr val="FF0000"/>
                </a:solidFill>
              </a:rPr>
              <a:t>các thiết bị mạng</a:t>
            </a:r>
            <a:r>
              <a:rPr lang="en-US" b="0"/>
              <a:t>, đặc trưng về </a:t>
            </a:r>
            <a:r>
              <a:rPr lang="en-US" b="0">
                <a:solidFill>
                  <a:srgbClr val="FF0000"/>
                </a:solidFill>
              </a:rPr>
              <a:t>môi trường mạng</a:t>
            </a:r>
            <a:r>
              <a:rPr lang="en-US" b="0"/>
              <a:t>.</a:t>
            </a:r>
          </a:p>
        </p:txBody>
      </p:sp>
    </p:spTree>
    <p:extLst>
      <p:ext uri="{BB962C8B-B14F-4D97-AF65-F5344CB8AC3E}">
        <p14:creationId xmlns:p14="http://schemas.microsoft.com/office/powerpoint/2010/main" val="22273438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4. Các yếu tố cần xem xét</a:t>
            </a:r>
            <a:endParaRPr lang="en-US">
              <a:solidFill>
                <a:schemeClr val="bg1"/>
              </a:solidFill>
            </a:endParaRPr>
          </a:p>
        </p:txBody>
      </p:sp>
      <p:sp>
        <p:nvSpPr>
          <p:cNvPr id="2" name="Rectangle 1"/>
          <p:cNvSpPr/>
          <p:nvPr/>
        </p:nvSpPr>
        <p:spPr>
          <a:xfrm>
            <a:off x="152400" y="1041418"/>
            <a:ext cx="3681334" cy="4524315"/>
          </a:xfrm>
          <a:prstGeom prst="rect">
            <a:avLst/>
          </a:prstGeom>
        </p:spPr>
        <p:txBody>
          <a:bodyPr wrap="square">
            <a:spAutoFit/>
          </a:bodyPr>
          <a:lstStyle/>
          <a:p>
            <a:r>
              <a:rPr lang="en-US" b="0">
                <a:solidFill>
                  <a:srgbClr val="FF0000"/>
                </a:solidFill>
              </a:rPr>
              <a:t>Đặc trưng của các ứng dụng mạng</a:t>
            </a:r>
            <a:r>
              <a:rPr lang="en-US" b="0"/>
              <a:t>: </a:t>
            </a:r>
            <a:endParaRPr lang="en-US" b="0" smtClean="0"/>
          </a:p>
          <a:p>
            <a:pPr marL="342900" indent="-342900">
              <a:spcBef>
                <a:spcPts val="600"/>
              </a:spcBef>
              <a:spcAft>
                <a:spcPts val="1200"/>
              </a:spcAft>
              <a:buFont typeface="Wingdings" pitchFamily="2" charset="2"/>
              <a:buChar char="§"/>
            </a:pPr>
            <a:r>
              <a:rPr lang="en-US" sz="2000" b="0" smtClean="0"/>
              <a:t>Cần </a:t>
            </a:r>
            <a:r>
              <a:rPr lang="en-US" sz="2000" b="0"/>
              <a:t>xem xét đến </a:t>
            </a:r>
            <a:r>
              <a:rPr lang="en-US" sz="2000" b="0">
                <a:solidFill>
                  <a:srgbClr val="FF0000"/>
                </a:solidFill>
              </a:rPr>
              <a:t>các yêu cầu của ứng dụng </a:t>
            </a:r>
            <a:r>
              <a:rPr lang="en-US" sz="2000" b="0"/>
              <a:t>như Peer-to-Peer, client – local server, client – server farm, client – enterprise edge server. </a:t>
            </a:r>
            <a:endParaRPr lang="en-US" sz="2000" b="0" smtClean="0"/>
          </a:p>
          <a:p>
            <a:pPr marL="342900" indent="-342900">
              <a:spcBef>
                <a:spcPts val="600"/>
              </a:spcBef>
              <a:spcAft>
                <a:spcPts val="1200"/>
              </a:spcAft>
              <a:buFont typeface="Wingdings" pitchFamily="2" charset="2"/>
              <a:buChar char="§"/>
            </a:pPr>
            <a:r>
              <a:rPr lang="en-US" sz="2000" b="0" smtClean="0">
                <a:solidFill>
                  <a:srgbClr val="FF0000"/>
                </a:solidFill>
              </a:rPr>
              <a:t>Tập </a:t>
            </a:r>
            <a:r>
              <a:rPr lang="en-US" sz="2000" b="0">
                <a:solidFill>
                  <a:srgbClr val="FF0000"/>
                </a:solidFill>
              </a:rPr>
              <a:t>trung </a:t>
            </a:r>
            <a:r>
              <a:rPr lang="en-US" sz="2000" b="0"/>
              <a:t>vào các yếu tố như </a:t>
            </a:r>
            <a:r>
              <a:rPr lang="en-US" sz="2000" b="0">
                <a:solidFill>
                  <a:srgbClr val="FF0000"/>
                </a:solidFill>
              </a:rPr>
              <a:t>kiểu kết nối</a:t>
            </a:r>
            <a:r>
              <a:rPr lang="en-US" sz="2000" b="0"/>
              <a:t>, các chức năng cần thiết, yêu cầu về </a:t>
            </a:r>
            <a:r>
              <a:rPr lang="en-US" sz="2000" b="0">
                <a:solidFill>
                  <a:srgbClr val="FF0000"/>
                </a:solidFill>
              </a:rPr>
              <a:t>tính sẵn sàng cao </a:t>
            </a:r>
            <a:r>
              <a:rPr lang="en-US" sz="2000" b="0"/>
              <a:t>và </a:t>
            </a:r>
            <a:r>
              <a:rPr lang="en-US" sz="2000" b="0">
                <a:solidFill>
                  <a:srgbClr val="FF0000"/>
                </a:solidFill>
              </a:rPr>
              <a:t>chi phí.</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990600"/>
            <a:ext cx="5429250"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12307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4. Các yếu tố cần xem xét</a:t>
            </a:r>
            <a:endParaRPr lang="en-US">
              <a:solidFill>
                <a:schemeClr val="bg1"/>
              </a:solidFill>
            </a:endParaRPr>
          </a:p>
        </p:txBody>
      </p:sp>
      <p:sp>
        <p:nvSpPr>
          <p:cNvPr id="2" name="Rectangle 1"/>
          <p:cNvSpPr/>
          <p:nvPr/>
        </p:nvSpPr>
        <p:spPr>
          <a:xfrm>
            <a:off x="204866" y="897553"/>
            <a:ext cx="8710534" cy="830997"/>
          </a:xfrm>
          <a:prstGeom prst="rect">
            <a:avLst/>
          </a:prstGeom>
        </p:spPr>
        <p:txBody>
          <a:bodyPr wrap="square">
            <a:spAutoFit/>
          </a:bodyPr>
          <a:lstStyle/>
          <a:p>
            <a:r>
              <a:rPr lang="en-US"/>
              <a:t>Mối tương quan giữa các loại ứng dụng và một số yếu tố liên quan cần xem xét khi thiết kế.</a:t>
            </a:r>
          </a:p>
        </p:txBody>
      </p:sp>
      <p:pic>
        <p:nvPicPr>
          <p:cNvPr id="5" name="Picture 4"/>
          <p:cNvPicPr/>
          <p:nvPr/>
        </p:nvPicPr>
        <p:blipFill rotWithShape="1">
          <a:blip r:embed="rId2"/>
          <a:srcRect l="4500" t="6368" b="14938"/>
          <a:stretch/>
        </p:blipFill>
        <p:spPr bwMode="auto">
          <a:xfrm>
            <a:off x="749597" y="2209800"/>
            <a:ext cx="7621072" cy="3139124"/>
          </a:xfrm>
          <a:prstGeom prst="rect">
            <a:avLst/>
          </a:prstGeom>
          <a:noFill/>
          <a:ln>
            <a:noFill/>
          </a:ln>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5761814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4. Các yếu tố cần xem xét</a:t>
            </a:r>
            <a:endParaRPr lang="en-US">
              <a:solidFill>
                <a:schemeClr val="bg1"/>
              </a:solidFill>
            </a:endParaRPr>
          </a:p>
        </p:txBody>
      </p:sp>
      <p:sp>
        <p:nvSpPr>
          <p:cNvPr id="2" name="Rectangle 1"/>
          <p:cNvSpPr/>
          <p:nvPr/>
        </p:nvSpPr>
        <p:spPr>
          <a:xfrm>
            <a:off x="204866" y="897553"/>
            <a:ext cx="6272134" cy="2000548"/>
          </a:xfrm>
          <a:prstGeom prst="rect">
            <a:avLst/>
          </a:prstGeom>
        </p:spPr>
        <p:txBody>
          <a:bodyPr wrap="square">
            <a:spAutoFit/>
          </a:bodyPr>
          <a:lstStyle/>
          <a:p>
            <a:pPr lvl="0"/>
            <a:r>
              <a:rPr lang="en-US">
                <a:solidFill>
                  <a:srgbClr val="FF0000"/>
                </a:solidFill>
              </a:rPr>
              <a:t>Đặc trưng về môi trường mạng:</a:t>
            </a:r>
          </a:p>
          <a:p>
            <a:r>
              <a:rPr lang="en-US" sz="2000" b="0"/>
              <a:t>Liên quan đến </a:t>
            </a:r>
            <a:r>
              <a:rPr lang="en-US" sz="2000" b="0">
                <a:solidFill>
                  <a:srgbClr val="FF0000"/>
                </a:solidFill>
              </a:rPr>
              <a:t>vị trí địa lý t</a:t>
            </a:r>
            <a:r>
              <a:rPr lang="en-US" sz="2000" b="0"/>
              <a:t>ại vị trí triển khai, khoảng cách giữa các node mạng, </a:t>
            </a:r>
            <a:r>
              <a:rPr lang="en-US" sz="2000" b="0">
                <a:solidFill>
                  <a:srgbClr val="FF0000"/>
                </a:solidFill>
              </a:rPr>
              <a:t>môi trường truyền</a:t>
            </a:r>
            <a:r>
              <a:rPr lang="en-US" sz="2000" b="0"/>
              <a:t>, xem xét phương án triển khai mạng trong cùng tòa nhà (IntraBuilding), giữa các tòa nhà (InterBuilding) và các kết nối từ xa.</a:t>
            </a:r>
            <a:endParaRPr lang="en-US" sz="1800" b="0"/>
          </a:p>
        </p:txBody>
      </p:sp>
      <p:pic>
        <p:nvPicPr>
          <p:cNvPr id="5" name="Picture 4"/>
          <p:cNvPicPr/>
          <p:nvPr/>
        </p:nvPicPr>
        <p:blipFill rotWithShape="1">
          <a:blip r:embed="rId2"/>
          <a:srcRect b="2410"/>
          <a:stretch/>
        </p:blipFill>
        <p:spPr bwMode="auto">
          <a:xfrm>
            <a:off x="6477000" y="928783"/>
            <a:ext cx="2087880" cy="2794635"/>
          </a:xfrm>
          <a:prstGeom prst="rect">
            <a:avLst/>
          </a:prstGeom>
          <a:noFill/>
          <a:ln>
            <a:noFill/>
          </a:ln>
          <a:effectLst/>
          <a:extLst>
            <a:ext uri="{53640926-AAD7-44D8-BBD7-CCE9431645EC}">
              <a14:shadowObscured xmlns:a14="http://schemas.microsoft.com/office/drawing/2010/main"/>
            </a:ext>
          </a:extLst>
        </p:spPr>
      </p:pic>
      <p:pic>
        <p:nvPicPr>
          <p:cNvPr id="6" name="Picture 5"/>
          <p:cNvPicPr/>
          <p:nvPr/>
        </p:nvPicPr>
        <p:blipFill rotWithShape="1">
          <a:blip r:embed="rId3"/>
          <a:srcRect t="8287" b="4420"/>
          <a:stretch/>
        </p:blipFill>
        <p:spPr bwMode="auto">
          <a:xfrm>
            <a:off x="2209800" y="3048000"/>
            <a:ext cx="3449955" cy="2725420"/>
          </a:xfrm>
          <a:prstGeom prst="rect">
            <a:avLst/>
          </a:prstGeom>
          <a:noFill/>
          <a:ln>
            <a:noFill/>
          </a:ln>
          <a:effectLst/>
          <a:extLst>
            <a:ext uri="{53640926-AAD7-44D8-BBD7-CCE9431645EC}">
              <a14:shadowObscured xmlns:a14="http://schemas.microsoft.com/office/drawing/2010/main"/>
            </a:ext>
          </a:extLst>
        </p:spPr>
      </p:pic>
      <p:sp>
        <p:nvSpPr>
          <p:cNvPr id="3" name="Rectangle 2"/>
          <p:cNvSpPr/>
          <p:nvPr/>
        </p:nvSpPr>
        <p:spPr>
          <a:xfrm>
            <a:off x="6781800" y="3728681"/>
            <a:ext cx="2079415" cy="461665"/>
          </a:xfrm>
          <a:prstGeom prst="rect">
            <a:avLst/>
          </a:prstGeom>
        </p:spPr>
        <p:txBody>
          <a:bodyPr wrap="none">
            <a:spAutoFit/>
          </a:bodyPr>
          <a:lstStyle/>
          <a:p>
            <a:r>
              <a:rPr lang="en-US" smtClean="0"/>
              <a:t>IntraBuilding</a:t>
            </a:r>
            <a:endParaRPr lang="en-US"/>
          </a:p>
        </p:txBody>
      </p:sp>
      <p:sp>
        <p:nvSpPr>
          <p:cNvPr id="7" name="Rectangle 6"/>
          <p:cNvSpPr/>
          <p:nvPr/>
        </p:nvSpPr>
        <p:spPr>
          <a:xfrm>
            <a:off x="2895069" y="5778683"/>
            <a:ext cx="2079415" cy="461665"/>
          </a:xfrm>
          <a:prstGeom prst="rect">
            <a:avLst/>
          </a:prstGeom>
        </p:spPr>
        <p:txBody>
          <a:bodyPr wrap="none">
            <a:spAutoFit/>
          </a:bodyPr>
          <a:lstStyle/>
          <a:p>
            <a:r>
              <a:rPr lang="en-US"/>
              <a:t>InterBuilding</a:t>
            </a:r>
          </a:p>
        </p:txBody>
      </p:sp>
    </p:spTree>
    <p:extLst>
      <p:ext uri="{BB962C8B-B14F-4D97-AF65-F5344CB8AC3E}">
        <p14:creationId xmlns:p14="http://schemas.microsoft.com/office/powerpoint/2010/main" val="17175063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4. Các yếu tố cần xem xét</a:t>
            </a:r>
            <a:endParaRPr lang="en-US">
              <a:solidFill>
                <a:schemeClr val="bg1"/>
              </a:solidFill>
            </a:endParaRPr>
          </a:p>
        </p:txBody>
      </p:sp>
      <p:sp>
        <p:nvSpPr>
          <p:cNvPr id="2" name="Rectangle 1"/>
          <p:cNvSpPr/>
          <p:nvPr/>
        </p:nvSpPr>
        <p:spPr>
          <a:xfrm>
            <a:off x="204866" y="897553"/>
            <a:ext cx="8786734" cy="4801314"/>
          </a:xfrm>
          <a:prstGeom prst="rect">
            <a:avLst/>
          </a:prstGeom>
        </p:spPr>
        <p:txBody>
          <a:bodyPr wrap="square">
            <a:spAutoFit/>
          </a:bodyPr>
          <a:lstStyle/>
          <a:p>
            <a:pPr lvl="0"/>
            <a:r>
              <a:rPr lang="en-US">
                <a:solidFill>
                  <a:srgbClr val="FF0000"/>
                </a:solidFill>
              </a:rPr>
              <a:t>Đặc trưng về môi trường mạng</a:t>
            </a:r>
            <a:r>
              <a:rPr lang="en-US" smtClean="0">
                <a:solidFill>
                  <a:srgbClr val="FF0000"/>
                </a:solidFill>
              </a:rPr>
              <a:t>:</a:t>
            </a:r>
          </a:p>
          <a:p>
            <a:pPr marL="342900" lvl="0" indent="-342900">
              <a:spcBef>
                <a:spcPts val="1200"/>
              </a:spcBef>
              <a:spcAft>
                <a:spcPts val="1200"/>
              </a:spcAft>
              <a:buFont typeface="Arial" pitchFamily="34" charset="0"/>
              <a:buChar char="•"/>
            </a:pPr>
            <a:r>
              <a:rPr lang="en-US" b="0">
                <a:solidFill>
                  <a:srgbClr val="7030A0"/>
                </a:solidFill>
              </a:rPr>
              <a:t>Đối với triển khai trong một tòa nhà</a:t>
            </a:r>
            <a:r>
              <a:rPr lang="en-US" b="0" smtClean="0">
                <a:solidFill>
                  <a:srgbClr val="7030A0"/>
                </a:solidFill>
              </a:rPr>
              <a:t>: </a:t>
            </a:r>
            <a:r>
              <a:rPr lang="en-US" sz="2000" b="0"/>
              <a:t>Kết nối từ distribution switch đến các access switch thường dùng cáp quang multimode, từ các access switch đến các phòng trong tầng dùng cáp đồng, ở các tầng có thể có kết nối đến access point cung cấp các kết nối mạng không </a:t>
            </a:r>
            <a:r>
              <a:rPr lang="en-US" sz="2000" b="0" smtClean="0"/>
              <a:t>dây.</a:t>
            </a:r>
          </a:p>
          <a:p>
            <a:pPr marL="342900" lvl="0" indent="-342900">
              <a:spcBef>
                <a:spcPts val="1200"/>
              </a:spcBef>
              <a:spcAft>
                <a:spcPts val="1200"/>
              </a:spcAft>
              <a:buFont typeface="Arial" pitchFamily="34" charset="0"/>
              <a:buChar char="•"/>
            </a:pPr>
            <a:r>
              <a:rPr lang="en-US" b="0" smtClean="0">
                <a:solidFill>
                  <a:srgbClr val="7030A0"/>
                </a:solidFill>
              </a:rPr>
              <a:t>Triển </a:t>
            </a:r>
            <a:r>
              <a:rPr lang="en-US" b="0">
                <a:solidFill>
                  <a:srgbClr val="7030A0"/>
                </a:solidFill>
              </a:rPr>
              <a:t>khai mạng kết nối giữa các tòa nhà trong một tổ chức: </a:t>
            </a:r>
            <a:r>
              <a:rPr lang="en-US" sz="2000" b="0"/>
              <a:t>thường dùng cáp quang kết nối giữa 2 core/distribution switch, dùng cáp quang dạng </a:t>
            </a:r>
            <a:r>
              <a:rPr lang="en-US" sz="2000" b="0" smtClean="0"/>
              <a:t>singlemode.</a:t>
            </a:r>
          </a:p>
          <a:p>
            <a:pPr marL="342900" lvl="0" indent="-342900">
              <a:spcBef>
                <a:spcPts val="1200"/>
              </a:spcBef>
              <a:spcAft>
                <a:spcPts val="1200"/>
              </a:spcAft>
              <a:buFont typeface="Arial" pitchFamily="34" charset="0"/>
              <a:buChar char="•"/>
            </a:pPr>
            <a:r>
              <a:rPr lang="en-US" b="0" smtClean="0">
                <a:solidFill>
                  <a:srgbClr val="7030A0"/>
                </a:solidFill>
              </a:rPr>
              <a:t>Kết </a:t>
            </a:r>
            <a:r>
              <a:rPr lang="en-US" b="0">
                <a:solidFill>
                  <a:srgbClr val="7030A0"/>
                </a:solidFill>
              </a:rPr>
              <a:t>nối từ xa: </a:t>
            </a:r>
            <a:r>
              <a:rPr lang="en-US" sz="2000" b="0"/>
              <a:t>là thành phần kết nối từ các chi nhánh về trung tâm, hoặc kết nối của nhân viên ở bên ngoài Internet kết nối về mạng nội bộ. các kết nối này được thiết kế qua module enterprise Edge với chức năng thiết kế mạng WAN.</a:t>
            </a:r>
            <a:endParaRPr lang="en-US" sz="2000" b="0">
              <a:solidFill>
                <a:srgbClr val="FF0000"/>
              </a:solidFill>
            </a:endParaRPr>
          </a:p>
        </p:txBody>
      </p:sp>
    </p:spTree>
    <p:extLst>
      <p:ext uri="{BB962C8B-B14F-4D97-AF65-F5344CB8AC3E}">
        <p14:creationId xmlns:p14="http://schemas.microsoft.com/office/powerpoint/2010/main" val="26615178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4. Các yếu tố cần xem xét</a:t>
            </a:r>
            <a:endParaRPr lang="en-US">
              <a:solidFill>
                <a:schemeClr val="bg1"/>
              </a:solidFill>
            </a:endParaRPr>
          </a:p>
        </p:txBody>
      </p:sp>
      <p:sp>
        <p:nvSpPr>
          <p:cNvPr id="2" name="Rectangle 1"/>
          <p:cNvSpPr/>
          <p:nvPr/>
        </p:nvSpPr>
        <p:spPr>
          <a:xfrm>
            <a:off x="204866" y="897553"/>
            <a:ext cx="8786734" cy="3416320"/>
          </a:xfrm>
          <a:prstGeom prst="rect">
            <a:avLst/>
          </a:prstGeom>
        </p:spPr>
        <p:txBody>
          <a:bodyPr wrap="square">
            <a:spAutoFit/>
          </a:bodyPr>
          <a:lstStyle/>
          <a:p>
            <a:pPr lvl="0"/>
            <a:r>
              <a:rPr lang="en-US">
                <a:solidFill>
                  <a:srgbClr val="FF0000"/>
                </a:solidFill>
              </a:rPr>
              <a:t>Môi trường truyền dẫn:</a:t>
            </a:r>
            <a:r>
              <a:rPr lang="en-US"/>
              <a:t> </a:t>
            </a:r>
            <a:r>
              <a:rPr lang="en-US" b="0"/>
              <a:t>gồm môi trường có dây và không dây. Trong môi trường có dây, có thể sử dụng cáp đồng (UTP, STP) hoặc cáp quang (multimode, singlemode). </a:t>
            </a:r>
            <a:endParaRPr lang="en-US" b="0" smtClean="0"/>
          </a:p>
          <a:p>
            <a:pPr lvl="0"/>
            <a:endParaRPr lang="en-US" b="0" smtClean="0"/>
          </a:p>
          <a:p>
            <a:pPr lvl="0"/>
            <a:r>
              <a:rPr lang="en-US" b="0" smtClean="0"/>
              <a:t>Các </a:t>
            </a:r>
            <a:r>
              <a:rPr lang="en-US" b="0"/>
              <a:t>kết nối không dây, khi thiết kế phải xem xét đến các chủng loại thiết bị, năng lực thiết bị, chú ý đến việc thiết kế đảm bảo </a:t>
            </a:r>
            <a:r>
              <a:rPr lang="en-US" b="0">
                <a:solidFill>
                  <a:srgbClr val="FF0000"/>
                </a:solidFill>
              </a:rPr>
              <a:t>phạm vi phủ sóng </a:t>
            </a:r>
            <a:r>
              <a:rPr lang="en-US" b="0"/>
              <a:t>và </a:t>
            </a:r>
            <a:r>
              <a:rPr lang="en-US" b="0">
                <a:solidFill>
                  <a:srgbClr val="FF0000"/>
                </a:solidFill>
              </a:rPr>
              <a:t>lượng người dùng</a:t>
            </a:r>
            <a:r>
              <a:rPr lang="en-US" b="0"/>
              <a:t> với </a:t>
            </a:r>
            <a:r>
              <a:rPr lang="en-US" b="0">
                <a:solidFill>
                  <a:srgbClr val="FF0000"/>
                </a:solidFill>
              </a:rPr>
              <a:t>khả năng của từng access point</a:t>
            </a:r>
            <a:r>
              <a:rPr lang="en-US" b="0"/>
              <a:t>, </a:t>
            </a:r>
            <a:r>
              <a:rPr lang="en-US" b="0">
                <a:solidFill>
                  <a:srgbClr val="FF0000"/>
                </a:solidFill>
              </a:rPr>
              <a:t>phương án quản trị hệ thống</a:t>
            </a:r>
            <a:r>
              <a:rPr lang="en-US" b="0"/>
              <a:t>, </a:t>
            </a:r>
            <a:r>
              <a:rPr lang="en-US" b="0">
                <a:solidFill>
                  <a:srgbClr val="FF0000"/>
                </a:solidFill>
              </a:rPr>
              <a:t>các chuẩn </a:t>
            </a:r>
            <a:r>
              <a:rPr lang="en-US" b="0"/>
              <a:t>hỗ trợ và các chức năng </a:t>
            </a:r>
            <a:r>
              <a:rPr lang="en-US" b="0">
                <a:solidFill>
                  <a:srgbClr val="FF0000"/>
                </a:solidFill>
              </a:rPr>
              <a:t>bảo mật </a:t>
            </a:r>
            <a:r>
              <a:rPr lang="en-US" b="0"/>
              <a:t>hỗ trợ.</a:t>
            </a:r>
            <a:endParaRPr lang="en-US" sz="2000" b="0">
              <a:solidFill>
                <a:srgbClr val="FF0000"/>
              </a:solidFill>
            </a:endParaRPr>
          </a:p>
        </p:txBody>
      </p:sp>
    </p:spTree>
    <p:extLst>
      <p:ext uri="{BB962C8B-B14F-4D97-AF65-F5344CB8AC3E}">
        <p14:creationId xmlns:p14="http://schemas.microsoft.com/office/powerpoint/2010/main" val="36683015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5. Thiết kế dạng module</a:t>
            </a:r>
            <a:endParaRPr lang="en-US">
              <a:solidFill>
                <a:schemeClr val="bg1"/>
              </a:solidFill>
            </a:endParaRPr>
          </a:p>
        </p:txBody>
      </p:sp>
      <p:sp>
        <p:nvSpPr>
          <p:cNvPr id="2" name="Rectangle 1"/>
          <p:cNvSpPr/>
          <p:nvPr/>
        </p:nvSpPr>
        <p:spPr>
          <a:xfrm>
            <a:off x="204866" y="897553"/>
            <a:ext cx="8786734" cy="5324535"/>
          </a:xfrm>
          <a:prstGeom prst="rect">
            <a:avLst/>
          </a:prstGeom>
        </p:spPr>
        <p:txBody>
          <a:bodyPr wrap="square">
            <a:spAutoFit/>
          </a:bodyPr>
          <a:lstStyle/>
          <a:p>
            <a:pPr>
              <a:spcBef>
                <a:spcPts val="1200"/>
              </a:spcBef>
              <a:spcAft>
                <a:spcPts val="1200"/>
              </a:spcAft>
            </a:pPr>
            <a:r>
              <a:rPr lang="en-US" sz="2000" b="0"/>
              <a:t>Trong thiết kế có thể chia mô hình thiết kế 3 lớp theo các </a:t>
            </a:r>
            <a:r>
              <a:rPr lang="en-US" sz="2000" b="0" smtClean="0"/>
              <a:t>module. </a:t>
            </a:r>
            <a:r>
              <a:rPr lang="en-US" sz="2000" b="0" smtClean="0">
                <a:solidFill>
                  <a:srgbClr val="FF0000"/>
                </a:solidFill>
              </a:rPr>
              <a:t>Các </a:t>
            </a:r>
            <a:r>
              <a:rPr lang="en-US" sz="2000" b="0">
                <a:solidFill>
                  <a:srgbClr val="FF0000"/>
                </a:solidFill>
              </a:rPr>
              <a:t>module này đại diện cho các khu vực có kết nối vậy lý hoặc luận lý khác nhau</a:t>
            </a:r>
            <a:r>
              <a:rPr lang="en-US" sz="2000" b="0"/>
              <a:t>, chúng có chức năng khác nhau trong một hệ thống mạng. Sự module hóa này làm </a:t>
            </a:r>
            <a:r>
              <a:rPr lang="en-US" sz="2000" b="0">
                <a:solidFill>
                  <a:srgbClr val="FF0000"/>
                </a:solidFill>
              </a:rPr>
              <a:t>tăng mức độ linh động trong thiết kế</a:t>
            </a:r>
            <a:r>
              <a:rPr lang="en-US" sz="2000" b="0"/>
              <a:t>, tạo sự </a:t>
            </a:r>
            <a:r>
              <a:rPr lang="en-US" sz="2000" b="0">
                <a:solidFill>
                  <a:srgbClr val="FF0000"/>
                </a:solidFill>
              </a:rPr>
              <a:t>thuận lợi </a:t>
            </a:r>
            <a:r>
              <a:rPr lang="en-US" sz="2000" b="0"/>
              <a:t>trong </a:t>
            </a:r>
            <a:r>
              <a:rPr lang="en-US" sz="2000" b="0">
                <a:solidFill>
                  <a:srgbClr val="FF0000"/>
                </a:solidFill>
              </a:rPr>
              <a:t>triển khai</a:t>
            </a:r>
            <a:r>
              <a:rPr lang="en-US" sz="2000" b="0"/>
              <a:t> và </a:t>
            </a:r>
            <a:r>
              <a:rPr lang="en-US" sz="2000" b="0">
                <a:solidFill>
                  <a:srgbClr val="FF0000"/>
                </a:solidFill>
              </a:rPr>
              <a:t>khắc phục sự cố</a:t>
            </a:r>
            <a:r>
              <a:rPr lang="en-US" sz="2000" b="0"/>
              <a:t>. </a:t>
            </a:r>
            <a:endParaRPr lang="en-US" sz="2000" b="0" smtClean="0"/>
          </a:p>
          <a:p>
            <a:pPr>
              <a:spcBef>
                <a:spcPts val="600"/>
              </a:spcBef>
              <a:spcAft>
                <a:spcPts val="1200"/>
              </a:spcAft>
            </a:pPr>
            <a:r>
              <a:rPr lang="en-US" sz="2000" b="0" smtClean="0"/>
              <a:t>Ba </a:t>
            </a:r>
            <a:r>
              <a:rPr lang="en-US" sz="2000" b="0"/>
              <a:t>module được đề cập trong thiết kế dạng module gồm:</a:t>
            </a:r>
          </a:p>
          <a:p>
            <a:pPr marL="457200" lvl="0" indent="-457200">
              <a:spcBef>
                <a:spcPts val="600"/>
              </a:spcBef>
              <a:spcAft>
                <a:spcPts val="1200"/>
              </a:spcAft>
              <a:buFont typeface="+mj-lt"/>
              <a:buAutoNum type="arabicParenR"/>
            </a:pPr>
            <a:r>
              <a:rPr lang="en-US" sz="2000">
                <a:solidFill>
                  <a:srgbClr val="FF0000"/>
                </a:solidFill>
              </a:rPr>
              <a:t>Enterprise campus</a:t>
            </a:r>
            <a:r>
              <a:rPr lang="en-US" sz="2000" b="0">
                <a:solidFill>
                  <a:srgbClr val="FF0000"/>
                </a:solidFill>
              </a:rPr>
              <a:t>: </a:t>
            </a:r>
            <a:r>
              <a:rPr lang="en-US" sz="2000" b="0"/>
              <a:t>vùng này là thành phần mạng hoạt động độc lập trong một hệ thống hay một chi nhánh.</a:t>
            </a:r>
          </a:p>
          <a:p>
            <a:pPr marL="457200" lvl="0" indent="-457200">
              <a:spcBef>
                <a:spcPts val="600"/>
              </a:spcBef>
              <a:spcAft>
                <a:spcPts val="1200"/>
              </a:spcAft>
              <a:buFont typeface="+mj-lt"/>
              <a:buAutoNum type="arabicParenR"/>
            </a:pPr>
            <a:r>
              <a:rPr lang="en-US" sz="2000">
                <a:solidFill>
                  <a:srgbClr val="FF0000"/>
                </a:solidFill>
              </a:rPr>
              <a:t>Server farm</a:t>
            </a:r>
            <a:r>
              <a:rPr lang="en-US" sz="2000" b="0">
                <a:solidFill>
                  <a:srgbClr val="FF0000"/>
                </a:solidFill>
              </a:rPr>
              <a:t>: </a:t>
            </a:r>
            <a:r>
              <a:rPr lang="en-US" sz="2000" b="0"/>
              <a:t>nơi triển khai các server, cung cấp các tài nguyên, tính năng dự phòng, kết nối tin cậy tốc độ cao.</a:t>
            </a:r>
          </a:p>
          <a:p>
            <a:pPr marL="457200" indent="-457200">
              <a:spcBef>
                <a:spcPts val="600"/>
              </a:spcBef>
              <a:spcAft>
                <a:spcPts val="1200"/>
              </a:spcAft>
              <a:buFont typeface="+mj-lt"/>
              <a:buAutoNum type="arabicParenR"/>
            </a:pPr>
            <a:r>
              <a:rPr lang="en-US" sz="2000">
                <a:solidFill>
                  <a:srgbClr val="FF0000"/>
                </a:solidFill>
              </a:rPr>
              <a:t>Enterprise edge: </a:t>
            </a:r>
            <a:r>
              <a:rPr lang="en-US" sz="2000" b="0"/>
              <a:t>lọc các lưu lượng từ bên ngoài vào hê thống mạng bên trong. Giải pháp thiết kế đảm bảo các kết nối hiệu quả và bảo mật giữa mạng nội bộ và các chi nhánh, người dùng từ xa và kết nối Internet.</a:t>
            </a:r>
            <a:endParaRPr lang="en-US" sz="1800" b="0">
              <a:solidFill>
                <a:srgbClr val="FF0000"/>
              </a:solidFill>
            </a:endParaRPr>
          </a:p>
        </p:txBody>
      </p:sp>
    </p:spTree>
    <p:extLst>
      <p:ext uri="{BB962C8B-B14F-4D97-AF65-F5344CB8AC3E}">
        <p14:creationId xmlns:p14="http://schemas.microsoft.com/office/powerpoint/2010/main" val="37218473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533400"/>
          </a:xfrm>
        </p:spPr>
        <p:txBody>
          <a:bodyPr/>
          <a:lstStyle/>
          <a:p>
            <a:pPr algn="ctr"/>
            <a:r>
              <a:rPr lang="en-US" smtClean="0">
                <a:solidFill>
                  <a:schemeClr val="bg1"/>
                </a:solidFill>
              </a:rPr>
              <a:t>5. Thiết kế dạng module</a:t>
            </a:r>
            <a:endParaRPr lang="en-US">
              <a:solidFill>
                <a:schemeClr val="bg1"/>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670" y="1258216"/>
            <a:ext cx="6324600" cy="3542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545081" y="2590800"/>
            <a:ext cx="2324100" cy="1938992"/>
          </a:xfrm>
          <a:prstGeom prst="rect">
            <a:avLst/>
          </a:prstGeom>
        </p:spPr>
        <p:txBody>
          <a:bodyPr wrap="square">
            <a:spAutoFit/>
          </a:bodyPr>
          <a:lstStyle/>
          <a:p>
            <a:pPr lvl="0"/>
            <a:r>
              <a:rPr lang="en-US" sz="2000" b="0">
                <a:solidFill>
                  <a:srgbClr val="FF0000"/>
                </a:solidFill>
              </a:rPr>
              <a:t>Enterprise campus</a:t>
            </a:r>
            <a:r>
              <a:rPr lang="en-US" sz="2000" b="0"/>
              <a:t>: </a:t>
            </a:r>
            <a:r>
              <a:rPr lang="en-US" sz="2000" b="0" smtClean="0"/>
              <a:t>là </a:t>
            </a:r>
            <a:r>
              <a:rPr lang="en-US" sz="2000" b="0"/>
              <a:t>thành phần mạng hoạt động độc lập trong một hệ thống hay một chi nhánh.</a:t>
            </a:r>
          </a:p>
        </p:txBody>
      </p:sp>
      <p:sp>
        <p:nvSpPr>
          <p:cNvPr id="3" name="Rectangle 2"/>
          <p:cNvSpPr/>
          <p:nvPr/>
        </p:nvSpPr>
        <p:spPr>
          <a:xfrm>
            <a:off x="5486400" y="784592"/>
            <a:ext cx="3657600" cy="1323439"/>
          </a:xfrm>
          <a:prstGeom prst="rect">
            <a:avLst/>
          </a:prstGeom>
        </p:spPr>
        <p:txBody>
          <a:bodyPr wrap="square">
            <a:spAutoFit/>
          </a:bodyPr>
          <a:lstStyle/>
          <a:p>
            <a:r>
              <a:rPr lang="en-US" sz="2000" b="0">
                <a:solidFill>
                  <a:srgbClr val="FF0000"/>
                </a:solidFill>
              </a:rPr>
              <a:t>Server farm: </a:t>
            </a:r>
            <a:r>
              <a:rPr lang="en-US" sz="2000" b="0"/>
              <a:t>nơi triển khai các server, cung cấp các tài nguyên, tính năng dự phòng, kết nối tin cậy tốc độ cao</a:t>
            </a:r>
          </a:p>
        </p:txBody>
      </p:sp>
      <p:sp>
        <p:nvSpPr>
          <p:cNvPr id="5" name="Rectangle 4"/>
          <p:cNvSpPr/>
          <p:nvPr/>
        </p:nvSpPr>
        <p:spPr>
          <a:xfrm>
            <a:off x="381000" y="4800600"/>
            <a:ext cx="7848600" cy="1323439"/>
          </a:xfrm>
          <a:prstGeom prst="rect">
            <a:avLst/>
          </a:prstGeom>
        </p:spPr>
        <p:txBody>
          <a:bodyPr wrap="square">
            <a:spAutoFit/>
          </a:bodyPr>
          <a:lstStyle/>
          <a:p>
            <a:pPr lvl="0"/>
            <a:r>
              <a:rPr lang="en-US" sz="2000" b="0">
                <a:solidFill>
                  <a:srgbClr val="FF0000"/>
                </a:solidFill>
              </a:rPr>
              <a:t>Enterprise edge: </a:t>
            </a:r>
            <a:r>
              <a:rPr lang="en-US" sz="2000" b="0"/>
              <a:t>lọc các lưu lượng từ bên ngoài vào hê thống mạng bên trong. Giải pháp thiết kế đảm bảo các kết nối hiệu quả và bảo mật giữa mạng nội bộ và các chi nhánh, người dùng từ xa và kết nối Internet.</a:t>
            </a:r>
          </a:p>
        </p:txBody>
      </p:sp>
    </p:spTree>
    <p:extLst>
      <p:ext uri="{BB962C8B-B14F-4D97-AF65-F5344CB8AC3E}">
        <p14:creationId xmlns:p14="http://schemas.microsoft.com/office/powerpoint/2010/main" val="542232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915400" cy="609600"/>
          </a:xfrm>
        </p:spPr>
        <p:txBody>
          <a:bodyPr/>
          <a:lstStyle/>
          <a:p>
            <a:r>
              <a:rPr lang="en-US" sz="2800" smtClean="0">
                <a:solidFill>
                  <a:schemeClr val="bg1"/>
                </a:solidFill>
              </a:rPr>
              <a:t>HD: Viết phần Tóm tắt và Mục tiêu của dự án</a:t>
            </a:r>
            <a:endParaRPr lang="en-US" sz="2800">
              <a:solidFill>
                <a:schemeClr val="bg1"/>
              </a:solidFill>
            </a:endParaRPr>
          </a:p>
        </p:txBody>
      </p:sp>
      <p:sp>
        <p:nvSpPr>
          <p:cNvPr id="3" name="Content Placeholder 2"/>
          <p:cNvSpPr>
            <a:spLocks noGrp="1"/>
          </p:cNvSpPr>
          <p:nvPr>
            <p:ph idx="1"/>
          </p:nvPr>
        </p:nvSpPr>
        <p:spPr>
          <a:xfrm>
            <a:off x="228600" y="1066800"/>
            <a:ext cx="5334000" cy="4267200"/>
          </a:xfrm>
        </p:spPr>
        <p:txBody>
          <a:bodyPr/>
          <a:lstStyle/>
          <a:p>
            <a:pPr>
              <a:spcAft>
                <a:spcPts val="1200"/>
              </a:spcAft>
            </a:pPr>
            <a:r>
              <a:rPr lang="en-US" sz="2200">
                <a:solidFill>
                  <a:srgbClr val="FF0000"/>
                </a:solidFill>
              </a:rPr>
              <a:t>T</a:t>
            </a:r>
            <a:r>
              <a:rPr lang="en-US" sz="2200" smtClean="0">
                <a:solidFill>
                  <a:srgbClr val="FF0000"/>
                </a:solidFill>
              </a:rPr>
              <a:t>ài </a:t>
            </a:r>
            <a:r>
              <a:rPr lang="en-US" sz="2200">
                <a:solidFill>
                  <a:srgbClr val="FF0000"/>
                </a:solidFill>
              </a:rPr>
              <a:t>liệu thiết kế </a:t>
            </a:r>
            <a:r>
              <a:rPr lang="en-US" sz="2200" smtClean="0">
                <a:solidFill>
                  <a:srgbClr val="FF0000"/>
                </a:solidFill>
              </a:rPr>
              <a:t> </a:t>
            </a:r>
            <a:r>
              <a:rPr lang="en-US" sz="2200" smtClean="0"/>
              <a:t>(TLTK) mô </a:t>
            </a:r>
            <a:r>
              <a:rPr lang="en-US" sz="2200"/>
              <a:t>tả các yêu cầu của khách </a:t>
            </a:r>
            <a:r>
              <a:rPr lang="en-US" sz="2200" smtClean="0"/>
              <a:t>hàng và </a:t>
            </a:r>
            <a:r>
              <a:rPr lang="en-US" sz="2200"/>
              <a:t>giải thích cách thiết kế của bạn đáp ứng các yêu cầu đó. Nó cũng ghi lại mạng hiện có, thiết kế hợp lý và vật lý, ngân sách và chi phí liên quan đến dự án.</a:t>
            </a:r>
          </a:p>
          <a:p>
            <a:pPr>
              <a:spcAft>
                <a:spcPts val="1200"/>
              </a:spcAft>
            </a:pPr>
            <a:r>
              <a:rPr lang="en-US" sz="2200" smtClean="0"/>
              <a:t>Trong TLTK có </a:t>
            </a:r>
            <a:r>
              <a:rPr lang="en-US" sz="2200"/>
              <a:t>chứa các </a:t>
            </a:r>
            <a:r>
              <a:rPr lang="en-US" sz="2200">
                <a:solidFill>
                  <a:srgbClr val="FF0000"/>
                </a:solidFill>
              </a:rPr>
              <a:t>kế hoạch triển </a:t>
            </a:r>
            <a:r>
              <a:rPr lang="en-US" sz="2200" smtClean="0">
                <a:solidFill>
                  <a:srgbClr val="FF0000"/>
                </a:solidFill>
              </a:rPr>
              <a:t>khai</a:t>
            </a:r>
            <a:r>
              <a:rPr lang="en-US" sz="2200" smtClean="0"/>
              <a:t>, </a:t>
            </a:r>
            <a:r>
              <a:rPr lang="en-US" sz="2200">
                <a:solidFill>
                  <a:srgbClr val="FF0000"/>
                </a:solidFill>
              </a:rPr>
              <a:t>đo lường sự thành công </a:t>
            </a:r>
            <a:r>
              <a:rPr lang="en-US" sz="2200"/>
              <a:t>của việc triển khai và phát triển thiết kế mạng như mới yêu cầu ứng dụng phát sinh. </a:t>
            </a:r>
            <a:r>
              <a:rPr lang="en-US" sz="2200" smtClean="0"/>
              <a:t>Hình </a:t>
            </a:r>
            <a:r>
              <a:rPr lang="en-US" sz="2200"/>
              <a:t>14-1 cho thấy tính chất chu kỳ của mạng từ trên xuống quá trình thiết kế.</a:t>
            </a:r>
          </a:p>
        </p:txBody>
      </p:sp>
      <p:pic>
        <p:nvPicPr>
          <p:cNvPr id="4" name="Picture 3"/>
          <p:cNvPicPr/>
          <p:nvPr/>
        </p:nvPicPr>
        <p:blipFill>
          <a:blip r:embed="rId2"/>
          <a:stretch>
            <a:fillRect/>
          </a:stretch>
        </p:blipFill>
        <p:spPr>
          <a:xfrm>
            <a:off x="5943600" y="1126761"/>
            <a:ext cx="2952750" cy="3399155"/>
          </a:xfrm>
          <a:prstGeom prst="rect">
            <a:avLst/>
          </a:prstGeom>
        </p:spPr>
      </p:pic>
    </p:spTree>
    <p:extLst>
      <p:ext uri="{BB962C8B-B14F-4D97-AF65-F5344CB8AC3E}">
        <p14:creationId xmlns:p14="http://schemas.microsoft.com/office/powerpoint/2010/main" val="713228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lstStyle/>
          <a:p>
            <a:r>
              <a:rPr lang="en-US" smtClean="0">
                <a:solidFill>
                  <a:schemeClr val="bg1"/>
                </a:solidFill>
              </a:rPr>
              <a:t>Yêu cầu của khách hàng</a:t>
            </a:r>
            <a:endParaRPr lang="en-US">
              <a:solidFill>
                <a:schemeClr val="bg1"/>
              </a:solidFill>
            </a:endParaRPr>
          </a:p>
        </p:txBody>
      </p:sp>
      <p:sp>
        <p:nvSpPr>
          <p:cNvPr id="3" name="Content Placeholder 2"/>
          <p:cNvSpPr>
            <a:spLocks noGrp="1"/>
          </p:cNvSpPr>
          <p:nvPr>
            <p:ph idx="1"/>
          </p:nvPr>
        </p:nvSpPr>
        <p:spPr>
          <a:xfrm>
            <a:off x="533400" y="1219200"/>
            <a:ext cx="8077200" cy="4267200"/>
          </a:xfrm>
        </p:spPr>
        <p:txBody>
          <a:bodyPr/>
          <a:lstStyle/>
          <a:p>
            <a:pPr>
              <a:spcBef>
                <a:spcPts val="1200"/>
              </a:spcBef>
              <a:spcAft>
                <a:spcPts val="1200"/>
              </a:spcAft>
            </a:pPr>
            <a:r>
              <a:rPr lang="en-US" sz="2400" smtClean="0"/>
              <a:t> Các </a:t>
            </a:r>
            <a:r>
              <a:rPr lang="en-US" sz="2400"/>
              <a:t>tổ chức gửi </a:t>
            </a:r>
            <a:r>
              <a:rPr lang="en-US" sz="2400" smtClean="0"/>
              <a:t>yêu cầu </a:t>
            </a:r>
            <a:r>
              <a:rPr lang="en-US" sz="2400"/>
              <a:t>đến các nhà </a:t>
            </a:r>
            <a:r>
              <a:rPr lang="en-US" sz="2400" smtClean="0"/>
              <a:t>tư </a:t>
            </a:r>
            <a:r>
              <a:rPr lang="en-US" sz="2400"/>
              <a:t>vấn thiết </a:t>
            </a:r>
            <a:r>
              <a:rPr lang="en-US" sz="2400" smtClean="0"/>
              <a:t>kế.</a:t>
            </a:r>
          </a:p>
          <a:p>
            <a:pPr>
              <a:spcBef>
                <a:spcPts val="1200"/>
              </a:spcBef>
              <a:spcAft>
                <a:spcPts val="1200"/>
              </a:spcAft>
            </a:pPr>
            <a:r>
              <a:rPr lang="en-US" sz="2400" smtClean="0"/>
              <a:t> Các phản </a:t>
            </a:r>
            <a:r>
              <a:rPr lang="en-US" sz="2400"/>
              <a:t>hồi </a:t>
            </a:r>
            <a:r>
              <a:rPr lang="en-US" sz="2400" smtClean="0"/>
              <a:t>giúp </a:t>
            </a:r>
            <a:r>
              <a:rPr lang="en-US" sz="2400"/>
              <a:t>các tổ chức so sánh các thiết kế cạnh tranh, khả năng sản phẩm, giá cả, dịch vụ và các lựa chọn thay thế hỗ trợ. </a:t>
            </a:r>
          </a:p>
        </p:txBody>
      </p:sp>
    </p:spTree>
    <p:extLst>
      <p:ext uri="{BB962C8B-B14F-4D97-AF65-F5344CB8AC3E}">
        <p14:creationId xmlns:p14="http://schemas.microsoft.com/office/powerpoint/2010/main" val="39694232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077200" cy="4267200"/>
          </a:xfrm>
        </p:spPr>
        <p:txBody>
          <a:bodyPr/>
          <a:lstStyle/>
          <a:p>
            <a:pPr marL="0" indent="0">
              <a:buNone/>
            </a:pPr>
            <a:r>
              <a:rPr lang="en-US" sz="2000" dirty="0" err="1" smtClean="0"/>
              <a:t>Yêu</a:t>
            </a:r>
            <a:r>
              <a:rPr lang="en-US" sz="2000" dirty="0" smtClean="0"/>
              <a:t> </a:t>
            </a:r>
            <a:r>
              <a:rPr lang="en-US" sz="2000" dirty="0" err="1" smtClean="0"/>
              <a:t>cầu</a:t>
            </a:r>
            <a:r>
              <a:rPr lang="en-US" sz="2000" dirty="0" smtClean="0"/>
              <a:t> </a:t>
            </a:r>
            <a:r>
              <a:rPr lang="en-US" sz="2000" dirty="0" err="1" smtClean="0"/>
              <a:t>bao</a:t>
            </a:r>
            <a:r>
              <a:rPr lang="en-US" sz="2000" dirty="0" smtClean="0"/>
              <a:t> </a:t>
            </a:r>
            <a:r>
              <a:rPr lang="en-US" sz="2000" dirty="0" err="1"/>
              <a:t>gồm</a:t>
            </a:r>
            <a:r>
              <a:rPr lang="en-US" sz="2000" dirty="0"/>
              <a:t> </a:t>
            </a:r>
            <a:r>
              <a:rPr lang="en-US" sz="2000" dirty="0" err="1"/>
              <a:t>một</a:t>
            </a:r>
            <a:r>
              <a:rPr lang="en-US" sz="2000" dirty="0"/>
              <a:t> </a:t>
            </a:r>
            <a:r>
              <a:rPr lang="en-US" sz="2000" dirty="0" err="1"/>
              <a:t>số</a:t>
            </a:r>
            <a:r>
              <a:rPr lang="en-US" sz="2000" dirty="0"/>
              <a:t> </a:t>
            </a:r>
            <a:r>
              <a:rPr lang="en-US" sz="2000" dirty="0" err="1"/>
              <a:t>hoặc</a:t>
            </a:r>
            <a:r>
              <a:rPr lang="en-US" sz="2000" dirty="0"/>
              <a:t> </a:t>
            </a:r>
            <a:r>
              <a:rPr lang="en-US" sz="2000" dirty="0" err="1"/>
              <a:t>tất</a:t>
            </a:r>
            <a:r>
              <a:rPr lang="en-US" sz="2000" dirty="0"/>
              <a:t> </a:t>
            </a:r>
            <a:r>
              <a:rPr lang="en-US" sz="2000" dirty="0" err="1"/>
              <a:t>cả</a:t>
            </a:r>
            <a:r>
              <a:rPr lang="en-US" sz="2000" dirty="0"/>
              <a:t> </a:t>
            </a:r>
            <a:r>
              <a:rPr lang="en-US" sz="2000" dirty="0" err="1"/>
              <a:t>các</a:t>
            </a:r>
            <a:r>
              <a:rPr lang="en-US" sz="2000" dirty="0"/>
              <a:t> </a:t>
            </a:r>
            <a:r>
              <a:rPr lang="en-US" sz="2000" dirty="0" err="1"/>
              <a:t>chủ</a:t>
            </a:r>
            <a:r>
              <a:rPr lang="en-US" sz="2000" dirty="0"/>
              <a:t> </a:t>
            </a:r>
            <a:r>
              <a:rPr lang="en-US" sz="2000" dirty="0" err="1"/>
              <a:t>đề</a:t>
            </a:r>
            <a:r>
              <a:rPr lang="en-US" sz="2000" dirty="0"/>
              <a:t> </a:t>
            </a:r>
            <a:r>
              <a:rPr lang="en-US" sz="2000" dirty="0" err="1"/>
              <a:t>sau</a:t>
            </a:r>
            <a:r>
              <a:rPr lang="en-US" sz="2000" dirty="0"/>
              <a:t>:</a:t>
            </a:r>
          </a:p>
          <a:p>
            <a:pPr marL="457200" indent="-457200">
              <a:buFont typeface="+mj-lt"/>
              <a:buAutoNum type="arabicParenR"/>
            </a:pPr>
            <a:r>
              <a:rPr lang="en-US" sz="2000" dirty="0" smtClean="0"/>
              <a:t> </a:t>
            </a:r>
            <a:r>
              <a:rPr lang="en-US" sz="2000" dirty="0" err="1"/>
              <a:t>Mục</a:t>
            </a:r>
            <a:r>
              <a:rPr lang="en-US" sz="2000" dirty="0"/>
              <a:t> </a:t>
            </a:r>
            <a:r>
              <a:rPr lang="en-US" sz="2000" dirty="0" err="1" smtClean="0"/>
              <a:t>tiêu</a:t>
            </a:r>
            <a:endParaRPr lang="en-US" sz="2000" dirty="0"/>
          </a:p>
          <a:p>
            <a:pPr marL="457200" indent="-457200">
              <a:buFont typeface="+mj-lt"/>
              <a:buAutoNum type="arabicParenR"/>
            </a:pPr>
            <a:r>
              <a:rPr lang="en-US" sz="2000" dirty="0" smtClean="0"/>
              <a:t> </a:t>
            </a:r>
            <a:r>
              <a:rPr lang="en-US" sz="2000" dirty="0" err="1"/>
              <a:t>Phạm</a:t>
            </a:r>
            <a:r>
              <a:rPr lang="en-US" sz="2000" dirty="0"/>
              <a:t> vi </a:t>
            </a:r>
            <a:endParaRPr lang="en-US" sz="2000" dirty="0" smtClean="0"/>
          </a:p>
          <a:p>
            <a:pPr marL="457200" indent="-457200">
              <a:buFont typeface="+mj-lt"/>
              <a:buAutoNum type="arabicParenR"/>
            </a:pPr>
            <a:r>
              <a:rPr lang="en-US" sz="2000" dirty="0" err="1" smtClean="0"/>
              <a:t>Thông</a:t>
            </a:r>
            <a:r>
              <a:rPr lang="en-US" sz="2000" dirty="0" smtClean="0"/>
              <a:t> </a:t>
            </a:r>
            <a:r>
              <a:rPr lang="en-US" sz="2000" dirty="0"/>
              <a:t>tin </a:t>
            </a:r>
            <a:r>
              <a:rPr lang="en-US" sz="2000" dirty="0" err="1"/>
              <a:t>trên</a:t>
            </a:r>
            <a:r>
              <a:rPr lang="en-US" sz="2000" dirty="0"/>
              <a:t> </a:t>
            </a:r>
            <a:r>
              <a:rPr lang="en-US" sz="2000" dirty="0" err="1"/>
              <a:t>mạng</a:t>
            </a:r>
            <a:r>
              <a:rPr lang="en-US" sz="2000" dirty="0"/>
              <a:t> </a:t>
            </a:r>
            <a:r>
              <a:rPr lang="en-US" sz="2000" dirty="0" err="1"/>
              <a:t>và</a:t>
            </a:r>
            <a:r>
              <a:rPr lang="en-US" sz="2000" dirty="0"/>
              <a:t> </a:t>
            </a:r>
            <a:r>
              <a:rPr lang="en-US" sz="2000" dirty="0" err="1"/>
              <a:t>ứng</a:t>
            </a:r>
            <a:r>
              <a:rPr lang="en-US" sz="2000" dirty="0"/>
              <a:t> </a:t>
            </a:r>
            <a:r>
              <a:rPr lang="en-US" sz="2000" dirty="0" err="1"/>
              <a:t>dụng</a:t>
            </a:r>
            <a:r>
              <a:rPr lang="en-US" sz="2000" dirty="0"/>
              <a:t> </a:t>
            </a:r>
            <a:r>
              <a:rPr lang="en-US" sz="2000" dirty="0" err="1"/>
              <a:t>hiện</a:t>
            </a:r>
            <a:r>
              <a:rPr lang="en-US" sz="2000" dirty="0"/>
              <a:t> </a:t>
            </a:r>
            <a:r>
              <a:rPr lang="en-US" sz="2000" dirty="0" err="1"/>
              <a:t>có</a:t>
            </a:r>
            <a:endParaRPr lang="en-US" sz="2000" dirty="0"/>
          </a:p>
          <a:p>
            <a:pPr marL="457200" indent="-457200">
              <a:buFont typeface="+mj-lt"/>
              <a:buAutoNum type="arabicParenR"/>
            </a:pPr>
            <a:r>
              <a:rPr lang="en-US" sz="2000" dirty="0" smtClean="0"/>
              <a:t> </a:t>
            </a:r>
            <a:r>
              <a:rPr lang="en-US" sz="2000" dirty="0" err="1"/>
              <a:t>Thông</a:t>
            </a:r>
            <a:r>
              <a:rPr lang="en-US" sz="2000" dirty="0"/>
              <a:t> tin </a:t>
            </a:r>
            <a:r>
              <a:rPr lang="en-US" sz="2000" dirty="0" err="1"/>
              <a:t>về</a:t>
            </a:r>
            <a:r>
              <a:rPr lang="en-US" sz="2000" dirty="0"/>
              <a:t> </a:t>
            </a:r>
            <a:r>
              <a:rPr lang="en-US" sz="2000" dirty="0" err="1"/>
              <a:t>các</a:t>
            </a:r>
            <a:r>
              <a:rPr lang="en-US" sz="2000" dirty="0"/>
              <a:t> </a:t>
            </a:r>
            <a:r>
              <a:rPr lang="en-US" sz="2000" dirty="0" err="1"/>
              <a:t>ứng</a:t>
            </a:r>
            <a:r>
              <a:rPr lang="en-US" sz="2000" dirty="0"/>
              <a:t> </a:t>
            </a:r>
            <a:r>
              <a:rPr lang="en-US" sz="2000" dirty="0" err="1"/>
              <a:t>dụng</a:t>
            </a:r>
            <a:r>
              <a:rPr lang="en-US" sz="2000" dirty="0"/>
              <a:t> </a:t>
            </a:r>
            <a:r>
              <a:rPr lang="en-US" sz="2000" dirty="0" err="1"/>
              <a:t>mới</a:t>
            </a:r>
            <a:endParaRPr lang="en-US" sz="2000" dirty="0"/>
          </a:p>
          <a:p>
            <a:pPr marL="457200" indent="-457200">
              <a:buFont typeface="+mj-lt"/>
              <a:buAutoNum type="arabicParenR"/>
            </a:pPr>
            <a:r>
              <a:rPr lang="en-US" sz="2000" dirty="0" smtClean="0"/>
              <a:t> </a:t>
            </a:r>
            <a:r>
              <a:rPr lang="en-US" sz="2000" dirty="0" err="1"/>
              <a:t>Yêu</a:t>
            </a:r>
            <a:r>
              <a:rPr lang="en-US" sz="2000" dirty="0"/>
              <a:t> </a:t>
            </a:r>
            <a:r>
              <a:rPr lang="en-US" sz="2000" dirty="0" err="1"/>
              <a:t>cầu</a:t>
            </a:r>
            <a:r>
              <a:rPr lang="en-US" sz="2000" dirty="0"/>
              <a:t> </a:t>
            </a:r>
            <a:r>
              <a:rPr lang="en-US" sz="2000" dirty="0" err="1"/>
              <a:t>kỹ</a:t>
            </a:r>
            <a:r>
              <a:rPr lang="en-US" sz="2000" dirty="0"/>
              <a:t> </a:t>
            </a:r>
            <a:r>
              <a:rPr lang="en-US" sz="2000" dirty="0" err="1" smtClean="0"/>
              <a:t>thuật</a:t>
            </a:r>
            <a:r>
              <a:rPr lang="en-US" sz="2000" dirty="0" smtClean="0"/>
              <a:t>: </a:t>
            </a:r>
            <a:r>
              <a:rPr lang="en-US" sz="2000" dirty="0" err="1"/>
              <a:t>bao</a:t>
            </a:r>
            <a:r>
              <a:rPr lang="en-US" sz="2000" dirty="0"/>
              <a:t> </a:t>
            </a:r>
            <a:r>
              <a:rPr lang="en-US" sz="2000" dirty="0" err="1"/>
              <a:t>gồm</a:t>
            </a:r>
            <a:r>
              <a:rPr lang="en-US" sz="2000" dirty="0"/>
              <a:t> </a:t>
            </a:r>
            <a:r>
              <a:rPr lang="en-US" sz="2000" dirty="0" err="1">
                <a:solidFill>
                  <a:srgbClr val="FF0000"/>
                </a:solidFill>
              </a:rPr>
              <a:t>khả</a:t>
            </a:r>
            <a:r>
              <a:rPr lang="en-US" sz="2000" dirty="0">
                <a:solidFill>
                  <a:srgbClr val="FF0000"/>
                </a:solidFill>
              </a:rPr>
              <a:t> </a:t>
            </a:r>
            <a:r>
              <a:rPr lang="en-US" sz="2000" dirty="0" err="1">
                <a:solidFill>
                  <a:srgbClr val="FF0000"/>
                </a:solidFill>
              </a:rPr>
              <a:t>năng</a:t>
            </a:r>
            <a:r>
              <a:rPr lang="en-US" sz="2000" dirty="0">
                <a:solidFill>
                  <a:srgbClr val="FF0000"/>
                </a:solidFill>
              </a:rPr>
              <a:t> </a:t>
            </a:r>
            <a:r>
              <a:rPr lang="en-US" sz="2000" dirty="0" err="1">
                <a:solidFill>
                  <a:srgbClr val="FF0000"/>
                </a:solidFill>
              </a:rPr>
              <a:t>mở</a:t>
            </a:r>
            <a:r>
              <a:rPr lang="en-US" sz="2000" dirty="0">
                <a:solidFill>
                  <a:srgbClr val="FF0000"/>
                </a:solidFill>
              </a:rPr>
              <a:t> </a:t>
            </a:r>
            <a:r>
              <a:rPr lang="en-US" sz="2000" dirty="0" err="1">
                <a:solidFill>
                  <a:srgbClr val="FF0000"/>
                </a:solidFill>
              </a:rPr>
              <a:t>rộng</a:t>
            </a:r>
            <a:r>
              <a:rPr lang="en-US" sz="2000" dirty="0">
                <a:solidFill>
                  <a:srgbClr val="FF0000"/>
                </a:solidFill>
              </a:rPr>
              <a:t>, </a:t>
            </a:r>
            <a:r>
              <a:rPr lang="en-US" sz="2000" dirty="0" err="1">
                <a:solidFill>
                  <a:srgbClr val="FF0000"/>
                </a:solidFill>
              </a:rPr>
              <a:t>tính</a:t>
            </a:r>
            <a:r>
              <a:rPr lang="en-US" sz="2000" dirty="0">
                <a:solidFill>
                  <a:srgbClr val="FF0000"/>
                </a:solidFill>
              </a:rPr>
              <a:t> </a:t>
            </a:r>
            <a:r>
              <a:rPr lang="en-US" sz="2000" dirty="0" err="1">
                <a:solidFill>
                  <a:srgbClr val="FF0000"/>
                </a:solidFill>
              </a:rPr>
              <a:t>sẵn</a:t>
            </a:r>
            <a:r>
              <a:rPr lang="en-US" sz="2000" dirty="0">
                <a:solidFill>
                  <a:srgbClr val="FF0000"/>
                </a:solidFill>
              </a:rPr>
              <a:t> </a:t>
            </a:r>
            <a:r>
              <a:rPr lang="en-US" sz="2000" dirty="0" err="1">
                <a:solidFill>
                  <a:srgbClr val="FF0000"/>
                </a:solidFill>
              </a:rPr>
              <a:t>có</a:t>
            </a:r>
            <a:r>
              <a:rPr lang="en-US" sz="2000" dirty="0">
                <a:solidFill>
                  <a:srgbClr val="FF0000"/>
                </a:solidFill>
              </a:rPr>
              <a:t>, </a:t>
            </a:r>
            <a:r>
              <a:rPr lang="en-US" sz="2000" dirty="0" err="1">
                <a:solidFill>
                  <a:srgbClr val="FF0000"/>
                </a:solidFill>
              </a:rPr>
              <a:t>hiệu</a:t>
            </a:r>
            <a:r>
              <a:rPr lang="en-US" sz="2000" dirty="0">
                <a:solidFill>
                  <a:srgbClr val="FF0000"/>
                </a:solidFill>
              </a:rPr>
              <a:t> </a:t>
            </a:r>
            <a:r>
              <a:rPr lang="en-US" sz="2000" dirty="0" err="1">
                <a:solidFill>
                  <a:srgbClr val="FF0000"/>
                </a:solidFill>
              </a:rPr>
              <a:t>suất</a:t>
            </a:r>
            <a:r>
              <a:rPr lang="en-US" sz="2000" dirty="0">
                <a:solidFill>
                  <a:srgbClr val="FF0000"/>
                </a:solidFill>
              </a:rPr>
              <a:t> </a:t>
            </a:r>
            <a:r>
              <a:rPr lang="en-US" sz="2000" dirty="0" err="1">
                <a:solidFill>
                  <a:srgbClr val="FF0000"/>
                </a:solidFill>
              </a:rPr>
              <a:t>mạng</a:t>
            </a:r>
            <a:r>
              <a:rPr lang="en-US" sz="2000" dirty="0">
                <a:solidFill>
                  <a:srgbClr val="FF0000"/>
                </a:solidFill>
              </a:rPr>
              <a:t>, </a:t>
            </a:r>
            <a:r>
              <a:rPr lang="en-US" sz="2000" dirty="0" err="1">
                <a:solidFill>
                  <a:srgbClr val="FF0000"/>
                </a:solidFill>
              </a:rPr>
              <a:t>bảo</a:t>
            </a:r>
            <a:r>
              <a:rPr lang="en-US" sz="2000" dirty="0">
                <a:solidFill>
                  <a:srgbClr val="FF0000"/>
                </a:solidFill>
              </a:rPr>
              <a:t> </a:t>
            </a:r>
            <a:r>
              <a:rPr lang="en-US" sz="2000" dirty="0" err="1">
                <a:solidFill>
                  <a:srgbClr val="FF0000"/>
                </a:solidFill>
              </a:rPr>
              <a:t>mật</a:t>
            </a:r>
            <a:r>
              <a:rPr lang="en-US" sz="2000" dirty="0">
                <a:solidFill>
                  <a:srgbClr val="FF0000"/>
                </a:solidFill>
              </a:rPr>
              <a:t>, </a:t>
            </a:r>
            <a:r>
              <a:rPr lang="en-US" sz="2000" dirty="0" err="1">
                <a:solidFill>
                  <a:srgbClr val="FF0000"/>
                </a:solidFill>
              </a:rPr>
              <a:t>khả</a:t>
            </a:r>
            <a:r>
              <a:rPr lang="en-US" sz="2000" dirty="0">
                <a:solidFill>
                  <a:srgbClr val="FF0000"/>
                </a:solidFill>
              </a:rPr>
              <a:t> </a:t>
            </a:r>
            <a:r>
              <a:rPr lang="en-US" sz="2000" dirty="0" err="1">
                <a:solidFill>
                  <a:srgbClr val="FF0000"/>
                </a:solidFill>
              </a:rPr>
              <a:t>năng</a:t>
            </a:r>
            <a:r>
              <a:rPr lang="en-US" sz="2000" dirty="0">
                <a:solidFill>
                  <a:srgbClr val="FF0000"/>
                </a:solidFill>
              </a:rPr>
              <a:t> </a:t>
            </a:r>
            <a:r>
              <a:rPr lang="en-US" sz="2000" dirty="0" err="1">
                <a:solidFill>
                  <a:srgbClr val="FF0000"/>
                </a:solidFill>
              </a:rPr>
              <a:t>quản</a:t>
            </a:r>
            <a:r>
              <a:rPr lang="en-US" sz="2000" dirty="0">
                <a:solidFill>
                  <a:srgbClr val="FF0000"/>
                </a:solidFill>
              </a:rPr>
              <a:t> </a:t>
            </a:r>
            <a:r>
              <a:rPr lang="en-US" sz="2000" dirty="0" err="1">
                <a:solidFill>
                  <a:srgbClr val="FF0000"/>
                </a:solidFill>
              </a:rPr>
              <a:t>lý</a:t>
            </a:r>
            <a:r>
              <a:rPr lang="en-US" sz="2000" dirty="0">
                <a:solidFill>
                  <a:srgbClr val="FF0000"/>
                </a:solidFill>
              </a:rPr>
              <a:t>, </a:t>
            </a:r>
            <a:r>
              <a:rPr lang="en-US" sz="2000" dirty="0" err="1">
                <a:solidFill>
                  <a:srgbClr val="FF0000"/>
                </a:solidFill>
              </a:rPr>
              <a:t>khả</a:t>
            </a:r>
            <a:r>
              <a:rPr lang="en-US" sz="2000" dirty="0">
                <a:solidFill>
                  <a:srgbClr val="FF0000"/>
                </a:solidFill>
              </a:rPr>
              <a:t> </a:t>
            </a:r>
            <a:r>
              <a:rPr lang="en-US" sz="2000" dirty="0" err="1">
                <a:solidFill>
                  <a:srgbClr val="FF0000"/>
                </a:solidFill>
              </a:rPr>
              <a:t>năng</a:t>
            </a:r>
            <a:r>
              <a:rPr lang="en-US" sz="2000" dirty="0">
                <a:solidFill>
                  <a:srgbClr val="FF0000"/>
                </a:solidFill>
              </a:rPr>
              <a:t> </a:t>
            </a:r>
            <a:r>
              <a:rPr lang="en-US" sz="2000" dirty="0" err="1">
                <a:solidFill>
                  <a:srgbClr val="FF0000"/>
                </a:solidFill>
              </a:rPr>
              <a:t>sử</a:t>
            </a:r>
            <a:r>
              <a:rPr lang="en-US" sz="2000" dirty="0">
                <a:solidFill>
                  <a:srgbClr val="FF0000"/>
                </a:solidFill>
              </a:rPr>
              <a:t> </a:t>
            </a:r>
            <a:r>
              <a:rPr lang="en-US" sz="2000" dirty="0" err="1">
                <a:solidFill>
                  <a:srgbClr val="FF0000"/>
                </a:solidFill>
              </a:rPr>
              <a:t>dụng</a:t>
            </a:r>
            <a:r>
              <a:rPr lang="en-US" sz="2000" dirty="0">
                <a:solidFill>
                  <a:srgbClr val="FF0000"/>
                </a:solidFill>
              </a:rPr>
              <a:t>, </a:t>
            </a:r>
            <a:r>
              <a:rPr lang="en-US" sz="2000" dirty="0" err="1">
                <a:solidFill>
                  <a:srgbClr val="FF0000"/>
                </a:solidFill>
              </a:rPr>
              <a:t>khả</a:t>
            </a:r>
            <a:r>
              <a:rPr lang="en-US" sz="2000" dirty="0">
                <a:solidFill>
                  <a:srgbClr val="FF0000"/>
                </a:solidFill>
              </a:rPr>
              <a:t> </a:t>
            </a:r>
            <a:r>
              <a:rPr lang="en-US" sz="2000" dirty="0" err="1">
                <a:solidFill>
                  <a:srgbClr val="FF0000"/>
                </a:solidFill>
              </a:rPr>
              <a:t>năng</a:t>
            </a:r>
            <a:r>
              <a:rPr lang="en-US" sz="2000" dirty="0">
                <a:solidFill>
                  <a:srgbClr val="FF0000"/>
                </a:solidFill>
              </a:rPr>
              <a:t> </a:t>
            </a:r>
            <a:r>
              <a:rPr lang="en-US" sz="2000" dirty="0" err="1">
                <a:solidFill>
                  <a:srgbClr val="FF0000"/>
                </a:solidFill>
              </a:rPr>
              <a:t>thích</a:t>
            </a:r>
            <a:r>
              <a:rPr lang="en-US" sz="2000" dirty="0">
                <a:solidFill>
                  <a:srgbClr val="FF0000"/>
                </a:solidFill>
              </a:rPr>
              <a:t> </a:t>
            </a:r>
            <a:r>
              <a:rPr lang="en-US" sz="2000" dirty="0" err="1">
                <a:solidFill>
                  <a:srgbClr val="FF0000"/>
                </a:solidFill>
              </a:rPr>
              <a:t>ứng</a:t>
            </a:r>
            <a:r>
              <a:rPr lang="en-US" sz="2000" dirty="0">
                <a:solidFill>
                  <a:srgbClr val="FF0000"/>
                </a:solidFill>
              </a:rPr>
              <a:t> </a:t>
            </a:r>
            <a:r>
              <a:rPr lang="en-US" sz="2000" dirty="0" err="1">
                <a:solidFill>
                  <a:srgbClr val="FF0000"/>
                </a:solidFill>
              </a:rPr>
              <a:t>và</a:t>
            </a:r>
            <a:r>
              <a:rPr lang="en-US" sz="2000" dirty="0">
                <a:solidFill>
                  <a:srgbClr val="FF0000"/>
                </a:solidFill>
              </a:rPr>
              <a:t> </a:t>
            </a:r>
            <a:r>
              <a:rPr lang="en-US" sz="2000" dirty="0" err="1">
                <a:solidFill>
                  <a:srgbClr val="FF0000"/>
                </a:solidFill>
              </a:rPr>
              <a:t>khả</a:t>
            </a:r>
            <a:r>
              <a:rPr lang="en-US" sz="2000" dirty="0">
                <a:solidFill>
                  <a:srgbClr val="FF0000"/>
                </a:solidFill>
              </a:rPr>
              <a:t> </a:t>
            </a:r>
            <a:r>
              <a:rPr lang="en-US" sz="2000" dirty="0" err="1">
                <a:solidFill>
                  <a:srgbClr val="FF0000"/>
                </a:solidFill>
              </a:rPr>
              <a:t>năng</a:t>
            </a:r>
            <a:r>
              <a:rPr lang="en-US" sz="2000" dirty="0">
                <a:solidFill>
                  <a:srgbClr val="FF0000"/>
                </a:solidFill>
              </a:rPr>
              <a:t> chi </a:t>
            </a:r>
            <a:r>
              <a:rPr lang="en-US" sz="2000" dirty="0" err="1">
                <a:solidFill>
                  <a:srgbClr val="FF0000"/>
                </a:solidFill>
              </a:rPr>
              <a:t>trả</a:t>
            </a:r>
            <a:endParaRPr lang="en-US" sz="2000" dirty="0">
              <a:solidFill>
                <a:srgbClr val="FF0000"/>
              </a:solidFill>
            </a:endParaRPr>
          </a:p>
          <a:p>
            <a:pPr marL="457200" indent="-457200">
              <a:buFont typeface="+mj-lt"/>
              <a:buAutoNum type="arabicParenR"/>
            </a:pPr>
            <a:r>
              <a:rPr lang="en-US" sz="2000" dirty="0" smtClean="0"/>
              <a:t> </a:t>
            </a:r>
            <a:r>
              <a:rPr lang="en-US" sz="2000" dirty="0" err="1"/>
              <a:t>Yêu</a:t>
            </a:r>
            <a:r>
              <a:rPr lang="en-US" sz="2000" dirty="0"/>
              <a:t> </a:t>
            </a:r>
            <a:r>
              <a:rPr lang="en-US" sz="2000" dirty="0" err="1"/>
              <a:t>cầu</a:t>
            </a:r>
            <a:r>
              <a:rPr lang="en-US" sz="2000" dirty="0"/>
              <a:t> </a:t>
            </a:r>
            <a:r>
              <a:rPr lang="en-US" sz="2000" dirty="0" err="1"/>
              <a:t>bảo</a:t>
            </a:r>
            <a:r>
              <a:rPr lang="en-US" sz="2000" dirty="0"/>
              <a:t> </a:t>
            </a:r>
            <a:r>
              <a:rPr lang="en-US" sz="2000" dirty="0" err="1"/>
              <a:t>hành</a:t>
            </a:r>
            <a:r>
              <a:rPr lang="en-US" sz="2000" dirty="0"/>
              <a:t> </a:t>
            </a:r>
            <a:r>
              <a:rPr lang="en-US" sz="2000" dirty="0" err="1"/>
              <a:t>cho</a:t>
            </a:r>
            <a:r>
              <a:rPr lang="en-US" sz="2000" dirty="0"/>
              <a:t> </a:t>
            </a:r>
            <a:r>
              <a:rPr lang="en-US" sz="2000" dirty="0" err="1"/>
              <a:t>sản</a:t>
            </a:r>
            <a:r>
              <a:rPr lang="en-US" sz="2000" dirty="0"/>
              <a:t> </a:t>
            </a:r>
            <a:r>
              <a:rPr lang="en-US" sz="2000" dirty="0" err="1"/>
              <a:t>phẩm</a:t>
            </a:r>
            <a:endParaRPr lang="en-US" sz="2000" dirty="0"/>
          </a:p>
          <a:p>
            <a:pPr marL="457200" indent="-457200">
              <a:buFont typeface="+mj-lt"/>
              <a:buAutoNum type="arabicParenR"/>
            </a:pPr>
            <a:r>
              <a:rPr lang="en-US" sz="2000" dirty="0" smtClean="0"/>
              <a:t> </a:t>
            </a:r>
            <a:r>
              <a:rPr lang="en-US" sz="2000" dirty="0" err="1"/>
              <a:t>Những</a:t>
            </a:r>
            <a:r>
              <a:rPr lang="en-US" sz="2000" dirty="0"/>
              <a:t> </a:t>
            </a:r>
            <a:r>
              <a:rPr lang="en-US" sz="2000" dirty="0" err="1"/>
              <a:t>hạn</a:t>
            </a:r>
            <a:r>
              <a:rPr lang="en-US" sz="2000" dirty="0"/>
              <a:t> </a:t>
            </a:r>
            <a:r>
              <a:rPr lang="en-US" sz="2000" dirty="0" err="1"/>
              <a:t>chế</a:t>
            </a:r>
            <a:r>
              <a:rPr lang="en-US" sz="2000" dirty="0"/>
              <a:t> </a:t>
            </a:r>
            <a:r>
              <a:rPr lang="en-US" sz="2000" dirty="0" err="1"/>
              <a:t>về</a:t>
            </a:r>
            <a:r>
              <a:rPr lang="en-US" sz="2000" dirty="0"/>
              <a:t> </a:t>
            </a:r>
            <a:r>
              <a:rPr lang="en-US" sz="2000" dirty="0" err="1"/>
              <a:t>môi</a:t>
            </a:r>
            <a:r>
              <a:rPr lang="en-US" sz="2000" dirty="0"/>
              <a:t> </a:t>
            </a:r>
            <a:r>
              <a:rPr lang="en-US" sz="2000" dirty="0" err="1"/>
              <a:t>trường</a:t>
            </a:r>
            <a:r>
              <a:rPr lang="en-US" sz="2000" dirty="0"/>
              <a:t> </a:t>
            </a:r>
            <a:r>
              <a:rPr lang="en-US" sz="2000" dirty="0" err="1"/>
              <a:t>hoặc</a:t>
            </a:r>
            <a:r>
              <a:rPr lang="en-US" sz="2000" dirty="0"/>
              <a:t> </a:t>
            </a:r>
            <a:r>
              <a:rPr lang="en-US" sz="2000" dirty="0" err="1"/>
              <a:t>kiến</a:t>
            </a:r>
            <a:r>
              <a:rPr lang="en-US" sz="2000" dirty="0"/>
              <a:t> </a:t>
            </a:r>
            <a:r>
              <a:rPr lang="en-US" sz="2000" dirty="0" err="1"/>
              <a:t>trúc</a:t>
            </a:r>
            <a:r>
              <a:rPr lang="en-US" sz="2000" dirty="0"/>
              <a:t> </a:t>
            </a:r>
            <a:r>
              <a:rPr lang="en-US" sz="2000" dirty="0" err="1"/>
              <a:t>có</a:t>
            </a:r>
            <a:r>
              <a:rPr lang="en-US" sz="2000" dirty="0"/>
              <a:t> </a:t>
            </a:r>
            <a:r>
              <a:rPr lang="en-US" sz="2000" dirty="0" err="1"/>
              <a:t>thể</a:t>
            </a:r>
            <a:r>
              <a:rPr lang="en-US" sz="2000" dirty="0"/>
              <a:t> </a:t>
            </a:r>
            <a:r>
              <a:rPr lang="en-US" sz="2000" dirty="0" err="1"/>
              <a:t>ảnh</a:t>
            </a:r>
            <a:r>
              <a:rPr lang="en-US" sz="2000" dirty="0"/>
              <a:t> </a:t>
            </a:r>
            <a:r>
              <a:rPr lang="en-US" sz="2000" dirty="0" err="1"/>
              <a:t>hưởng</a:t>
            </a:r>
            <a:r>
              <a:rPr lang="en-US" sz="2000" dirty="0"/>
              <a:t> </a:t>
            </a:r>
            <a:r>
              <a:rPr lang="en-US" sz="2000" dirty="0" err="1"/>
              <a:t>đến</a:t>
            </a:r>
            <a:r>
              <a:rPr lang="en-US" sz="2000" dirty="0"/>
              <a:t> </a:t>
            </a:r>
            <a:r>
              <a:rPr lang="en-US" sz="2000" dirty="0" err="1"/>
              <a:t>việc</a:t>
            </a:r>
            <a:r>
              <a:rPr lang="en-US" sz="2000" dirty="0"/>
              <a:t> </a:t>
            </a:r>
            <a:r>
              <a:rPr lang="en-US" sz="2000" dirty="0" err="1"/>
              <a:t>thực</a:t>
            </a:r>
            <a:r>
              <a:rPr lang="en-US" sz="2000" dirty="0"/>
              <a:t> </a:t>
            </a:r>
            <a:r>
              <a:rPr lang="en-US" sz="2000" dirty="0" err="1"/>
              <a:t>hiện</a:t>
            </a:r>
            <a:endParaRPr lang="en-US" sz="2000" dirty="0"/>
          </a:p>
          <a:p>
            <a:pPr marL="457200" indent="-457200">
              <a:buFont typeface="+mj-lt"/>
              <a:buAutoNum type="arabicParenR"/>
            </a:pPr>
            <a:r>
              <a:rPr lang="en-US" sz="2000" dirty="0" smtClean="0"/>
              <a:t> </a:t>
            </a:r>
            <a:r>
              <a:rPr lang="en-US" sz="2000" dirty="0" err="1"/>
              <a:t>Yêu</a:t>
            </a:r>
            <a:r>
              <a:rPr lang="en-US" sz="2000" dirty="0"/>
              <a:t> </a:t>
            </a:r>
            <a:r>
              <a:rPr lang="en-US" sz="2000" dirty="0" err="1"/>
              <a:t>cầu</a:t>
            </a:r>
            <a:r>
              <a:rPr lang="en-US" sz="2000" dirty="0"/>
              <a:t> </a:t>
            </a:r>
            <a:r>
              <a:rPr lang="en-US" sz="2000" dirty="0" err="1"/>
              <a:t>đào</a:t>
            </a:r>
            <a:r>
              <a:rPr lang="en-US" sz="2000" dirty="0"/>
              <a:t> </a:t>
            </a:r>
            <a:r>
              <a:rPr lang="en-US" sz="2000" dirty="0" err="1"/>
              <a:t>tạo</a:t>
            </a:r>
            <a:r>
              <a:rPr lang="en-US" sz="2000" dirty="0"/>
              <a:t> </a:t>
            </a:r>
            <a:r>
              <a:rPr lang="en-US" sz="2000" dirty="0" err="1"/>
              <a:t>và</a:t>
            </a:r>
            <a:r>
              <a:rPr lang="en-US" sz="2000" dirty="0"/>
              <a:t> </a:t>
            </a:r>
            <a:r>
              <a:rPr lang="en-US" sz="2000" dirty="0" err="1"/>
              <a:t>hỗ</a:t>
            </a:r>
            <a:r>
              <a:rPr lang="en-US" sz="2000" dirty="0"/>
              <a:t> </a:t>
            </a:r>
            <a:r>
              <a:rPr lang="en-US" sz="2000" dirty="0" err="1"/>
              <a:t>trợ</a:t>
            </a:r>
            <a:endParaRPr lang="en-US" sz="2000" dirty="0"/>
          </a:p>
          <a:p>
            <a:pPr marL="457200" indent="-457200">
              <a:buFont typeface="+mj-lt"/>
              <a:buAutoNum type="arabicParenR"/>
            </a:pPr>
            <a:r>
              <a:rPr lang="en-US" sz="2000" dirty="0" smtClean="0"/>
              <a:t> </a:t>
            </a:r>
            <a:r>
              <a:rPr lang="en-US" sz="2000" dirty="0" err="1"/>
              <a:t>Lịch</a:t>
            </a:r>
            <a:r>
              <a:rPr lang="en-US" sz="2000" dirty="0"/>
              <a:t> </a:t>
            </a:r>
            <a:r>
              <a:rPr lang="en-US" sz="2000" dirty="0" err="1"/>
              <a:t>trình</a:t>
            </a:r>
            <a:r>
              <a:rPr lang="en-US" sz="2000" dirty="0"/>
              <a:t> </a:t>
            </a:r>
            <a:r>
              <a:rPr lang="en-US" sz="2000" dirty="0" err="1"/>
              <a:t>sơ</a:t>
            </a:r>
            <a:r>
              <a:rPr lang="en-US" sz="2000" dirty="0"/>
              <a:t> </a:t>
            </a:r>
            <a:r>
              <a:rPr lang="en-US" sz="2000" dirty="0" err="1"/>
              <a:t>bộ</a:t>
            </a:r>
            <a:r>
              <a:rPr lang="en-US" sz="2000" dirty="0"/>
              <a:t> </a:t>
            </a:r>
            <a:r>
              <a:rPr lang="en-US" sz="2000" dirty="0" err="1"/>
              <a:t>với</a:t>
            </a:r>
            <a:r>
              <a:rPr lang="en-US" sz="2000" dirty="0"/>
              <a:t> </a:t>
            </a:r>
            <a:r>
              <a:rPr lang="en-US" sz="2000" dirty="0" err="1"/>
              <a:t>các</a:t>
            </a:r>
            <a:r>
              <a:rPr lang="en-US" sz="2000" dirty="0"/>
              <a:t> </a:t>
            </a:r>
            <a:r>
              <a:rPr lang="en-US" sz="2000" dirty="0" err="1"/>
              <a:t>mốc</a:t>
            </a:r>
            <a:r>
              <a:rPr lang="en-US" sz="2000" dirty="0"/>
              <a:t> </a:t>
            </a:r>
            <a:r>
              <a:rPr lang="en-US" sz="2000" dirty="0" err="1"/>
              <a:t>quan</a:t>
            </a:r>
            <a:r>
              <a:rPr lang="en-US" sz="2000" dirty="0"/>
              <a:t> </a:t>
            </a:r>
            <a:r>
              <a:rPr lang="en-US" sz="2000" dirty="0" err="1"/>
              <a:t>trọng</a:t>
            </a:r>
            <a:r>
              <a:rPr lang="en-US" sz="2000" dirty="0"/>
              <a:t> </a:t>
            </a:r>
            <a:r>
              <a:rPr lang="en-US" sz="2000" dirty="0" err="1"/>
              <a:t>và</a:t>
            </a:r>
            <a:r>
              <a:rPr lang="en-US" sz="2000" dirty="0"/>
              <a:t> </a:t>
            </a:r>
            <a:r>
              <a:rPr lang="en-US" sz="2000" dirty="0" err="1"/>
              <a:t>giao</a:t>
            </a:r>
            <a:r>
              <a:rPr lang="en-US" sz="2000" dirty="0"/>
              <a:t> </a:t>
            </a:r>
            <a:r>
              <a:rPr lang="en-US" sz="2000" dirty="0" err="1"/>
              <a:t>hàng</a:t>
            </a:r>
            <a:endParaRPr lang="en-US" sz="2000" dirty="0"/>
          </a:p>
          <a:p>
            <a:pPr marL="457200" indent="-457200">
              <a:buFont typeface="+mj-lt"/>
              <a:buAutoNum type="arabicParenR"/>
            </a:pPr>
            <a:r>
              <a:rPr lang="en-US" sz="2000" dirty="0" smtClean="0"/>
              <a:t> </a:t>
            </a:r>
            <a:r>
              <a:rPr lang="en-US" sz="2000" dirty="0" err="1"/>
              <a:t>Điều</a:t>
            </a:r>
            <a:r>
              <a:rPr lang="en-US" sz="2000" dirty="0"/>
              <a:t> </a:t>
            </a:r>
            <a:r>
              <a:rPr lang="en-US" sz="2000" dirty="0" err="1"/>
              <a:t>khoản</a:t>
            </a:r>
            <a:r>
              <a:rPr lang="en-US" sz="2000" dirty="0"/>
              <a:t> </a:t>
            </a:r>
            <a:r>
              <a:rPr lang="en-US" sz="2000" dirty="0" err="1"/>
              <a:t>và</a:t>
            </a:r>
            <a:r>
              <a:rPr lang="en-US" sz="2000" dirty="0"/>
              <a:t> </a:t>
            </a:r>
            <a:r>
              <a:rPr lang="en-US" sz="2000" dirty="0" err="1"/>
              <a:t>điều</a:t>
            </a:r>
            <a:r>
              <a:rPr lang="en-US" sz="2000" dirty="0"/>
              <a:t> </a:t>
            </a:r>
            <a:r>
              <a:rPr lang="en-US" sz="2000" dirty="0" err="1"/>
              <a:t>kiện</a:t>
            </a:r>
            <a:r>
              <a:rPr lang="en-US" sz="2000" dirty="0"/>
              <a:t> </a:t>
            </a:r>
            <a:r>
              <a:rPr lang="en-US" sz="2000" dirty="0" err="1"/>
              <a:t>hợp</a:t>
            </a:r>
            <a:r>
              <a:rPr lang="en-US" sz="2000" dirty="0"/>
              <a:t> </a:t>
            </a:r>
            <a:r>
              <a:rPr lang="en-US" sz="2000" dirty="0" err="1"/>
              <a:t>đồng</a:t>
            </a:r>
            <a:endParaRPr lang="en-US" sz="2000" dirty="0"/>
          </a:p>
          <a:p>
            <a:endParaRPr lang="en-US" sz="2000" dirty="0"/>
          </a:p>
        </p:txBody>
      </p:sp>
      <p:sp>
        <p:nvSpPr>
          <p:cNvPr id="4" name="Title 1"/>
          <p:cNvSpPr>
            <a:spLocks noGrp="1"/>
          </p:cNvSpPr>
          <p:nvPr>
            <p:ph type="title"/>
          </p:nvPr>
        </p:nvSpPr>
        <p:spPr>
          <a:xfrm>
            <a:off x="457200" y="152400"/>
            <a:ext cx="8229600" cy="609600"/>
          </a:xfrm>
        </p:spPr>
        <p:txBody>
          <a:bodyPr/>
          <a:lstStyle/>
          <a:p>
            <a:r>
              <a:rPr lang="en-US" smtClean="0">
                <a:solidFill>
                  <a:schemeClr val="bg1"/>
                </a:solidFill>
              </a:rPr>
              <a:t>Yêu cầu của khách hàng</a:t>
            </a:r>
            <a:endParaRPr lang="en-US">
              <a:solidFill>
                <a:schemeClr val="bg1"/>
              </a:solidFill>
            </a:endParaRPr>
          </a:p>
        </p:txBody>
      </p:sp>
    </p:spTree>
    <p:extLst>
      <p:ext uri="{BB962C8B-B14F-4D97-AF65-F5344CB8AC3E}">
        <p14:creationId xmlns:p14="http://schemas.microsoft.com/office/powerpoint/2010/main" val="69025404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09600"/>
          </a:xfrm>
        </p:spPr>
        <p:txBody>
          <a:bodyPr/>
          <a:lstStyle/>
          <a:p>
            <a:r>
              <a:rPr lang="en-US" smtClean="0">
                <a:solidFill>
                  <a:schemeClr val="bg1"/>
                </a:solidFill>
              </a:rPr>
              <a:t>Phản hồi yêu cầu của khách hàng</a:t>
            </a:r>
            <a:endParaRPr lang="en-US">
              <a:solidFill>
                <a:schemeClr val="bg1"/>
              </a:solidFill>
            </a:endParaRPr>
          </a:p>
        </p:txBody>
      </p:sp>
      <p:sp>
        <p:nvSpPr>
          <p:cNvPr id="3" name="Content Placeholder 2"/>
          <p:cNvSpPr>
            <a:spLocks noGrp="1"/>
          </p:cNvSpPr>
          <p:nvPr>
            <p:ph idx="1"/>
          </p:nvPr>
        </p:nvSpPr>
        <p:spPr>
          <a:xfrm>
            <a:off x="228600" y="914400"/>
            <a:ext cx="8915400" cy="4267200"/>
          </a:xfrm>
        </p:spPr>
        <p:txBody>
          <a:bodyPr/>
          <a:lstStyle/>
          <a:p>
            <a:pPr marL="0" indent="0">
              <a:buNone/>
            </a:pPr>
            <a:r>
              <a:rPr lang="en-US" sz="2000" smtClean="0"/>
              <a:t>Phản </a:t>
            </a:r>
            <a:r>
              <a:rPr lang="en-US" sz="2000"/>
              <a:t>hồi phải bao gồm một số hoặc tất cả các chủ đề sau:</a:t>
            </a:r>
          </a:p>
          <a:p>
            <a:pPr marL="457200" indent="-457200">
              <a:spcAft>
                <a:spcPts val="300"/>
              </a:spcAft>
              <a:buFont typeface="+mj-lt"/>
              <a:buAutoNum type="arabicParenR"/>
            </a:pPr>
            <a:r>
              <a:rPr lang="en-US" sz="2000" smtClean="0"/>
              <a:t>Cấu </a:t>
            </a:r>
            <a:r>
              <a:rPr lang="en-US" sz="2000"/>
              <a:t>trúc liên kết mạng cho thiết kế mới</a:t>
            </a:r>
          </a:p>
          <a:p>
            <a:pPr marL="457200" indent="-457200">
              <a:spcAft>
                <a:spcPts val="300"/>
              </a:spcAft>
              <a:buFont typeface="+mj-lt"/>
              <a:buAutoNum type="arabicParenR"/>
            </a:pPr>
            <a:r>
              <a:rPr lang="en-US" sz="2000" smtClean="0"/>
              <a:t>Thông </a:t>
            </a:r>
            <a:r>
              <a:rPr lang="en-US" sz="2000"/>
              <a:t>tin về các giao thức, công nghệ và sản phẩm tạo thành thiết kế</a:t>
            </a:r>
          </a:p>
          <a:p>
            <a:pPr marL="457200" indent="-457200">
              <a:spcAft>
                <a:spcPts val="300"/>
              </a:spcAft>
              <a:buFont typeface="+mj-lt"/>
              <a:buAutoNum type="arabicParenR"/>
            </a:pPr>
            <a:r>
              <a:rPr lang="en-US" sz="2000" smtClean="0"/>
              <a:t> Một </a:t>
            </a:r>
            <a:r>
              <a:rPr lang="en-US" sz="2000"/>
              <a:t>kế hoạch thực </a:t>
            </a:r>
            <a:r>
              <a:rPr lang="en-US" sz="2000" smtClean="0"/>
              <a:t>hiện </a:t>
            </a:r>
          </a:p>
          <a:p>
            <a:pPr marL="457200" indent="-457200">
              <a:spcAft>
                <a:spcPts val="300"/>
              </a:spcAft>
              <a:buFont typeface="+mj-lt"/>
              <a:buAutoNum type="arabicParenR"/>
            </a:pPr>
            <a:r>
              <a:rPr lang="en-US" sz="2000" smtClean="0"/>
              <a:t> Kế </a:t>
            </a:r>
            <a:r>
              <a:rPr lang="en-US" sz="2000"/>
              <a:t>hoạch đào tạo</a:t>
            </a:r>
          </a:p>
          <a:p>
            <a:pPr marL="457200" indent="-457200">
              <a:spcAft>
                <a:spcPts val="300"/>
              </a:spcAft>
              <a:buFont typeface="+mj-lt"/>
              <a:buAutoNum type="arabicParenR"/>
            </a:pPr>
            <a:r>
              <a:rPr lang="en-US" sz="2000" smtClean="0"/>
              <a:t>Thông </a:t>
            </a:r>
            <a:r>
              <a:rPr lang="en-US" sz="2000"/>
              <a:t>tin hỗ trợ và dịch vụ</a:t>
            </a:r>
          </a:p>
          <a:p>
            <a:pPr marL="457200" indent="-457200">
              <a:spcAft>
                <a:spcPts val="300"/>
              </a:spcAft>
              <a:buFont typeface="+mj-lt"/>
              <a:buAutoNum type="arabicParenR"/>
            </a:pPr>
            <a:r>
              <a:rPr lang="en-US" sz="2000" smtClean="0"/>
              <a:t> Giá </a:t>
            </a:r>
            <a:r>
              <a:rPr lang="en-US" sz="2000"/>
              <a:t>cả và tùy chọn thanh toán</a:t>
            </a:r>
          </a:p>
          <a:p>
            <a:pPr marL="457200" indent="-457200">
              <a:spcAft>
                <a:spcPts val="300"/>
              </a:spcAft>
              <a:buFont typeface="+mj-lt"/>
              <a:buAutoNum type="arabicParenR"/>
            </a:pPr>
            <a:r>
              <a:rPr lang="en-US" sz="2000" smtClean="0"/>
              <a:t>Trình </a:t>
            </a:r>
            <a:r>
              <a:rPr lang="en-US" sz="2000"/>
              <a:t>độ của nhà cung cấp hoặc nhà cung cấp đáp ứng</a:t>
            </a:r>
          </a:p>
          <a:p>
            <a:pPr marL="457200" indent="-457200">
              <a:spcAft>
                <a:spcPts val="300"/>
              </a:spcAft>
              <a:buFont typeface="+mj-lt"/>
              <a:buAutoNum type="arabicParenR"/>
            </a:pPr>
            <a:r>
              <a:rPr lang="en-US" sz="2000" smtClean="0"/>
              <a:t>Khuyến </a:t>
            </a:r>
            <a:r>
              <a:rPr lang="en-US" sz="2000"/>
              <a:t>nghị từ các khách hàng khác </a:t>
            </a:r>
            <a:endParaRPr lang="en-US" sz="2000" smtClean="0"/>
          </a:p>
          <a:p>
            <a:pPr marL="457200" indent="-457200">
              <a:spcAft>
                <a:spcPts val="300"/>
              </a:spcAft>
              <a:buFont typeface="+mj-lt"/>
              <a:buAutoNum type="arabicParenR"/>
            </a:pPr>
            <a:r>
              <a:rPr lang="en-US" sz="2000" smtClean="0"/>
              <a:t>Điều </a:t>
            </a:r>
            <a:r>
              <a:rPr lang="en-US" sz="2000"/>
              <a:t>khoản và điều kiện hợp </a:t>
            </a:r>
            <a:r>
              <a:rPr lang="en-US" sz="2000" smtClean="0"/>
              <a:t>đồng</a:t>
            </a:r>
            <a:endParaRPr lang="en-US" sz="2000"/>
          </a:p>
        </p:txBody>
      </p:sp>
      <p:sp>
        <p:nvSpPr>
          <p:cNvPr id="4" name="Rectangle 3"/>
          <p:cNvSpPr/>
          <p:nvPr/>
        </p:nvSpPr>
        <p:spPr>
          <a:xfrm>
            <a:off x="685800" y="5334000"/>
            <a:ext cx="8229600" cy="830997"/>
          </a:xfrm>
          <a:prstGeom prst="rect">
            <a:avLst/>
          </a:prstGeom>
        </p:spPr>
        <p:txBody>
          <a:bodyPr wrap="square">
            <a:spAutoFit/>
          </a:bodyPr>
          <a:lstStyle/>
          <a:p>
            <a:r>
              <a:rPr lang="en-US" smtClean="0">
                <a:sym typeface="Wingdings" pitchFamily="2" charset="2"/>
              </a:rPr>
              <a:t> </a:t>
            </a:r>
            <a:r>
              <a:rPr lang="vi-VN" smtClean="0"/>
              <a:t>đảm </a:t>
            </a:r>
            <a:r>
              <a:rPr lang="vi-VN"/>
              <a:t>bảo rằng </a:t>
            </a:r>
            <a:r>
              <a:rPr lang="en-US" smtClean="0"/>
              <a:t>nội dung thiết kế </a:t>
            </a:r>
            <a:r>
              <a:rPr lang="vi-VN" smtClean="0"/>
              <a:t>của </a:t>
            </a:r>
            <a:r>
              <a:rPr lang="vi-VN"/>
              <a:t>bạn làm nổi bật lợi ích của thiết kế</a:t>
            </a:r>
            <a:endParaRPr lang="en-US"/>
          </a:p>
        </p:txBody>
      </p:sp>
    </p:spTree>
    <p:extLst>
      <p:ext uri="{BB962C8B-B14F-4D97-AF65-F5344CB8AC3E}">
        <p14:creationId xmlns:p14="http://schemas.microsoft.com/office/powerpoint/2010/main" val="16924854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09600"/>
          </a:xfrm>
        </p:spPr>
        <p:txBody>
          <a:bodyPr/>
          <a:lstStyle/>
          <a:p>
            <a:r>
              <a:rPr lang="en-US" smtClean="0">
                <a:solidFill>
                  <a:schemeClr val="bg1"/>
                </a:solidFill>
              </a:rPr>
              <a:t>Phản hồi yêu cầu của khách hàng</a:t>
            </a:r>
            <a:endParaRPr lang="en-US">
              <a:solidFill>
                <a:schemeClr val="bg1"/>
              </a:solidFill>
            </a:endParaRPr>
          </a:p>
        </p:txBody>
      </p:sp>
      <p:sp>
        <p:nvSpPr>
          <p:cNvPr id="3" name="Content Placeholder 2"/>
          <p:cNvSpPr>
            <a:spLocks noGrp="1"/>
          </p:cNvSpPr>
          <p:nvPr>
            <p:ph idx="1"/>
          </p:nvPr>
        </p:nvSpPr>
        <p:spPr>
          <a:xfrm>
            <a:off x="457200" y="914400"/>
            <a:ext cx="8686800" cy="4267200"/>
          </a:xfrm>
        </p:spPr>
        <p:txBody>
          <a:bodyPr/>
          <a:lstStyle/>
          <a:p>
            <a:pPr>
              <a:spcBef>
                <a:spcPts val="1200"/>
              </a:spcBef>
              <a:spcAft>
                <a:spcPts val="1200"/>
              </a:spcAft>
            </a:pPr>
            <a:r>
              <a:rPr lang="en-US" sz="2400"/>
              <a:t>Khi viết </a:t>
            </a:r>
            <a:r>
              <a:rPr lang="en-US" sz="2400" smtClean="0"/>
              <a:t>tài liệu thiết kế, </a:t>
            </a:r>
            <a:r>
              <a:rPr lang="en-US" sz="2400"/>
              <a:t>hãy </a:t>
            </a:r>
            <a:r>
              <a:rPr lang="en-US" sz="2400" smtClean="0"/>
              <a:t>xem </a:t>
            </a:r>
            <a:r>
              <a:rPr lang="en-US" sz="2400"/>
              <a:t>xét các đối thủ cạnh tranh. </a:t>
            </a:r>
            <a:endParaRPr lang="en-US" sz="2400" smtClean="0"/>
          </a:p>
          <a:p>
            <a:pPr>
              <a:spcBef>
                <a:spcPts val="1200"/>
              </a:spcBef>
              <a:spcAft>
                <a:spcPts val="1200"/>
              </a:spcAft>
            </a:pPr>
            <a:r>
              <a:rPr lang="en-US" sz="2400" smtClean="0"/>
              <a:t>Cố </a:t>
            </a:r>
            <a:r>
              <a:rPr lang="en-US" sz="2400"/>
              <a:t>gắng dự đoán những gì các nhà cung cấp hoặc tư vấn thiết kế khác có thể đề xuất để bạn có thể </a:t>
            </a:r>
            <a:r>
              <a:rPr lang="en-US" sz="2400">
                <a:solidFill>
                  <a:srgbClr val="FF0000"/>
                </a:solidFill>
              </a:rPr>
              <a:t>thu hút sự chú ý </a:t>
            </a:r>
            <a:r>
              <a:rPr lang="en-US" sz="2400"/>
              <a:t>đến </a:t>
            </a:r>
            <a:r>
              <a:rPr lang="en-US" sz="2400">
                <a:solidFill>
                  <a:srgbClr val="FF0000"/>
                </a:solidFill>
              </a:rPr>
              <a:t>các khía cạnh của giải pháp </a:t>
            </a:r>
            <a:r>
              <a:rPr lang="en-US" sz="2400"/>
              <a:t>có khả năng </a:t>
            </a:r>
            <a:r>
              <a:rPr lang="en-US" sz="2400">
                <a:solidFill>
                  <a:srgbClr val="FF0000"/>
                </a:solidFill>
              </a:rPr>
              <a:t>vượt trội</a:t>
            </a:r>
            <a:r>
              <a:rPr lang="en-US" sz="2400"/>
              <a:t> so với các thiết kế cạnh tranh</a:t>
            </a:r>
            <a:r>
              <a:rPr lang="en-US" sz="2400" smtClean="0"/>
              <a:t>.</a:t>
            </a:r>
          </a:p>
          <a:p>
            <a:pPr>
              <a:spcBef>
                <a:spcPts val="1200"/>
              </a:spcBef>
              <a:spcAft>
                <a:spcPts val="1200"/>
              </a:spcAft>
            </a:pPr>
            <a:r>
              <a:rPr lang="en-US" sz="2400" smtClean="0"/>
              <a:t> </a:t>
            </a:r>
            <a:r>
              <a:rPr lang="en-US" sz="2400"/>
              <a:t>Ngoài ra, hãy chú ý đến phong cách kinh doanh của khách </a:t>
            </a:r>
            <a:r>
              <a:rPr lang="en-US" sz="2400" smtClean="0"/>
              <a:t>hàng. </a:t>
            </a:r>
            <a:endParaRPr lang="en-US" sz="2400"/>
          </a:p>
        </p:txBody>
      </p:sp>
    </p:spTree>
    <p:extLst>
      <p:ext uri="{BB962C8B-B14F-4D97-AF65-F5344CB8AC3E}">
        <p14:creationId xmlns:p14="http://schemas.microsoft.com/office/powerpoint/2010/main" val="15576874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752600"/>
            <a:ext cx="8077200" cy="838200"/>
          </a:xfrm>
        </p:spPr>
        <p:txBody>
          <a:bodyPr/>
          <a:lstStyle/>
          <a:p>
            <a:pPr marL="0" indent="0" algn="ctr">
              <a:buNone/>
            </a:pPr>
            <a:r>
              <a:rPr lang="en-US" sz="4800" dirty="0" err="1" smtClean="0"/>
              <a:t>Một</a:t>
            </a:r>
            <a:r>
              <a:rPr lang="en-US" sz="4800" dirty="0" smtClean="0"/>
              <a:t> </a:t>
            </a:r>
            <a:r>
              <a:rPr lang="en-US" sz="4800" dirty="0" err="1" smtClean="0"/>
              <a:t>số</a:t>
            </a:r>
            <a:r>
              <a:rPr lang="en-US" sz="4800" dirty="0" smtClean="0"/>
              <a:t> </a:t>
            </a:r>
            <a:r>
              <a:rPr lang="en-US" sz="4800" dirty="0" err="1" smtClean="0"/>
              <a:t>hướng</a:t>
            </a:r>
            <a:r>
              <a:rPr lang="en-US" sz="4800" dirty="0" smtClean="0"/>
              <a:t> </a:t>
            </a:r>
            <a:r>
              <a:rPr lang="en-US" sz="4800" dirty="0" err="1" smtClean="0"/>
              <a:t>dẫn</a:t>
            </a:r>
            <a:r>
              <a:rPr lang="en-US" sz="4800" dirty="0" smtClean="0"/>
              <a:t> </a:t>
            </a:r>
            <a:r>
              <a:rPr lang="en-US" sz="4800" dirty="0" err="1" smtClean="0"/>
              <a:t>viết</a:t>
            </a:r>
            <a:r>
              <a:rPr lang="en-US" sz="4800" dirty="0" smtClean="0"/>
              <a:t> </a:t>
            </a:r>
            <a:r>
              <a:rPr lang="en-US" sz="4800" dirty="0" err="1" smtClean="0"/>
              <a:t>hồ</a:t>
            </a:r>
            <a:r>
              <a:rPr lang="en-US" sz="4800" dirty="0" smtClean="0"/>
              <a:t> </a:t>
            </a:r>
            <a:r>
              <a:rPr lang="en-US" sz="4800" dirty="0" err="1" smtClean="0"/>
              <a:t>sơ</a:t>
            </a:r>
            <a:r>
              <a:rPr lang="en-US" sz="4800" dirty="0" smtClean="0"/>
              <a:t> </a:t>
            </a:r>
            <a:r>
              <a:rPr lang="en-US" sz="4800" dirty="0" err="1" smtClean="0"/>
              <a:t>thiết</a:t>
            </a:r>
            <a:r>
              <a:rPr lang="en-US" sz="4800" dirty="0" smtClean="0"/>
              <a:t> </a:t>
            </a:r>
            <a:r>
              <a:rPr lang="en-US" sz="4800" dirty="0" err="1" smtClean="0"/>
              <a:t>kế</a:t>
            </a:r>
            <a:r>
              <a:rPr lang="en-US" sz="4800" dirty="0" smtClean="0"/>
              <a:t> </a:t>
            </a:r>
            <a:r>
              <a:rPr lang="en-US" sz="4800" dirty="0" err="1" smtClean="0"/>
              <a:t>mạng</a:t>
            </a:r>
            <a:endParaRPr lang="en-US" sz="4800" dirty="0"/>
          </a:p>
        </p:txBody>
      </p:sp>
    </p:spTree>
    <p:extLst>
      <p:ext uri="{BB962C8B-B14F-4D97-AF65-F5344CB8AC3E}">
        <p14:creationId xmlns:p14="http://schemas.microsoft.com/office/powerpoint/2010/main" val="572266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r>
              <a:rPr lang="en-US" smtClean="0">
                <a:solidFill>
                  <a:schemeClr val="bg1"/>
                </a:solidFill>
              </a:rPr>
              <a:t>TLTK – phần Tóm tắt</a:t>
            </a:r>
            <a:endParaRPr lang="en-US">
              <a:solidFill>
                <a:schemeClr val="bg1"/>
              </a:solidFill>
            </a:endParaRPr>
          </a:p>
        </p:txBody>
      </p:sp>
      <p:sp>
        <p:nvSpPr>
          <p:cNvPr id="3" name="Content Placeholder 2"/>
          <p:cNvSpPr>
            <a:spLocks noGrp="1"/>
          </p:cNvSpPr>
          <p:nvPr>
            <p:ph idx="1"/>
          </p:nvPr>
        </p:nvSpPr>
        <p:spPr>
          <a:xfrm>
            <a:off x="533400" y="990600"/>
            <a:ext cx="8077200" cy="2286000"/>
          </a:xfrm>
        </p:spPr>
        <p:txBody>
          <a:bodyPr/>
          <a:lstStyle/>
          <a:p>
            <a:pPr>
              <a:spcBef>
                <a:spcPts val="1200"/>
              </a:spcBef>
              <a:spcAft>
                <a:spcPts val="1200"/>
              </a:spcAft>
            </a:pPr>
            <a:r>
              <a:rPr lang="en-US" sz="2400"/>
              <a:t>Một tài liệu thiết kế </a:t>
            </a:r>
            <a:r>
              <a:rPr lang="en-US" sz="2400" smtClean="0"/>
              <a:t>đầy đủ có </a:t>
            </a:r>
            <a:r>
              <a:rPr lang="en-US" sz="2400"/>
              <a:t>thể </a:t>
            </a:r>
            <a:r>
              <a:rPr lang="en-US" sz="2400" smtClean="0"/>
              <a:t>dài rất </a:t>
            </a:r>
            <a:r>
              <a:rPr lang="en-US" sz="2400"/>
              <a:t>nhiều trang. </a:t>
            </a:r>
            <a:r>
              <a:rPr lang="en-US" sz="2400" smtClean="0"/>
              <a:t>Phần </a:t>
            </a:r>
            <a:r>
              <a:rPr lang="en-US" sz="2400"/>
              <a:t>đầu </a:t>
            </a:r>
            <a:r>
              <a:rPr lang="en-US" sz="2400" smtClean="0"/>
              <a:t>nên có mục </a:t>
            </a:r>
            <a:r>
              <a:rPr lang="en-US" sz="2400" smtClean="0">
                <a:solidFill>
                  <a:srgbClr val="FF0000"/>
                </a:solidFill>
              </a:rPr>
              <a:t>Tóm tắt</a:t>
            </a:r>
            <a:r>
              <a:rPr lang="en-US" sz="2400" smtClean="0"/>
              <a:t>, </a:t>
            </a:r>
            <a:r>
              <a:rPr lang="en-US" sz="2400"/>
              <a:t>nêu rõ </a:t>
            </a:r>
            <a:r>
              <a:rPr lang="en-US" sz="2400">
                <a:solidFill>
                  <a:srgbClr val="FF0000"/>
                </a:solidFill>
              </a:rPr>
              <a:t>các điểm chính </a:t>
            </a:r>
            <a:r>
              <a:rPr lang="en-US" sz="2400"/>
              <a:t>của </a:t>
            </a:r>
            <a:r>
              <a:rPr lang="en-US" sz="2400" smtClean="0"/>
              <a:t>TLTK. </a:t>
            </a:r>
            <a:r>
              <a:rPr lang="en-US" sz="2400"/>
              <a:t>Tóm tắt </a:t>
            </a:r>
            <a:r>
              <a:rPr lang="en-US" sz="2400" smtClean="0">
                <a:solidFill>
                  <a:srgbClr val="FF0000"/>
                </a:solidFill>
              </a:rPr>
              <a:t>không </a:t>
            </a:r>
            <a:r>
              <a:rPr lang="en-US" sz="2400">
                <a:solidFill>
                  <a:srgbClr val="FF0000"/>
                </a:solidFill>
              </a:rPr>
              <a:t>quá </a:t>
            </a:r>
            <a:r>
              <a:rPr lang="en-US" sz="2400" smtClean="0">
                <a:solidFill>
                  <a:srgbClr val="FF0000"/>
                </a:solidFill>
              </a:rPr>
              <a:t>01 trang</a:t>
            </a:r>
            <a:r>
              <a:rPr lang="en-US" sz="2400" smtClean="0"/>
              <a:t> </a:t>
            </a:r>
            <a:r>
              <a:rPr lang="en-US" sz="2400"/>
              <a:t>và </a:t>
            </a:r>
            <a:r>
              <a:rPr lang="en-US" sz="2400" smtClean="0"/>
              <a:t>nhắm </a:t>
            </a:r>
            <a:r>
              <a:rPr lang="en-US" sz="2400"/>
              <a:t>mục tiêu vào các nhà quản lý và những người tham gia dự án chính, những người sẽ quyết định có chấp nhận thiết kế của bạn hay không.</a:t>
            </a:r>
          </a:p>
          <a:p>
            <a:pPr>
              <a:spcBef>
                <a:spcPts val="1200"/>
              </a:spcBef>
              <a:spcAft>
                <a:spcPts val="1200"/>
              </a:spcAft>
            </a:pPr>
            <a:r>
              <a:rPr lang="en-US" sz="2400" smtClean="0"/>
              <a:t>Phần Tóm tắt </a:t>
            </a:r>
            <a:r>
              <a:rPr lang="en-US" sz="2400"/>
              <a:t>có thể bao gồm một số thông tin kỹ thuật, nhưng </a:t>
            </a:r>
            <a:r>
              <a:rPr lang="en-US" sz="2400" smtClean="0"/>
              <a:t>không </a:t>
            </a:r>
            <a:r>
              <a:rPr lang="en-US" sz="2400"/>
              <a:t>nên cung cấp chi tiết kỹ thuật. Mục tiêu của bản tóm tắt là </a:t>
            </a:r>
            <a:r>
              <a:rPr lang="en-US" sz="2400" smtClean="0"/>
              <a:t>“bán” </a:t>
            </a:r>
            <a:r>
              <a:rPr lang="en-US" sz="2400"/>
              <a:t>cho những người ra quyết định về lợi </a:t>
            </a:r>
            <a:r>
              <a:rPr lang="en-US" sz="2400">
                <a:solidFill>
                  <a:srgbClr val="FF0000"/>
                </a:solidFill>
              </a:rPr>
              <a:t>ích kinh doanh</a:t>
            </a:r>
            <a:r>
              <a:rPr lang="en-US" sz="2400"/>
              <a:t> trong thiết kế của bạn. </a:t>
            </a:r>
            <a:r>
              <a:rPr lang="en-US" sz="2400">
                <a:solidFill>
                  <a:srgbClr val="FF0000"/>
                </a:solidFill>
              </a:rPr>
              <a:t>Thông tin kỹ th</a:t>
            </a:r>
            <a:r>
              <a:rPr lang="en-US" sz="2400"/>
              <a:t>uật cần được </a:t>
            </a:r>
            <a:r>
              <a:rPr lang="en-US" sz="2400">
                <a:solidFill>
                  <a:srgbClr val="FF0000"/>
                </a:solidFill>
              </a:rPr>
              <a:t>tóm tắt </a:t>
            </a:r>
            <a:r>
              <a:rPr lang="en-US" sz="2400"/>
              <a:t>và </a:t>
            </a:r>
            <a:r>
              <a:rPr lang="en-US" sz="2400">
                <a:solidFill>
                  <a:srgbClr val="FF0000"/>
                </a:solidFill>
              </a:rPr>
              <a:t>sắp xếp theo thứ tự</a:t>
            </a:r>
            <a:r>
              <a:rPr lang="en-US" sz="2400"/>
              <a:t> mục tiêu ưu tiên cao nhất của khách hàng cho dự án thiết kế</a:t>
            </a:r>
          </a:p>
        </p:txBody>
      </p:sp>
    </p:spTree>
    <p:extLst>
      <p:ext uri="{BB962C8B-B14F-4D97-AF65-F5344CB8AC3E}">
        <p14:creationId xmlns:p14="http://schemas.microsoft.com/office/powerpoint/2010/main" val="35647785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r>
              <a:rPr lang="en-US" smtClean="0">
                <a:solidFill>
                  <a:schemeClr val="bg1"/>
                </a:solidFill>
              </a:rPr>
              <a:t>TLTK – phần Mục tiêu của dự án</a:t>
            </a:r>
            <a:endParaRPr lang="en-US">
              <a:solidFill>
                <a:schemeClr val="bg1"/>
              </a:solidFill>
            </a:endParaRPr>
          </a:p>
        </p:txBody>
      </p:sp>
      <p:sp>
        <p:nvSpPr>
          <p:cNvPr id="3" name="Content Placeholder 2"/>
          <p:cNvSpPr>
            <a:spLocks noGrp="1"/>
          </p:cNvSpPr>
          <p:nvPr>
            <p:ph idx="1"/>
          </p:nvPr>
        </p:nvSpPr>
        <p:spPr>
          <a:xfrm>
            <a:off x="533400" y="990600"/>
            <a:ext cx="8077200" cy="3505200"/>
          </a:xfrm>
        </p:spPr>
        <p:txBody>
          <a:bodyPr/>
          <a:lstStyle/>
          <a:p>
            <a:r>
              <a:rPr lang="en-US" sz="2400" smtClean="0"/>
              <a:t>Nêu </a:t>
            </a:r>
            <a:r>
              <a:rPr lang="en-US" sz="2400" smtClean="0">
                <a:solidFill>
                  <a:srgbClr val="FF0000"/>
                </a:solidFill>
              </a:rPr>
              <a:t>mục tiêu chính </a:t>
            </a:r>
            <a:r>
              <a:rPr lang="en-US" sz="2400" smtClean="0"/>
              <a:t>cho dự án thiết kế mạng. Mục tiêu nên được </a:t>
            </a:r>
            <a:r>
              <a:rPr lang="en-US" sz="2400" smtClean="0">
                <a:solidFill>
                  <a:srgbClr val="FF0000"/>
                </a:solidFill>
              </a:rPr>
              <a:t>định hướng kinh doanh</a:t>
            </a:r>
            <a:r>
              <a:rPr lang="en-US" sz="2400" smtClean="0"/>
              <a:t> và liên quan đến một mục tiêu tổng thể mà tổ chức phải trở nên thành công hơn trong hoạt động kinh doanh cốt lõi của mình. </a:t>
            </a:r>
          </a:p>
          <a:p>
            <a:r>
              <a:rPr lang="en-US" sz="2400" smtClean="0">
                <a:solidFill>
                  <a:srgbClr val="FF0000"/>
                </a:solidFill>
              </a:rPr>
              <a:t>Không nên nhiều hơn một đoạn văn</a:t>
            </a:r>
            <a:r>
              <a:rPr lang="en-US" sz="2400" smtClean="0"/>
              <a:t>. Viết một cách cẩn thận để làm rõ cho </a:t>
            </a:r>
            <a:r>
              <a:rPr lang="en-US" sz="2400" smtClean="0">
                <a:solidFill>
                  <a:srgbClr val="FF0000"/>
                </a:solidFill>
              </a:rPr>
              <a:t>những người ra quyết định </a:t>
            </a:r>
            <a:r>
              <a:rPr lang="en-US" sz="2400" smtClean="0"/>
              <a:t>hiểu mục đích chính và tầm quan trọng của dự án thiết kế mạng.</a:t>
            </a:r>
            <a:endParaRPr lang="en-US" sz="2400"/>
          </a:p>
        </p:txBody>
      </p:sp>
      <p:sp>
        <p:nvSpPr>
          <p:cNvPr id="4" name="Rectangle 3"/>
          <p:cNvSpPr/>
          <p:nvPr/>
        </p:nvSpPr>
        <p:spPr>
          <a:xfrm>
            <a:off x="322289" y="3886200"/>
            <a:ext cx="8708036" cy="193899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vi-VN" sz="2000" b="0" i="1"/>
              <a:t>Mục tiêu của dự án này là phát triển một mạng diện rộng (WAN) </a:t>
            </a:r>
            <a:r>
              <a:rPr lang="en-US" sz="2000" b="0" i="1" smtClean="0"/>
              <a:t>để</a:t>
            </a:r>
            <a:r>
              <a:rPr lang="vi-VN" sz="2000" b="0" i="1" smtClean="0"/>
              <a:t> </a:t>
            </a:r>
            <a:r>
              <a:rPr lang="vi-VN" sz="2000" b="0" i="1"/>
              <a:t>hỗ trợ các ứng dụng đa phương tiện băng thông cao và độ trễ thấp mới. Các ứng dụng mới là chìa khóa để thực hiện thành công các chương trình đào tạo mới cho lực lượng bán hàng. Mạng LAN mới sẽ tạo điều kiện thuận lợi cho mục tiêu tăng doanh số bán hàng tại Hoa Kỳ thêm 50% trong năm tài chính tiếp theo.</a:t>
            </a:r>
            <a:endParaRPr lang="en-US" sz="2000" b="0" i="1"/>
          </a:p>
        </p:txBody>
      </p:sp>
    </p:spTree>
    <p:extLst>
      <p:ext uri="{BB962C8B-B14F-4D97-AF65-F5344CB8AC3E}">
        <p14:creationId xmlns:p14="http://schemas.microsoft.com/office/powerpoint/2010/main" val="40130086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458200" cy="4267200"/>
          </a:xfrm>
        </p:spPr>
        <p:txBody>
          <a:bodyPr/>
          <a:lstStyle/>
          <a:p>
            <a:pPr>
              <a:spcBef>
                <a:spcPts val="1200"/>
              </a:spcBef>
              <a:spcAft>
                <a:spcPts val="1200"/>
              </a:spcAft>
            </a:pPr>
            <a:r>
              <a:rPr lang="en-US" sz="2400" smtClean="0"/>
              <a:t>Cung </a:t>
            </a:r>
            <a:r>
              <a:rPr lang="en-US" sz="2400"/>
              <a:t>cấp thông tin về phạm vi của dự án, bao gồm tóm tắt về các phòng ban và mạng sẽ bị ảnh hưởng bởi dự </a:t>
            </a:r>
            <a:r>
              <a:rPr lang="en-US" sz="2400" smtClean="0"/>
              <a:t>án</a:t>
            </a:r>
          </a:p>
          <a:p>
            <a:pPr>
              <a:spcBef>
                <a:spcPts val="1200"/>
              </a:spcBef>
              <a:spcAft>
                <a:spcPts val="1200"/>
              </a:spcAft>
            </a:pPr>
            <a:r>
              <a:rPr lang="en-US" sz="2400" smtClean="0"/>
              <a:t>Xác </a:t>
            </a:r>
            <a:r>
              <a:rPr lang="en-US" sz="2400"/>
              <a:t>định xem dự án dành cho </a:t>
            </a:r>
            <a:r>
              <a:rPr lang="en-US" sz="2400">
                <a:solidFill>
                  <a:srgbClr val="FF0000"/>
                </a:solidFill>
              </a:rPr>
              <a:t>mạng mới</a:t>
            </a:r>
            <a:r>
              <a:rPr lang="en-US" sz="2400"/>
              <a:t> hay </a:t>
            </a:r>
            <a:r>
              <a:rPr lang="en-US" sz="2400">
                <a:solidFill>
                  <a:srgbClr val="FF0000"/>
                </a:solidFill>
              </a:rPr>
              <a:t>sửa đổi mạng hiện </a:t>
            </a:r>
            <a:r>
              <a:rPr lang="en-US" sz="2400" smtClean="0">
                <a:solidFill>
                  <a:srgbClr val="FF0000"/>
                </a:solidFill>
              </a:rPr>
              <a:t>có</a:t>
            </a:r>
          </a:p>
          <a:p>
            <a:pPr>
              <a:spcBef>
                <a:spcPts val="1200"/>
              </a:spcBef>
              <a:spcAft>
                <a:spcPts val="1200"/>
              </a:spcAft>
            </a:pPr>
            <a:r>
              <a:rPr lang="en-US" sz="2400" smtClean="0"/>
              <a:t>Cho </a:t>
            </a:r>
            <a:r>
              <a:rPr lang="en-US" sz="2400"/>
              <a:t>biết liệu thiết kế dành cho một phân đoạn </a:t>
            </a:r>
            <a:r>
              <a:rPr lang="en-US" sz="2400" smtClean="0"/>
              <a:t>mạng, </a:t>
            </a:r>
            <a:r>
              <a:rPr lang="en-US" sz="2400"/>
              <a:t>một </a:t>
            </a:r>
            <a:r>
              <a:rPr lang="en-US" sz="2400" smtClean="0"/>
              <a:t>vài </a:t>
            </a:r>
            <a:r>
              <a:rPr lang="en-US" sz="2400"/>
              <a:t>LAN, </a:t>
            </a:r>
            <a:r>
              <a:rPr lang="en-US" sz="2400" smtClean="0"/>
              <a:t>một tòa </a:t>
            </a:r>
            <a:r>
              <a:rPr lang="en-US" sz="2400"/>
              <a:t>nhà hay khuôn </a:t>
            </a:r>
            <a:r>
              <a:rPr lang="en-US" sz="2400" smtClean="0"/>
              <a:t>viên, mạng </a:t>
            </a:r>
            <a:r>
              <a:rPr lang="en-US" sz="2400"/>
              <a:t>truy cập từ xa hoặc có thể là toàn bộ mạng doanh nghiệp</a:t>
            </a:r>
          </a:p>
        </p:txBody>
      </p:sp>
      <p:sp>
        <p:nvSpPr>
          <p:cNvPr id="4" name="Title 1"/>
          <p:cNvSpPr>
            <a:spLocks noGrp="1"/>
          </p:cNvSpPr>
          <p:nvPr>
            <p:ph type="title"/>
          </p:nvPr>
        </p:nvSpPr>
        <p:spPr>
          <a:xfrm>
            <a:off x="457200" y="152400"/>
            <a:ext cx="8229600" cy="563562"/>
          </a:xfrm>
        </p:spPr>
        <p:txBody>
          <a:bodyPr/>
          <a:lstStyle/>
          <a:p>
            <a:r>
              <a:rPr lang="en-US" smtClean="0">
                <a:solidFill>
                  <a:schemeClr val="bg1"/>
                </a:solidFill>
              </a:rPr>
              <a:t>TLTK – phần Phạm vi của dự án</a:t>
            </a:r>
            <a:endParaRPr lang="en-US">
              <a:solidFill>
                <a:schemeClr val="bg1"/>
              </a:solidFill>
            </a:endParaRPr>
          </a:p>
        </p:txBody>
      </p:sp>
    </p:spTree>
    <p:extLst>
      <p:ext uri="{BB962C8B-B14F-4D97-AF65-F5344CB8AC3E}">
        <p14:creationId xmlns:p14="http://schemas.microsoft.com/office/powerpoint/2010/main" val="31204633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534400" cy="5257800"/>
          </a:xfrm>
        </p:spPr>
        <p:txBody>
          <a:bodyPr/>
          <a:lstStyle/>
          <a:p>
            <a:r>
              <a:rPr lang="en-US" sz="2400"/>
              <a:t>Phần mục tiêu dự án thường ngắn, phần yêu cầu thiết kế là cơ hội để </a:t>
            </a:r>
            <a:r>
              <a:rPr lang="en-US" sz="2400">
                <a:solidFill>
                  <a:srgbClr val="FF0000"/>
                </a:solidFill>
              </a:rPr>
              <a:t>liệt kê tất cả các yêu cầu kỹ thuật </a:t>
            </a:r>
            <a:r>
              <a:rPr lang="en-US" sz="2400"/>
              <a:t>và </a:t>
            </a:r>
            <a:r>
              <a:rPr lang="en-US" sz="2400">
                <a:solidFill>
                  <a:srgbClr val="FF0000"/>
                </a:solidFill>
              </a:rPr>
              <a:t>kinh doanh</a:t>
            </a:r>
            <a:r>
              <a:rPr lang="en-US" sz="2400"/>
              <a:t> </a:t>
            </a:r>
            <a:r>
              <a:rPr lang="en-US" sz="2400">
                <a:solidFill>
                  <a:srgbClr val="FF0000"/>
                </a:solidFill>
              </a:rPr>
              <a:t>chính</a:t>
            </a:r>
            <a:r>
              <a:rPr lang="en-US" sz="2400"/>
              <a:t> cho thiết kế </a:t>
            </a:r>
            <a:r>
              <a:rPr lang="en-US" sz="2400" smtClean="0"/>
              <a:t>mạng</a:t>
            </a:r>
          </a:p>
          <a:p>
            <a:r>
              <a:rPr lang="en-US" sz="2400" smtClean="0"/>
              <a:t>Nên </a:t>
            </a:r>
            <a:r>
              <a:rPr lang="en-US" sz="2400"/>
              <a:t>liệt kê các mục tiêu theo </a:t>
            </a:r>
            <a:r>
              <a:rPr lang="en-US" sz="2400">
                <a:solidFill>
                  <a:srgbClr val="FF0000"/>
                </a:solidFill>
              </a:rPr>
              <a:t>thứ tự ưu </a:t>
            </a:r>
            <a:r>
              <a:rPr lang="en-US" sz="2400" smtClean="0">
                <a:solidFill>
                  <a:srgbClr val="FF0000"/>
                </a:solidFill>
              </a:rPr>
              <a:t>tiên</a:t>
            </a:r>
          </a:p>
          <a:p>
            <a:pPr marL="0" indent="0">
              <a:buNone/>
            </a:pPr>
            <a:r>
              <a:rPr lang="en-US" sz="2400" i="1"/>
              <a:t>Mục tiêu kinh doanh (Business Goals):</a:t>
            </a:r>
            <a:endParaRPr lang="en-US" sz="2400"/>
          </a:p>
          <a:p>
            <a:pPr lvl="1">
              <a:buFont typeface="Wingdings" pitchFamily="2" charset="2"/>
              <a:buChar char="Ø"/>
            </a:pPr>
            <a:r>
              <a:rPr lang="en-US" sz="2000" smtClean="0">
                <a:solidFill>
                  <a:srgbClr val="FF0000"/>
                </a:solidFill>
              </a:rPr>
              <a:t>Giải </a:t>
            </a:r>
            <a:r>
              <a:rPr lang="en-US" sz="2000">
                <a:solidFill>
                  <a:srgbClr val="FF0000"/>
                </a:solidFill>
              </a:rPr>
              <a:t>thích </a:t>
            </a:r>
            <a:r>
              <a:rPr lang="en-US" sz="2000"/>
              <a:t>vai trò của thiết kế mạng sẽ đóng </a:t>
            </a:r>
            <a:r>
              <a:rPr lang="en-US" sz="2000" smtClean="0"/>
              <a:t>đóng góp </a:t>
            </a:r>
            <a:r>
              <a:rPr lang="en-US" sz="2000"/>
              <a:t>trong việc giúp một tổ chức cung cấp các sản phẩm và dịch vụ </a:t>
            </a:r>
            <a:r>
              <a:rPr lang="en-US" sz="2000">
                <a:solidFill>
                  <a:srgbClr val="FF0000"/>
                </a:solidFill>
              </a:rPr>
              <a:t>tốt hơn cho khách hàng</a:t>
            </a:r>
            <a:r>
              <a:rPr lang="en-US" sz="2000"/>
              <a:t> của mình. Các </a:t>
            </a:r>
            <a:r>
              <a:rPr lang="en-US" sz="2000" smtClean="0"/>
              <a:t>CEO </a:t>
            </a:r>
            <a:r>
              <a:rPr lang="en-US" sz="2000"/>
              <a:t>đọc tài liệu thiết kế sẽ có nhiều </a:t>
            </a:r>
            <a:r>
              <a:rPr lang="en-US" sz="2000">
                <a:solidFill>
                  <a:srgbClr val="FF0000"/>
                </a:solidFill>
              </a:rPr>
              <a:t>khả năng chấp nhận</a:t>
            </a:r>
            <a:r>
              <a:rPr lang="en-US" sz="2000"/>
              <a:t> thiết kế nếu họ nhận ra </a:t>
            </a:r>
            <a:r>
              <a:rPr lang="en-US" sz="2000" smtClean="0"/>
              <a:t>phần </a:t>
            </a:r>
            <a:r>
              <a:rPr lang="en-US" sz="2000">
                <a:solidFill>
                  <a:srgbClr val="FF0000"/>
                </a:solidFill>
              </a:rPr>
              <a:t>Mục tiêu kinh doanh</a:t>
            </a:r>
            <a:r>
              <a:rPr lang="en-US" sz="2000"/>
              <a:t> mà nhà thiết kế mạng hiểu được nhiệm vụ kinh doanh của tổ </a:t>
            </a:r>
            <a:r>
              <a:rPr lang="en-US" sz="2000" smtClean="0"/>
              <a:t>chức</a:t>
            </a:r>
          </a:p>
          <a:p>
            <a:pPr lvl="1">
              <a:buFont typeface="Wingdings" pitchFamily="2" charset="2"/>
              <a:buChar char="Ø"/>
            </a:pPr>
            <a:r>
              <a:rPr lang="en-US" sz="2000"/>
              <a:t>Nhiều nhà thiết kế mạng </a:t>
            </a:r>
            <a:r>
              <a:rPr lang="en-US" sz="2000">
                <a:solidFill>
                  <a:srgbClr val="FF0000"/>
                </a:solidFill>
              </a:rPr>
              <a:t>gặp khó khăn </a:t>
            </a:r>
            <a:r>
              <a:rPr lang="en-US" sz="2000"/>
              <a:t>khi viết phần Mục tiêu kinh doanh </a:t>
            </a:r>
            <a:r>
              <a:rPr lang="en-US" sz="2000">
                <a:solidFill>
                  <a:srgbClr val="FF0000"/>
                </a:solidFill>
              </a:rPr>
              <a:t>vì quan tâm nhiều </a:t>
            </a:r>
            <a:r>
              <a:rPr lang="en-US" sz="2000" smtClean="0">
                <a:solidFill>
                  <a:srgbClr val="FF0000"/>
                </a:solidFill>
              </a:rPr>
              <a:t>đến </a:t>
            </a:r>
            <a:r>
              <a:rPr lang="en-US" sz="2000">
                <a:solidFill>
                  <a:srgbClr val="FF0000"/>
                </a:solidFill>
              </a:rPr>
              <a:t>các mục tiêu kỹ thuật. </a:t>
            </a:r>
            <a:r>
              <a:rPr lang="en-US" sz="2000"/>
              <a:t>Tuy nhiên, điều quan trọng là tập trung giải pháp </a:t>
            </a:r>
            <a:r>
              <a:rPr lang="en-US" sz="2000" smtClean="0"/>
              <a:t>vào </a:t>
            </a:r>
            <a:r>
              <a:rPr lang="en-US" sz="2000"/>
              <a:t>khả năng giúp khách hàng giải quyết các </a:t>
            </a:r>
            <a:r>
              <a:rPr lang="en-US" sz="2000">
                <a:solidFill>
                  <a:srgbClr val="FF0000"/>
                </a:solidFill>
              </a:rPr>
              <a:t>vấn đề kinh doanh</a:t>
            </a:r>
            <a:r>
              <a:rPr lang="en-US" sz="2000"/>
              <a:t> của của họ</a:t>
            </a:r>
          </a:p>
        </p:txBody>
      </p:sp>
      <p:sp>
        <p:nvSpPr>
          <p:cNvPr id="4" name="Title 1"/>
          <p:cNvSpPr>
            <a:spLocks noGrp="1"/>
          </p:cNvSpPr>
          <p:nvPr>
            <p:ph type="title"/>
          </p:nvPr>
        </p:nvSpPr>
        <p:spPr>
          <a:xfrm>
            <a:off x="457200" y="152400"/>
            <a:ext cx="8229600" cy="563562"/>
          </a:xfrm>
        </p:spPr>
        <p:txBody>
          <a:bodyPr/>
          <a:lstStyle/>
          <a:p>
            <a:r>
              <a:rPr lang="en-US" smtClean="0">
                <a:solidFill>
                  <a:schemeClr val="bg1"/>
                </a:solidFill>
              </a:rPr>
              <a:t>TLTK – phần Yêu cầu thiết kế</a:t>
            </a:r>
            <a:endParaRPr lang="en-US">
              <a:solidFill>
                <a:schemeClr val="bg1"/>
              </a:solidFill>
            </a:endParaRPr>
          </a:p>
        </p:txBody>
      </p:sp>
    </p:spTree>
    <p:extLst>
      <p:ext uri="{BB962C8B-B14F-4D97-AF65-F5344CB8AC3E}">
        <p14:creationId xmlns:p14="http://schemas.microsoft.com/office/powerpoint/2010/main" val="197196127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077200" cy="4267200"/>
          </a:xfrm>
        </p:spPr>
        <p:txBody>
          <a:bodyPr/>
          <a:lstStyle/>
          <a:p>
            <a:r>
              <a:rPr lang="en-US" sz="2400" b="1" i="1"/>
              <a:t>Mục tiêu kỹ </a:t>
            </a:r>
            <a:r>
              <a:rPr lang="en-US" sz="2400" b="1" i="1" smtClean="0"/>
              <a:t>thuật: </a:t>
            </a:r>
            <a:r>
              <a:rPr lang="en-US" sz="2400"/>
              <a:t>Phân tích các Mục tiêu kỹ thuật và cân bằng các mục tiêu:</a:t>
            </a:r>
            <a:r>
              <a:rPr lang="en-US" sz="2400" b="1" i="1" smtClean="0"/>
              <a:t> </a:t>
            </a:r>
          </a:p>
          <a:p>
            <a:pPr lvl="1">
              <a:spcAft>
                <a:spcPts val="600"/>
              </a:spcAft>
              <a:buFont typeface="Wingdings" pitchFamily="2" charset="2"/>
              <a:buChar char="§"/>
            </a:pPr>
            <a:r>
              <a:rPr lang="en-US" sz="2000" i="1"/>
              <a:t>Khả năng mở rộng</a:t>
            </a:r>
            <a:r>
              <a:rPr lang="en-US" sz="2000"/>
              <a:t> </a:t>
            </a:r>
            <a:endParaRPr lang="en-US" sz="2000" smtClean="0"/>
          </a:p>
          <a:p>
            <a:pPr lvl="1">
              <a:spcAft>
                <a:spcPts val="600"/>
              </a:spcAft>
              <a:buFont typeface="Wingdings" pitchFamily="2" charset="2"/>
              <a:buChar char="§"/>
            </a:pPr>
            <a:r>
              <a:rPr lang="en-US" sz="2000" i="1"/>
              <a:t>Tính </a:t>
            </a:r>
            <a:r>
              <a:rPr lang="en-US" sz="2000" i="1" smtClean="0"/>
              <a:t>sẵn sàng</a:t>
            </a:r>
          </a:p>
          <a:p>
            <a:pPr lvl="1">
              <a:spcAft>
                <a:spcPts val="600"/>
              </a:spcAft>
              <a:buFont typeface="Wingdings" pitchFamily="2" charset="2"/>
              <a:buChar char="§"/>
            </a:pPr>
            <a:r>
              <a:rPr lang="en-US" sz="2000" i="1"/>
              <a:t>Hiệu suất mạng</a:t>
            </a:r>
            <a:r>
              <a:rPr lang="en-US" sz="2000"/>
              <a:t> </a:t>
            </a:r>
            <a:endParaRPr lang="en-US" sz="2000" smtClean="0"/>
          </a:p>
          <a:p>
            <a:pPr lvl="1">
              <a:spcAft>
                <a:spcPts val="600"/>
              </a:spcAft>
              <a:buFont typeface="Wingdings" pitchFamily="2" charset="2"/>
              <a:buChar char="§"/>
            </a:pPr>
            <a:r>
              <a:rPr lang="en-US" sz="2000" i="1"/>
              <a:t>Bảo mật</a:t>
            </a:r>
            <a:r>
              <a:rPr lang="en-US" sz="2000"/>
              <a:t> </a:t>
            </a:r>
            <a:endParaRPr lang="en-US" sz="2000" smtClean="0"/>
          </a:p>
          <a:p>
            <a:pPr lvl="1">
              <a:spcAft>
                <a:spcPts val="600"/>
              </a:spcAft>
              <a:buFont typeface="Wingdings" pitchFamily="2" charset="2"/>
              <a:buChar char="§"/>
            </a:pPr>
            <a:r>
              <a:rPr lang="en-US" sz="2000" i="1"/>
              <a:t>Khả năng quản lý</a:t>
            </a:r>
            <a:r>
              <a:rPr lang="en-US" sz="2000"/>
              <a:t> </a:t>
            </a:r>
            <a:endParaRPr lang="en-US" sz="2000" smtClean="0"/>
          </a:p>
          <a:p>
            <a:pPr lvl="1">
              <a:spcAft>
                <a:spcPts val="600"/>
              </a:spcAft>
              <a:buFont typeface="Wingdings" pitchFamily="2" charset="2"/>
              <a:buChar char="§"/>
            </a:pPr>
            <a:r>
              <a:rPr lang="en-US" sz="2000" i="1"/>
              <a:t>Khả năng thích ứng</a:t>
            </a:r>
            <a:r>
              <a:rPr lang="en-US" sz="2000"/>
              <a:t> </a:t>
            </a:r>
            <a:endParaRPr lang="en-US" sz="2000" smtClean="0"/>
          </a:p>
          <a:p>
            <a:pPr lvl="1">
              <a:spcAft>
                <a:spcPts val="600"/>
              </a:spcAft>
              <a:buFont typeface="Wingdings" pitchFamily="2" charset="2"/>
              <a:buChar char="§"/>
            </a:pPr>
            <a:r>
              <a:rPr lang="en-US" sz="2000" i="1"/>
              <a:t>Khả năng </a:t>
            </a:r>
            <a:r>
              <a:rPr lang="en-US" sz="2000" i="1" smtClean="0"/>
              <a:t>tài chính</a:t>
            </a:r>
            <a:r>
              <a:rPr lang="en-US" sz="2000" smtClean="0"/>
              <a:t> </a:t>
            </a:r>
            <a:endParaRPr lang="en-US" sz="2000"/>
          </a:p>
        </p:txBody>
      </p:sp>
      <p:sp>
        <p:nvSpPr>
          <p:cNvPr id="4" name="Title 1"/>
          <p:cNvSpPr>
            <a:spLocks noGrp="1"/>
          </p:cNvSpPr>
          <p:nvPr>
            <p:ph type="title"/>
          </p:nvPr>
        </p:nvSpPr>
        <p:spPr>
          <a:xfrm>
            <a:off x="457200" y="152400"/>
            <a:ext cx="8229600" cy="563562"/>
          </a:xfrm>
        </p:spPr>
        <p:txBody>
          <a:bodyPr/>
          <a:lstStyle/>
          <a:p>
            <a:r>
              <a:rPr lang="en-US" smtClean="0">
                <a:solidFill>
                  <a:schemeClr val="bg1"/>
                </a:solidFill>
              </a:rPr>
              <a:t>TLTK – phần Yêu cầu thiết kế</a:t>
            </a:r>
            <a:endParaRPr lang="en-US">
              <a:solidFill>
                <a:schemeClr val="bg1"/>
              </a:solidFill>
            </a:endParaRPr>
          </a:p>
        </p:txBody>
      </p:sp>
    </p:spTree>
    <p:extLst>
      <p:ext uri="{BB962C8B-B14F-4D97-AF65-F5344CB8AC3E}">
        <p14:creationId xmlns:p14="http://schemas.microsoft.com/office/powerpoint/2010/main" val="213532858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lstStyle/>
          <a:p>
            <a:r>
              <a:rPr lang="en-US" dirty="0" err="1" smtClean="0">
                <a:solidFill>
                  <a:schemeClr val="bg1"/>
                </a:solidFill>
              </a:rPr>
              <a:t>Nhắc</a:t>
            </a:r>
            <a:r>
              <a:rPr lang="en-US" dirty="0" smtClean="0">
                <a:solidFill>
                  <a:schemeClr val="bg1"/>
                </a:solidFill>
              </a:rPr>
              <a:t> </a:t>
            </a:r>
            <a:r>
              <a:rPr lang="en-US" dirty="0" err="1" smtClean="0">
                <a:solidFill>
                  <a:schemeClr val="bg1"/>
                </a:solidFill>
              </a:rPr>
              <a:t>lại</a:t>
            </a:r>
            <a:endParaRPr lang="en-US" dirty="0">
              <a:solidFill>
                <a:schemeClr val="bg1"/>
              </a:solidFill>
            </a:endParaRPr>
          </a:p>
        </p:txBody>
      </p:sp>
      <p:sp>
        <p:nvSpPr>
          <p:cNvPr id="3" name="Content Placeholder 2"/>
          <p:cNvSpPr>
            <a:spLocks noGrp="1"/>
          </p:cNvSpPr>
          <p:nvPr>
            <p:ph idx="1"/>
          </p:nvPr>
        </p:nvSpPr>
        <p:spPr>
          <a:xfrm>
            <a:off x="381000" y="1066800"/>
            <a:ext cx="8077200" cy="5029200"/>
          </a:xfrm>
        </p:spPr>
        <p:txBody>
          <a:bodyPr/>
          <a:lstStyle/>
          <a:p>
            <a:r>
              <a:rPr lang="en-US" sz="2400" dirty="0" err="1" smtClean="0"/>
              <a:t>Chức</a:t>
            </a:r>
            <a:r>
              <a:rPr lang="en-US" sz="2400" dirty="0" smtClean="0"/>
              <a:t> </a:t>
            </a:r>
            <a:r>
              <a:rPr lang="en-US" sz="2400" dirty="0" err="1" smtClean="0"/>
              <a:t>năng</a:t>
            </a:r>
            <a:r>
              <a:rPr lang="en-US" sz="2400" dirty="0" smtClean="0"/>
              <a:t>: </a:t>
            </a:r>
            <a:r>
              <a:rPr lang="en-US" sz="2400" dirty="0" err="1" smtClean="0"/>
              <a:t>DHCP</a:t>
            </a:r>
            <a:r>
              <a:rPr lang="en-US" sz="2400" dirty="0" smtClean="0"/>
              <a:t> snooping</a:t>
            </a:r>
          </a:p>
          <a:p>
            <a:r>
              <a:rPr lang="en-US" sz="2400" dirty="0" err="1" smtClean="0"/>
              <a:t>Mục</a:t>
            </a:r>
            <a:r>
              <a:rPr lang="en-US" sz="2400" dirty="0" smtClean="0"/>
              <a:t> </a:t>
            </a:r>
            <a:r>
              <a:rPr lang="en-US" sz="2400" dirty="0" err="1" smtClean="0"/>
              <a:t>tiêu</a:t>
            </a:r>
            <a:r>
              <a:rPr lang="en-US" sz="2400" dirty="0" smtClean="0"/>
              <a:t>: </a:t>
            </a:r>
            <a:r>
              <a:rPr lang="en-US" sz="2400" dirty="0" err="1" smtClean="0"/>
              <a:t>chống</a:t>
            </a:r>
            <a:r>
              <a:rPr lang="en-US" sz="2400" dirty="0" smtClean="0"/>
              <a:t> </a:t>
            </a:r>
            <a:r>
              <a:rPr lang="en-US" sz="2400" dirty="0" err="1" smtClean="0"/>
              <a:t>giả</a:t>
            </a:r>
            <a:r>
              <a:rPr lang="en-US" sz="2400" dirty="0" smtClean="0"/>
              <a:t> </a:t>
            </a:r>
            <a:r>
              <a:rPr lang="en-US" sz="2400" dirty="0" err="1" smtClean="0"/>
              <a:t>DHCP</a:t>
            </a:r>
            <a:r>
              <a:rPr lang="en-US" sz="2400" dirty="0" smtClean="0"/>
              <a:t> server</a:t>
            </a:r>
          </a:p>
          <a:p>
            <a:r>
              <a:rPr lang="en-US" sz="2400" dirty="0" err="1" smtClean="0"/>
              <a:t>Cấu</a:t>
            </a:r>
            <a:r>
              <a:rPr lang="en-US" sz="2400" dirty="0" smtClean="0"/>
              <a:t> </a:t>
            </a:r>
            <a:r>
              <a:rPr lang="en-US" sz="2400" dirty="0" err="1" smtClean="0"/>
              <a:t>hình</a:t>
            </a:r>
            <a:r>
              <a:rPr lang="en-US" sz="2400" dirty="0" smtClean="0"/>
              <a:t>:</a:t>
            </a:r>
            <a:endParaRPr lang="en-US" sz="2000" dirty="0" smtClean="0"/>
          </a:p>
          <a:p>
            <a:pPr marL="385763" lvl="1" indent="0">
              <a:buNone/>
            </a:pPr>
            <a:r>
              <a:rPr lang="en-US" sz="2000" dirty="0" smtClean="0"/>
              <a:t>     SW(</a:t>
            </a:r>
            <a:r>
              <a:rPr lang="en-US" sz="2000" dirty="0" err="1" smtClean="0"/>
              <a:t>config</a:t>
            </a:r>
            <a:r>
              <a:rPr lang="en-US" sz="2000" dirty="0" smtClean="0"/>
              <a:t>)#</a:t>
            </a:r>
            <a:r>
              <a:rPr lang="en-US" sz="2000" dirty="0" err="1" smtClean="0"/>
              <a:t>ip</a:t>
            </a:r>
            <a:r>
              <a:rPr lang="en-US" sz="2000" dirty="0" smtClean="0"/>
              <a:t> </a:t>
            </a:r>
            <a:r>
              <a:rPr lang="en-US" sz="2000" dirty="0" err="1" smtClean="0"/>
              <a:t>dhcp</a:t>
            </a:r>
            <a:r>
              <a:rPr lang="en-US" sz="2000" dirty="0" smtClean="0"/>
              <a:t> snooping</a:t>
            </a:r>
          </a:p>
          <a:p>
            <a:pPr marL="385763" lvl="1" indent="0">
              <a:buNone/>
            </a:pPr>
            <a:r>
              <a:rPr lang="en-US" sz="2000" dirty="0" smtClean="0"/>
              <a:t>   </a:t>
            </a:r>
            <a:r>
              <a:rPr lang="en-US" sz="2000" dirty="0"/>
              <a:t> </a:t>
            </a:r>
            <a:r>
              <a:rPr lang="en-US" sz="2000" dirty="0" smtClean="0"/>
              <a:t> SW(</a:t>
            </a:r>
            <a:r>
              <a:rPr lang="en-US" sz="2000" dirty="0" err="1" smtClean="0"/>
              <a:t>config</a:t>
            </a:r>
            <a:r>
              <a:rPr lang="en-US" sz="2000" dirty="0" smtClean="0"/>
              <a:t>)#</a:t>
            </a:r>
            <a:r>
              <a:rPr lang="en-US" sz="2000" dirty="0" err="1" smtClean="0"/>
              <a:t>ip</a:t>
            </a:r>
            <a:r>
              <a:rPr lang="en-US" sz="2000" dirty="0" smtClean="0"/>
              <a:t> </a:t>
            </a:r>
            <a:r>
              <a:rPr lang="en-US" sz="2000" dirty="0" err="1" smtClean="0"/>
              <a:t>dhcp</a:t>
            </a:r>
            <a:r>
              <a:rPr lang="en-US" sz="2000" dirty="0" smtClean="0"/>
              <a:t> snooping </a:t>
            </a:r>
            <a:r>
              <a:rPr lang="en-US" sz="2000" dirty="0" err="1" smtClean="0"/>
              <a:t>vlan</a:t>
            </a:r>
            <a:r>
              <a:rPr lang="en-US" sz="2000" dirty="0" smtClean="0"/>
              <a:t> 1-200</a:t>
            </a:r>
          </a:p>
          <a:p>
            <a:pPr marL="385763" lvl="1" indent="0">
              <a:buNone/>
            </a:pPr>
            <a:r>
              <a:rPr lang="en-US" sz="2000" dirty="0"/>
              <a:t> </a:t>
            </a:r>
            <a:r>
              <a:rPr lang="en-US" sz="2000" dirty="0" smtClean="0"/>
              <a:t>    SW(</a:t>
            </a:r>
            <a:r>
              <a:rPr lang="en-US" sz="2000" dirty="0" err="1" smtClean="0"/>
              <a:t>config</a:t>
            </a:r>
            <a:r>
              <a:rPr lang="en-US" sz="2000" dirty="0" smtClean="0"/>
              <a:t>)#no </a:t>
            </a:r>
            <a:r>
              <a:rPr lang="en-US" sz="2000" dirty="0" err="1" smtClean="0"/>
              <a:t>ip</a:t>
            </a:r>
            <a:r>
              <a:rPr lang="en-US" sz="2000" dirty="0" smtClean="0"/>
              <a:t> </a:t>
            </a:r>
            <a:r>
              <a:rPr lang="en-US" sz="2000" dirty="0" err="1" smtClean="0"/>
              <a:t>dhcp</a:t>
            </a:r>
            <a:r>
              <a:rPr lang="en-US" sz="2000" dirty="0"/>
              <a:t> </a:t>
            </a:r>
            <a:r>
              <a:rPr lang="en-US" sz="2000" dirty="0" smtClean="0"/>
              <a:t>snooping information option</a:t>
            </a:r>
          </a:p>
          <a:p>
            <a:pPr marL="385763" lvl="1" indent="0">
              <a:buNone/>
            </a:pPr>
            <a:r>
              <a:rPr lang="en-US" sz="2000" dirty="0" smtClean="0"/>
              <a:t>      </a:t>
            </a:r>
          </a:p>
          <a:p>
            <a:pPr marL="385763" lvl="1" indent="0">
              <a:buNone/>
            </a:pPr>
            <a:r>
              <a:rPr lang="en-US" sz="2000" dirty="0"/>
              <a:t> </a:t>
            </a:r>
            <a:r>
              <a:rPr lang="en-US" sz="2000" dirty="0" smtClean="0"/>
              <a:t>    SW(</a:t>
            </a:r>
            <a:r>
              <a:rPr lang="en-US" sz="2000" dirty="0" err="1" smtClean="0"/>
              <a:t>config</a:t>
            </a:r>
            <a:r>
              <a:rPr lang="en-US" sz="2000" dirty="0" smtClean="0"/>
              <a:t>)#</a:t>
            </a:r>
            <a:r>
              <a:rPr lang="en-US" sz="2000" dirty="0" err="1" smtClean="0"/>
              <a:t>int</a:t>
            </a:r>
            <a:r>
              <a:rPr lang="en-US" sz="2000" dirty="0" smtClean="0"/>
              <a:t> </a:t>
            </a:r>
            <a:r>
              <a:rPr lang="en-US" sz="2000" dirty="0" err="1" smtClean="0"/>
              <a:t>gi0</a:t>
            </a:r>
            <a:r>
              <a:rPr lang="en-US" sz="2000" dirty="0" smtClean="0"/>
              <a:t>/14  </a:t>
            </a:r>
            <a:r>
              <a:rPr lang="en-US" sz="2000" dirty="0" smtClean="0">
                <a:sym typeface="Wingdings" pitchFamily="2" charset="2"/>
              </a:rPr>
              <a:t> </a:t>
            </a:r>
            <a:r>
              <a:rPr lang="en-US" sz="2000" dirty="0" err="1" smtClean="0">
                <a:solidFill>
                  <a:srgbClr val="FF3300"/>
                </a:solidFill>
                <a:sym typeface="Wingdings" pitchFamily="2" charset="2"/>
              </a:rPr>
              <a:t>kết</a:t>
            </a:r>
            <a:r>
              <a:rPr lang="en-US" sz="2000" dirty="0" smtClean="0">
                <a:solidFill>
                  <a:srgbClr val="FF3300"/>
                </a:solidFill>
                <a:sym typeface="Wingdings" pitchFamily="2" charset="2"/>
              </a:rPr>
              <a:t> </a:t>
            </a:r>
            <a:r>
              <a:rPr lang="en-US" sz="2000" dirty="0" err="1" smtClean="0">
                <a:solidFill>
                  <a:srgbClr val="FF3300"/>
                </a:solidFill>
                <a:sym typeface="Wingdings" pitchFamily="2" charset="2"/>
              </a:rPr>
              <a:t>nối</a:t>
            </a:r>
            <a:r>
              <a:rPr lang="en-US" sz="2000" dirty="0" smtClean="0">
                <a:solidFill>
                  <a:srgbClr val="FF3300"/>
                </a:solidFill>
                <a:sym typeface="Wingdings" pitchFamily="2" charset="2"/>
              </a:rPr>
              <a:t> </a:t>
            </a:r>
            <a:r>
              <a:rPr lang="en-US" sz="2000" dirty="0" err="1" smtClean="0">
                <a:solidFill>
                  <a:srgbClr val="FF3300"/>
                </a:solidFill>
                <a:sym typeface="Wingdings" pitchFamily="2" charset="2"/>
              </a:rPr>
              <a:t>với</a:t>
            </a:r>
            <a:r>
              <a:rPr lang="en-US" sz="2000" dirty="0" smtClean="0">
                <a:solidFill>
                  <a:srgbClr val="FF3300"/>
                </a:solidFill>
                <a:sym typeface="Wingdings" pitchFamily="2" charset="2"/>
              </a:rPr>
              <a:t> </a:t>
            </a:r>
            <a:r>
              <a:rPr lang="en-US" sz="2000" dirty="0" err="1" smtClean="0">
                <a:solidFill>
                  <a:srgbClr val="FF3300"/>
                </a:solidFill>
                <a:sym typeface="Wingdings" pitchFamily="2" charset="2"/>
              </a:rPr>
              <a:t>DHCP</a:t>
            </a:r>
            <a:r>
              <a:rPr lang="en-US" sz="2000" dirty="0" smtClean="0">
                <a:solidFill>
                  <a:srgbClr val="FF3300"/>
                </a:solidFill>
                <a:sym typeface="Wingdings" pitchFamily="2" charset="2"/>
              </a:rPr>
              <a:t> server/up-link/trunk</a:t>
            </a:r>
            <a:endParaRPr lang="en-US" sz="2000" dirty="0" smtClean="0">
              <a:solidFill>
                <a:srgbClr val="FF3300"/>
              </a:solidFill>
            </a:endParaRPr>
          </a:p>
          <a:p>
            <a:pPr marL="385763" lvl="1" indent="0">
              <a:buNone/>
            </a:pPr>
            <a:r>
              <a:rPr lang="en-US" sz="2000" dirty="0"/>
              <a:t> </a:t>
            </a:r>
            <a:r>
              <a:rPr lang="en-US" sz="2000" dirty="0" smtClean="0"/>
              <a:t>    SW(</a:t>
            </a:r>
            <a:r>
              <a:rPr lang="en-US" sz="2000" dirty="0" err="1" smtClean="0"/>
              <a:t>config</a:t>
            </a:r>
            <a:r>
              <a:rPr lang="en-US" sz="2000" dirty="0" smtClean="0"/>
              <a:t>-if)#</a:t>
            </a:r>
            <a:r>
              <a:rPr lang="en-US" sz="2000" dirty="0" err="1" smtClean="0"/>
              <a:t>ip</a:t>
            </a:r>
            <a:r>
              <a:rPr lang="en-US" sz="2000" dirty="0" smtClean="0"/>
              <a:t> </a:t>
            </a:r>
            <a:r>
              <a:rPr lang="en-US" sz="2000" dirty="0" err="1" smtClean="0"/>
              <a:t>dhcp</a:t>
            </a:r>
            <a:r>
              <a:rPr lang="en-US" sz="2000" dirty="0" smtClean="0"/>
              <a:t> snooping trust </a:t>
            </a:r>
            <a:endParaRPr lang="en-US" sz="2000" dirty="0"/>
          </a:p>
          <a:p>
            <a:pPr marL="385763" lvl="1" indent="0">
              <a:buNone/>
            </a:pPr>
            <a:endParaRPr lang="en-US" sz="2000" dirty="0" smtClean="0"/>
          </a:p>
          <a:p>
            <a:pPr marL="385763" lvl="1" indent="0">
              <a:buNone/>
            </a:pPr>
            <a:r>
              <a:rPr lang="en-US" sz="2000" dirty="0" smtClean="0"/>
              <a:t>   </a:t>
            </a:r>
            <a:endParaRPr lang="en-US" sz="2000" dirty="0"/>
          </a:p>
        </p:txBody>
      </p:sp>
    </p:spTree>
    <p:extLst>
      <p:ext uri="{BB962C8B-B14F-4D97-AF65-F5344CB8AC3E}">
        <p14:creationId xmlns:p14="http://schemas.microsoft.com/office/powerpoint/2010/main" val="10426879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15962"/>
          </a:xfrm>
        </p:spPr>
        <p:txBody>
          <a:bodyPr/>
          <a:lstStyle/>
          <a:p>
            <a:r>
              <a:rPr lang="en-US" dirty="0" smtClean="0">
                <a:solidFill>
                  <a:schemeClr val="bg1"/>
                </a:solidFill>
              </a:rPr>
              <a:t>Lab</a:t>
            </a:r>
            <a:endParaRPr lang="en-US" dirty="0">
              <a:solidFill>
                <a:schemeClr val="bg1"/>
              </a:solidFill>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2915902591"/>
              </p:ext>
            </p:extLst>
          </p:nvPr>
        </p:nvGraphicFramePr>
        <p:xfrm>
          <a:off x="282045" y="838200"/>
          <a:ext cx="8579909" cy="5105400"/>
        </p:xfrm>
        <a:graphic>
          <a:graphicData uri="http://schemas.openxmlformats.org/presentationml/2006/ole">
            <mc:AlternateContent xmlns:mc="http://schemas.openxmlformats.org/markup-compatibility/2006">
              <mc:Choice xmlns:v="urn:schemas-microsoft-com:vml" Requires="v">
                <p:oleObj spid="_x0000_s1029" name="Visio" r:id="rId3" imgW="9979368" imgH="5945557" progId="Visio.Drawing.11">
                  <p:embed/>
                </p:oleObj>
              </mc:Choice>
              <mc:Fallback>
                <p:oleObj name="Visio" r:id="rId3" imgW="9979368" imgH="594555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045" y="838200"/>
                        <a:ext cx="8579909" cy="5105400"/>
                      </a:xfrm>
                      <a:prstGeom prst="rect">
                        <a:avLst/>
                      </a:prstGeom>
                      <a:noFill/>
                    </p:spPr>
                  </p:pic>
                </p:oleObj>
              </mc:Fallback>
            </mc:AlternateContent>
          </a:graphicData>
        </a:graphic>
      </p:graphicFrame>
    </p:spTree>
    <p:extLst>
      <p:ext uri="{BB962C8B-B14F-4D97-AF65-F5344CB8AC3E}">
        <p14:creationId xmlns:p14="http://schemas.microsoft.com/office/powerpoint/2010/main" val="6939635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pPr algn="ctr"/>
            <a:r>
              <a:rPr lang="en-US" dirty="0" err="1" smtClean="0">
                <a:solidFill>
                  <a:schemeClr val="bg1"/>
                </a:solidFill>
              </a:rPr>
              <a:t>Tổng</a:t>
            </a:r>
            <a:r>
              <a:rPr lang="en-US" dirty="0" smtClean="0">
                <a:solidFill>
                  <a:schemeClr val="bg1"/>
                </a:solidFill>
              </a:rPr>
              <a:t> </a:t>
            </a:r>
            <a:r>
              <a:rPr lang="en-US" dirty="0" err="1" smtClean="0">
                <a:solidFill>
                  <a:schemeClr val="bg1"/>
                </a:solidFill>
              </a:rPr>
              <a:t>kết</a:t>
            </a:r>
            <a:endParaRPr lang="en-US" dirty="0">
              <a:solidFill>
                <a:schemeClr val="bg1"/>
              </a:solidFill>
            </a:endParaRPr>
          </a:p>
        </p:txBody>
      </p:sp>
      <p:sp>
        <p:nvSpPr>
          <p:cNvPr id="3" name="Content Placeholder 2"/>
          <p:cNvSpPr>
            <a:spLocks noGrp="1"/>
          </p:cNvSpPr>
          <p:nvPr>
            <p:ph idx="1"/>
          </p:nvPr>
        </p:nvSpPr>
        <p:spPr>
          <a:xfrm>
            <a:off x="152400" y="1066800"/>
            <a:ext cx="8991600" cy="4876800"/>
          </a:xfrm>
        </p:spPr>
        <p:txBody>
          <a:bodyPr/>
          <a:lstStyle/>
          <a:p>
            <a:pPr marL="0" indent="0">
              <a:buNone/>
            </a:pPr>
            <a:r>
              <a:rPr lang="en-US" dirty="0" err="1" smtClean="0"/>
              <a:t>Mô</a:t>
            </a:r>
            <a:r>
              <a:rPr lang="en-US" dirty="0" smtClean="0"/>
              <a:t> </a:t>
            </a:r>
            <a:r>
              <a:rPr lang="en-US" dirty="0" err="1" smtClean="0"/>
              <a:t>hình</a:t>
            </a:r>
            <a:r>
              <a:rPr lang="en-US" dirty="0" smtClean="0"/>
              <a:t> 3 </a:t>
            </a:r>
            <a:r>
              <a:rPr lang="en-US" dirty="0" err="1" smtClean="0"/>
              <a:t>lớp</a:t>
            </a:r>
            <a:r>
              <a:rPr lang="en-US" dirty="0" smtClean="0"/>
              <a:t>: </a:t>
            </a:r>
            <a:r>
              <a:rPr lang="en-US" dirty="0" err="1" smtClean="0"/>
              <a:t>dùng</a:t>
            </a:r>
            <a:r>
              <a:rPr lang="en-US" dirty="0" smtClean="0"/>
              <a:t> </a:t>
            </a:r>
            <a:r>
              <a:rPr lang="en-US" dirty="0" err="1" smtClean="0"/>
              <a:t>trong</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lớn</a:t>
            </a:r>
            <a:endParaRPr lang="en-US" dirty="0" smtClean="0"/>
          </a:p>
          <a:p>
            <a:pPr lvl="1">
              <a:buFont typeface="Arial" pitchFamily="34" charset="0"/>
              <a:buChar char="•"/>
            </a:pPr>
            <a:r>
              <a:rPr lang="en-US" sz="2400" dirty="0" smtClean="0"/>
              <a:t> Core </a:t>
            </a:r>
          </a:p>
          <a:p>
            <a:pPr lvl="1">
              <a:buFont typeface="Arial" pitchFamily="34" charset="0"/>
              <a:buChar char="•"/>
            </a:pPr>
            <a:r>
              <a:rPr lang="en-US" sz="2400" dirty="0" smtClean="0"/>
              <a:t> Distribution: </a:t>
            </a:r>
          </a:p>
          <a:p>
            <a:pPr marL="766763" lvl="2" indent="0">
              <a:buNone/>
            </a:pPr>
            <a:r>
              <a:rPr lang="en-US" i="1" dirty="0" err="1">
                <a:solidFill>
                  <a:srgbClr val="FF0000"/>
                </a:solidFill>
              </a:rPr>
              <a:t>q</a:t>
            </a:r>
            <a:r>
              <a:rPr lang="en-US" i="1" dirty="0" err="1" smtClean="0">
                <a:solidFill>
                  <a:srgbClr val="FF0000"/>
                </a:solidFill>
              </a:rPr>
              <a:t>uản</a:t>
            </a:r>
            <a:r>
              <a:rPr lang="en-US" i="1" dirty="0" smtClean="0">
                <a:solidFill>
                  <a:srgbClr val="FF0000"/>
                </a:solidFill>
              </a:rPr>
              <a:t> </a:t>
            </a:r>
            <a:r>
              <a:rPr lang="en-US" i="1" dirty="0" err="1" smtClean="0">
                <a:solidFill>
                  <a:srgbClr val="FF0000"/>
                </a:solidFill>
              </a:rPr>
              <a:t>lý</a:t>
            </a:r>
            <a:r>
              <a:rPr lang="en-US" i="1" dirty="0" smtClean="0">
                <a:solidFill>
                  <a:srgbClr val="FF0000"/>
                </a:solidFill>
              </a:rPr>
              <a:t> ở </a:t>
            </a:r>
            <a:r>
              <a:rPr lang="en-US" i="1" dirty="0" err="1" smtClean="0">
                <a:solidFill>
                  <a:srgbClr val="FF0000"/>
                </a:solidFill>
              </a:rPr>
              <a:t>mỗi</a:t>
            </a:r>
            <a:r>
              <a:rPr lang="en-US" i="1" dirty="0" smtClean="0">
                <a:solidFill>
                  <a:srgbClr val="FF0000"/>
                </a:solidFill>
              </a:rPr>
              <a:t> building (</a:t>
            </a:r>
            <a:r>
              <a:rPr lang="en-US" i="1" dirty="0" err="1" smtClean="0">
                <a:solidFill>
                  <a:srgbClr val="FF0000"/>
                </a:solidFill>
              </a:rPr>
              <a:t>trong</a:t>
            </a:r>
            <a:r>
              <a:rPr lang="en-US" i="1" dirty="0" smtClean="0">
                <a:solidFill>
                  <a:srgbClr val="FF0000"/>
                </a:solidFill>
              </a:rPr>
              <a:t> campus </a:t>
            </a:r>
            <a:r>
              <a:rPr lang="en-US" i="1" dirty="0" err="1" smtClean="0">
                <a:solidFill>
                  <a:srgbClr val="FF0000"/>
                </a:solidFill>
              </a:rPr>
              <a:t>có</a:t>
            </a:r>
            <a:r>
              <a:rPr lang="en-US" i="1" dirty="0" smtClean="0">
                <a:solidFill>
                  <a:srgbClr val="FF0000"/>
                </a:solidFill>
              </a:rPr>
              <a:t> </a:t>
            </a:r>
            <a:r>
              <a:rPr lang="en-US" i="1" dirty="0" err="1" smtClean="0">
                <a:solidFill>
                  <a:srgbClr val="FF0000"/>
                </a:solidFill>
              </a:rPr>
              <a:t>nhiều</a:t>
            </a:r>
            <a:r>
              <a:rPr lang="en-US" i="1" dirty="0" smtClean="0">
                <a:solidFill>
                  <a:srgbClr val="FF0000"/>
                </a:solidFill>
              </a:rPr>
              <a:t> building)</a:t>
            </a:r>
          </a:p>
          <a:p>
            <a:pPr lvl="1">
              <a:buFont typeface="Arial" pitchFamily="34" charset="0"/>
              <a:buChar char="•"/>
            </a:pPr>
            <a:r>
              <a:rPr lang="en-US" sz="2400" dirty="0" smtClean="0"/>
              <a:t> Access</a:t>
            </a:r>
          </a:p>
          <a:p>
            <a:pPr marL="0" indent="0">
              <a:buNone/>
            </a:pPr>
            <a:r>
              <a:rPr lang="en-US" dirty="0" err="1"/>
              <a:t>Mô</a:t>
            </a:r>
            <a:r>
              <a:rPr lang="en-US" dirty="0"/>
              <a:t> </a:t>
            </a:r>
            <a:r>
              <a:rPr lang="en-US" dirty="0" err="1"/>
              <a:t>hình</a:t>
            </a:r>
            <a:r>
              <a:rPr lang="en-US" dirty="0"/>
              <a:t> </a:t>
            </a:r>
            <a:r>
              <a:rPr lang="en-US" dirty="0" err="1" smtClean="0"/>
              <a:t>tích</a:t>
            </a:r>
            <a:r>
              <a:rPr lang="en-US" dirty="0" smtClean="0"/>
              <a:t> </a:t>
            </a:r>
            <a:r>
              <a:rPr lang="en-US" dirty="0" err="1" smtClean="0"/>
              <a:t>hợp</a:t>
            </a:r>
            <a:r>
              <a:rPr lang="en-US" dirty="0" smtClean="0"/>
              <a:t>: </a:t>
            </a:r>
            <a:r>
              <a:rPr lang="en-US" dirty="0" err="1" smtClean="0"/>
              <a:t>dùng</a:t>
            </a:r>
            <a:r>
              <a:rPr lang="en-US" dirty="0" smtClean="0"/>
              <a:t> </a:t>
            </a:r>
            <a:r>
              <a:rPr lang="en-US" dirty="0" err="1" smtClean="0"/>
              <a:t>trong</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vừa</a:t>
            </a:r>
            <a:r>
              <a:rPr lang="en-US" dirty="0" smtClean="0"/>
              <a:t> &amp; </a:t>
            </a:r>
            <a:r>
              <a:rPr lang="en-US" dirty="0" err="1" smtClean="0"/>
              <a:t>nhỏ</a:t>
            </a:r>
            <a:endParaRPr lang="en-US" dirty="0" smtClean="0"/>
          </a:p>
          <a:p>
            <a:pPr lvl="1">
              <a:buFont typeface="Arial" pitchFamily="34" charset="0"/>
              <a:buChar char="•"/>
            </a:pPr>
            <a:r>
              <a:rPr lang="en-US" dirty="0" smtClean="0"/>
              <a:t>Core/Distribution</a:t>
            </a:r>
          </a:p>
          <a:p>
            <a:pPr lvl="1">
              <a:buFont typeface="Arial" pitchFamily="34" charset="0"/>
              <a:buChar char="•"/>
            </a:pPr>
            <a:r>
              <a:rPr lang="en-US" dirty="0" smtClean="0"/>
              <a:t>Access</a:t>
            </a:r>
            <a:endParaRPr lang="en-US" dirty="0"/>
          </a:p>
          <a:p>
            <a:pPr lvl="1">
              <a:buFont typeface="Arial" pitchFamily="34" charset="0"/>
              <a:buChar char="•"/>
            </a:pPr>
            <a:endParaRPr lang="en-US" dirty="0" smtClean="0"/>
          </a:p>
        </p:txBody>
      </p:sp>
    </p:spTree>
    <p:extLst>
      <p:ext uri="{BB962C8B-B14F-4D97-AF65-F5344CB8AC3E}">
        <p14:creationId xmlns:p14="http://schemas.microsoft.com/office/powerpoint/2010/main" val="3812426045"/>
      </p:ext>
    </p:extLst>
  </p:cSld>
  <p:clrMapOvr>
    <a:masterClrMapping/>
  </p:clrMapOvr>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7CD2"/>
      </a:hlink>
      <a:folHlink>
        <a:srgbClr val="003B73"/>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ＭＳ Ｐゴシック"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ＭＳ Ｐゴシック" pitchFamily="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4570</TotalTime>
  <Words>4116</Words>
  <Application>Microsoft Office PowerPoint</Application>
  <PresentationFormat>On-screen Show (4:3)</PresentationFormat>
  <Paragraphs>263</Paragraphs>
  <Slides>50</Slides>
  <Notes>7</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50</vt:i4>
      </vt:variant>
    </vt:vector>
  </HeadingPairs>
  <TitlesOfParts>
    <vt:vector size="53" baseType="lpstr">
      <vt:lpstr>Blank Presentation</vt:lpstr>
      <vt:lpstr>Custom Design</vt:lpstr>
      <vt:lpstr>Visio</vt:lpstr>
      <vt:lpstr>PowerPoint Presentation</vt:lpstr>
      <vt:lpstr>Review</vt:lpstr>
      <vt:lpstr>PowerPoint Presentation</vt:lpstr>
      <vt:lpstr>PowerPoint Presentation</vt:lpstr>
      <vt:lpstr>PowerPoint Presentation</vt:lpstr>
      <vt:lpstr>PowerPoint Presentation</vt:lpstr>
      <vt:lpstr>PowerPoint Presentation</vt:lpstr>
      <vt:lpstr>PowerPoint Presentation</vt:lpstr>
      <vt:lpstr>Nội dung</vt:lpstr>
      <vt:lpstr>1. Giới thiệu</vt:lpstr>
      <vt:lpstr>1. Giới thiệu</vt:lpstr>
      <vt:lpstr>2. Một số yêu cầu tổng quát</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3. Thiết kế mạng phân lớp</vt:lpstr>
      <vt:lpstr>4. Các yếu tố cần xem xét</vt:lpstr>
      <vt:lpstr>4. Các yếu tố cần xem xét</vt:lpstr>
      <vt:lpstr>4. Các yếu tố cần xem xét</vt:lpstr>
      <vt:lpstr>4. Các yếu tố cần xem xét</vt:lpstr>
      <vt:lpstr>4. Các yếu tố cần xem xét</vt:lpstr>
      <vt:lpstr>4. Các yếu tố cần xem xét</vt:lpstr>
      <vt:lpstr>5. Thiết kế dạng module</vt:lpstr>
      <vt:lpstr>5. Thiết kế dạng module</vt:lpstr>
      <vt:lpstr>HD: Viết phần Tóm tắt và Mục tiêu của dự án</vt:lpstr>
      <vt:lpstr>Yêu cầu của khách hàng</vt:lpstr>
      <vt:lpstr>Yêu cầu của khách hàng</vt:lpstr>
      <vt:lpstr>Phản hồi yêu cầu của khách hàng</vt:lpstr>
      <vt:lpstr>Phản hồi yêu cầu của khách hàng</vt:lpstr>
      <vt:lpstr>PowerPoint Presentation</vt:lpstr>
      <vt:lpstr>TLTK – phần Tóm tắt</vt:lpstr>
      <vt:lpstr>TLTK – phần Mục tiêu của dự án</vt:lpstr>
      <vt:lpstr>TLTK – phần Phạm vi của dự án</vt:lpstr>
      <vt:lpstr>TLTK – phần Yêu cầu thiết kế</vt:lpstr>
      <vt:lpstr>TLTK – phần Yêu cầu thiết kế</vt:lpstr>
      <vt:lpstr>Nhắc lại</vt:lpstr>
      <vt:lpstr>Lab</vt:lpstr>
      <vt:lpstr>Tổng kết</vt:lpstr>
    </vt:vector>
  </TitlesOfParts>
  <Company>Brains Design &amp; Writing Pty 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Kristina</dc:creator>
  <cp:lastModifiedBy>Administrator</cp:lastModifiedBy>
  <cp:revision>536</cp:revision>
  <cp:lastPrinted>2007-12-06T04:31:24Z</cp:lastPrinted>
  <dcterms:modified xsi:type="dcterms:W3CDTF">2021-09-07T07:20:02Z</dcterms:modified>
</cp:coreProperties>
</file>