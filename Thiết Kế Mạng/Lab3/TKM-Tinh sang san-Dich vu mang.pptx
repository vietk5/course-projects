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714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hyperlink" Target="http://192.168.12.254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92.168.12.253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742950"/>
            <a:ext cx="7772400" cy="21740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5300" b="1" dirty="0" smtClean="0">
                <a:solidFill>
                  <a:srgbClr val="002060"/>
                </a:solidFill>
              </a:rPr>
              <a:t>HD </a:t>
            </a:r>
            <a:r>
              <a:rPr lang="en-US" sz="5300" b="1" dirty="0" err="1" smtClean="0">
                <a:solidFill>
                  <a:srgbClr val="002060"/>
                </a:solidFill>
              </a:rPr>
              <a:t>cấu</a:t>
            </a:r>
            <a:r>
              <a:rPr lang="en-US" sz="5300" b="1" dirty="0" smtClean="0">
                <a:solidFill>
                  <a:srgbClr val="002060"/>
                </a:solidFill>
              </a:rPr>
              <a:t> </a:t>
            </a:r>
            <a:r>
              <a:rPr lang="en-US" sz="5300" b="1" dirty="0" err="1" smtClean="0">
                <a:solidFill>
                  <a:srgbClr val="002060"/>
                </a:solidFill>
              </a:rPr>
              <a:t>hình</a:t>
            </a:r>
            <a:r>
              <a:rPr lang="en-US" sz="5300" b="1" dirty="0" smtClean="0">
                <a:solidFill>
                  <a:srgbClr val="002060"/>
                </a:solidFill>
              </a:rPr>
              <a:t> </a:t>
            </a:r>
            <a:r>
              <a:rPr lang="en-US" sz="5300" b="1" dirty="0" err="1" smtClean="0">
                <a:solidFill>
                  <a:srgbClr val="002060"/>
                </a:solidFill>
              </a:rPr>
              <a:t>tính</a:t>
            </a:r>
            <a:r>
              <a:rPr lang="en-US" sz="5300" b="1" dirty="0" smtClean="0">
                <a:solidFill>
                  <a:srgbClr val="002060"/>
                </a:solidFill>
              </a:rPr>
              <a:t> </a:t>
            </a:r>
            <a:r>
              <a:rPr lang="en-US" sz="5300" b="1" dirty="0" err="1" smtClean="0">
                <a:solidFill>
                  <a:srgbClr val="002060"/>
                </a:solidFill>
              </a:rPr>
              <a:t>sẵn</a:t>
            </a:r>
            <a:r>
              <a:rPr lang="en-US" sz="5300" b="1" dirty="0" smtClean="0">
                <a:solidFill>
                  <a:srgbClr val="002060"/>
                </a:solidFill>
              </a:rPr>
              <a:t> </a:t>
            </a:r>
            <a:r>
              <a:rPr lang="en-US" sz="5300" b="1" dirty="0" err="1" smtClean="0">
                <a:solidFill>
                  <a:srgbClr val="002060"/>
                </a:solidFill>
              </a:rPr>
              <a:t>sàng</a:t>
            </a:r>
            <a:r>
              <a:rPr lang="en-US" sz="5300" b="1" dirty="0" smtClean="0">
                <a:solidFill>
                  <a:srgbClr val="002060"/>
                </a:solidFill>
              </a:rPr>
              <a:t> </a:t>
            </a:r>
            <a:r>
              <a:rPr lang="en-US" sz="5300" b="1" dirty="0" err="1" smtClean="0">
                <a:solidFill>
                  <a:srgbClr val="002060"/>
                </a:solidFill>
              </a:rPr>
              <a:t>cho</a:t>
            </a:r>
            <a:r>
              <a:rPr lang="en-US" sz="5300" b="1" dirty="0" smtClean="0">
                <a:solidFill>
                  <a:srgbClr val="002060"/>
                </a:solidFill>
              </a:rPr>
              <a:t> </a:t>
            </a:r>
            <a:r>
              <a:rPr lang="en-US" sz="5300" b="1" dirty="0" err="1" smtClean="0">
                <a:solidFill>
                  <a:srgbClr val="002060"/>
                </a:solidFill>
              </a:rPr>
              <a:t>Dịch</a:t>
            </a:r>
            <a:r>
              <a:rPr lang="en-US" sz="5300" b="1" dirty="0" smtClean="0">
                <a:solidFill>
                  <a:srgbClr val="002060"/>
                </a:solidFill>
              </a:rPr>
              <a:t> </a:t>
            </a:r>
            <a:r>
              <a:rPr lang="en-US" sz="5300" b="1" dirty="0" err="1" smtClean="0">
                <a:solidFill>
                  <a:srgbClr val="002060"/>
                </a:solidFill>
              </a:rPr>
              <a:t>vụ</a:t>
            </a:r>
            <a:r>
              <a:rPr lang="en-US" sz="5300" b="1" dirty="0" smtClean="0">
                <a:solidFill>
                  <a:srgbClr val="002060"/>
                </a:solidFill>
              </a:rPr>
              <a:t> </a:t>
            </a:r>
            <a:r>
              <a:rPr lang="en-US" sz="5300" b="1" dirty="0" err="1" smtClean="0">
                <a:solidFill>
                  <a:srgbClr val="002060"/>
                </a:solidFill>
              </a:rPr>
              <a:t>mạng</a:t>
            </a:r>
            <a:endParaRPr lang="en-US" sz="53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51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DHCP</a:t>
            </a:r>
            <a:endParaRPr lang="en-US" dirty="0" smtClean="0"/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Web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 smtClean="0"/>
              <a:t>Domain Controller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smtClean="0"/>
              <a:t>DNS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 smtClean="0"/>
              <a:t>Database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1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 err="1">
                <a:solidFill>
                  <a:srgbClr val="FF0000"/>
                </a:solidFill>
              </a:rPr>
              <a:t>DHCP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là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dịch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vụ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cấp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phát</a:t>
            </a:r>
            <a:r>
              <a:rPr lang="en-US" sz="2400" dirty="0">
                <a:solidFill>
                  <a:srgbClr val="FF0000"/>
                </a:solidFill>
              </a:rPr>
              <a:t> IP </a:t>
            </a:r>
            <a:r>
              <a:rPr lang="en-US" sz="2400" dirty="0" err="1">
                <a:solidFill>
                  <a:srgbClr val="FF0000"/>
                </a:solidFill>
              </a:rPr>
              <a:t>tự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động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cho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các</a:t>
            </a:r>
            <a:r>
              <a:rPr lang="en-US" sz="2400" dirty="0">
                <a:solidFill>
                  <a:srgbClr val="FF0000"/>
                </a:solidFill>
              </a:rPr>
              <a:t> host </a:t>
            </a:r>
            <a:r>
              <a:rPr lang="en-US" sz="2400" dirty="0" err="1">
                <a:solidFill>
                  <a:srgbClr val="FF0000"/>
                </a:solidFill>
              </a:rPr>
              <a:t>trong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mạng</a:t>
            </a:r>
            <a:r>
              <a:rPr lang="en-US" sz="2400" dirty="0">
                <a:solidFill>
                  <a:srgbClr val="002060"/>
                </a:solidFill>
              </a:rPr>
              <a:t>. </a:t>
            </a:r>
            <a:r>
              <a:rPr lang="en-US" sz="2400" dirty="0" err="1">
                <a:solidFill>
                  <a:srgbClr val="002060"/>
                </a:solidFill>
              </a:rPr>
              <a:t>Một</a:t>
            </a:r>
            <a:r>
              <a:rPr lang="en-US" sz="2400" dirty="0">
                <a:solidFill>
                  <a:srgbClr val="002060"/>
                </a:solidFill>
              </a:rPr>
              <a:t> host </a:t>
            </a:r>
            <a:r>
              <a:rPr lang="en-US" sz="2400" dirty="0" err="1">
                <a:solidFill>
                  <a:srgbClr val="002060"/>
                </a:solidFill>
              </a:rPr>
              <a:t>trong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hệ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thống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cần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cấu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hình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địa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chỉ</a:t>
            </a:r>
            <a:r>
              <a:rPr lang="en-US" sz="2400" dirty="0">
                <a:solidFill>
                  <a:srgbClr val="002060"/>
                </a:solidFill>
              </a:rPr>
              <a:t> IP </a:t>
            </a:r>
            <a:r>
              <a:rPr lang="en-US" sz="2400" dirty="0" err="1">
                <a:solidFill>
                  <a:srgbClr val="002060"/>
                </a:solidFill>
              </a:rPr>
              <a:t>để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có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thể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liên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lạc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với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các</a:t>
            </a:r>
            <a:r>
              <a:rPr lang="en-US" sz="2400" dirty="0">
                <a:solidFill>
                  <a:srgbClr val="002060"/>
                </a:solidFill>
              </a:rPr>
              <a:t> host </a:t>
            </a:r>
            <a:r>
              <a:rPr lang="en-US" sz="2400" dirty="0" err="1" smtClean="0">
                <a:solidFill>
                  <a:srgbClr val="002060"/>
                </a:solidFill>
              </a:rPr>
              <a:t>khác</a:t>
            </a:r>
            <a:endParaRPr lang="en-US" sz="2400" dirty="0" smtClean="0">
              <a:solidFill>
                <a:srgbClr val="002060"/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 err="1">
                <a:solidFill>
                  <a:srgbClr val="002060"/>
                </a:solidFill>
              </a:rPr>
              <a:t>Ngoài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các</a:t>
            </a:r>
            <a:r>
              <a:rPr lang="en-US" sz="2400" dirty="0">
                <a:solidFill>
                  <a:srgbClr val="002060"/>
                </a:solidFill>
              </a:rPr>
              <a:t> server </a:t>
            </a:r>
            <a:r>
              <a:rPr lang="en-US" sz="2400" dirty="0" err="1">
                <a:solidFill>
                  <a:srgbClr val="002060"/>
                </a:solidFill>
              </a:rPr>
              <a:t>các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thiết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bị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mạng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được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cài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đặt</a:t>
            </a:r>
            <a:r>
              <a:rPr lang="en-US" sz="2400" dirty="0">
                <a:solidFill>
                  <a:srgbClr val="002060"/>
                </a:solidFill>
              </a:rPr>
              <a:t> IP </a:t>
            </a:r>
            <a:r>
              <a:rPr lang="en-US" sz="2400" dirty="0" err="1">
                <a:solidFill>
                  <a:srgbClr val="002060"/>
                </a:solidFill>
              </a:rPr>
              <a:t>tĩnh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thì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các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thiết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bị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người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dùng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cuối</a:t>
            </a:r>
            <a:r>
              <a:rPr lang="en-US" sz="2400" dirty="0">
                <a:solidFill>
                  <a:srgbClr val="FF0000"/>
                </a:solidFill>
              </a:rPr>
              <a:t> (host) </a:t>
            </a:r>
            <a:r>
              <a:rPr lang="en-US" sz="2400" dirty="0" err="1">
                <a:solidFill>
                  <a:srgbClr val="FF0000"/>
                </a:solidFill>
              </a:rPr>
              <a:t>được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cung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cấp</a:t>
            </a:r>
            <a:r>
              <a:rPr lang="en-US" sz="2400" dirty="0">
                <a:solidFill>
                  <a:srgbClr val="FF0000"/>
                </a:solidFill>
              </a:rPr>
              <a:t> IP </a:t>
            </a:r>
            <a:r>
              <a:rPr lang="en-US" sz="2400" dirty="0" err="1">
                <a:solidFill>
                  <a:srgbClr val="FF0000"/>
                </a:solidFill>
              </a:rPr>
              <a:t>tự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động</a:t>
            </a:r>
            <a:r>
              <a:rPr lang="en-US" sz="2400" dirty="0">
                <a:solidFill>
                  <a:srgbClr val="FF0000"/>
                </a:solidFill>
              </a:rPr>
              <a:t> qua </a:t>
            </a:r>
            <a:r>
              <a:rPr lang="en-US" sz="2400" dirty="0" err="1">
                <a:solidFill>
                  <a:srgbClr val="FF0000"/>
                </a:solidFill>
              </a:rPr>
              <a:t>dịch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vụ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DHCP</a:t>
            </a:r>
            <a:r>
              <a:rPr lang="en-US" sz="2400" dirty="0" smtClean="0">
                <a:solidFill>
                  <a:srgbClr val="002060"/>
                </a:solidFill>
              </a:rPr>
              <a:t>. </a:t>
            </a:r>
            <a:r>
              <a:rPr lang="en-US" sz="2400" dirty="0">
                <a:solidFill>
                  <a:srgbClr val="002060"/>
                </a:solidFill>
              </a:rPr>
              <a:t>Do </a:t>
            </a:r>
            <a:r>
              <a:rPr lang="en-US" sz="2400" dirty="0" err="1">
                <a:solidFill>
                  <a:srgbClr val="002060"/>
                </a:solidFill>
              </a:rPr>
              <a:t>đó</a:t>
            </a:r>
            <a:r>
              <a:rPr lang="en-US" sz="2400" dirty="0">
                <a:solidFill>
                  <a:srgbClr val="002060"/>
                </a:solidFill>
              </a:rPr>
              <a:t>, </a:t>
            </a:r>
            <a:r>
              <a:rPr lang="en-US" sz="2400" dirty="0" err="1">
                <a:solidFill>
                  <a:srgbClr val="002060"/>
                </a:solidFill>
              </a:rPr>
              <a:t>đây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là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dịch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vụ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có</a:t>
            </a:r>
            <a:r>
              <a:rPr lang="en-US" sz="2400" dirty="0">
                <a:solidFill>
                  <a:srgbClr val="002060"/>
                </a:solidFill>
              </a:rPr>
              <a:t> ý </a:t>
            </a:r>
            <a:r>
              <a:rPr lang="en-US" sz="2400" dirty="0" err="1">
                <a:solidFill>
                  <a:srgbClr val="002060"/>
                </a:solidFill>
              </a:rPr>
              <a:t>nghĩa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quan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trọng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trong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một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hệ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thống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mạng</a:t>
            </a:r>
            <a:r>
              <a:rPr lang="en-US" sz="2400" dirty="0">
                <a:solidFill>
                  <a:srgbClr val="002060"/>
                </a:solidFill>
              </a:rPr>
              <a:t>. </a:t>
            </a:r>
            <a:endParaRPr lang="en-US" sz="2400" dirty="0" smtClean="0">
              <a:solidFill>
                <a:srgbClr val="002060"/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 err="1">
                <a:solidFill>
                  <a:srgbClr val="002060"/>
                </a:solidFill>
              </a:rPr>
              <a:t>Chức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năng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DHCP</a:t>
            </a:r>
            <a:r>
              <a:rPr lang="en-US" sz="2400" b="1" dirty="0">
                <a:solidFill>
                  <a:srgbClr val="002060"/>
                </a:solidFill>
              </a:rPr>
              <a:t> failover </a:t>
            </a:r>
            <a:r>
              <a:rPr lang="en-US" sz="2400" dirty="0" err="1">
                <a:solidFill>
                  <a:srgbClr val="002060"/>
                </a:solidFill>
              </a:rPr>
              <a:t>giúp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tạo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hệ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thống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DHCP</a:t>
            </a:r>
            <a:r>
              <a:rPr lang="en-US" sz="2400" dirty="0">
                <a:solidFill>
                  <a:srgbClr val="002060"/>
                </a:solidFill>
              </a:rPr>
              <a:t> server </a:t>
            </a:r>
            <a:r>
              <a:rPr lang="en-US" sz="2400" dirty="0" err="1">
                <a:solidFill>
                  <a:srgbClr val="002060"/>
                </a:solidFill>
              </a:rPr>
              <a:t>có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khả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năng</a:t>
            </a:r>
            <a:r>
              <a:rPr lang="en-US" sz="2400" dirty="0">
                <a:solidFill>
                  <a:srgbClr val="002060"/>
                </a:solidFill>
              </a:rPr>
              <a:t> chia </a:t>
            </a:r>
            <a:r>
              <a:rPr lang="en-US" sz="2400" dirty="0" err="1">
                <a:solidFill>
                  <a:srgbClr val="002060"/>
                </a:solidFill>
              </a:rPr>
              <a:t>tải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và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dự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phòng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cho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DHCP</a:t>
            </a:r>
            <a:r>
              <a:rPr lang="en-US" sz="2400" dirty="0">
                <a:solidFill>
                  <a:srgbClr val="002060"/>
                </a:solidFill>
              </a:rPr>
              <a:t> server </a:t>
            </a:r>
            <a:r>
              <a:rPr lang="en-US" sz="2400" dirty="0" err="1">
                <a:solidFill>
                  <a:srgbClr val="002060"/>
                </a:solidFill>
              </a:rPr>
              <a:t>chính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47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857250"/>
          </a:xfrm>
        </p:spPr>
        <p:txBody>
          <a:bodyPr>
            <a:normAutofit/>
          </a:bodyPr>
          <a:lstStyle/>
          <a:p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DHCP</a:t>
            </a:r>
            <a:r>
              <a:rPr lang="en-US" sz="2400" dirty="0"/>
              <a:t> Failover </a:t>
            </a:r>
            <a:r>
              <a:rPr lang="en-US" sz="2400" dirty="0" err="1"/>
              <a:t>cung</a:t>
            </a:r>
            <a:r>
              <a:rPr lang="en-US" sz="2400" dirty="0"/>
              <a:t> </a:t>
            </a:r>
            <a:r>
              <a:rPr lang="en-US" sz="2400" dirty="0" err="1"/>
              <a:t>cấp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cấp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IP </a:t>
            </a:r>
            <a:r>
              <a:rPr lang="en-US" sz="2400" dirty="0" err="1"/>
              <a:t>giữa</a:t>
            </a:r>
            <a:r>
              <a:rPr lang="en-US" sz="2400" dirty="0"/>
              <a:t> </a:t>
            </a:r>
            <a:r>
              <a:rPr lang="en-US" sz="2400" dirty="0" err="1"/>
              <a:t>DHCP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DHCP</a:t>
            </a:r>
            <a:r>
              <a:rPr lang="en-US" sz="2400" dirty="0"/>
              <a:t> Server.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370602"/>
              </p:ext>
            </p:extLst>
          </p:nvPr>
        </p:nvGraphicFramePr>
        <p:xfrm>
          <a:off x="184731" y="2495550"/>
          <a:ext cx="4539669" cy="1893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Visio" r:id="rId3" imgW="5259798" imgH="2526848" progId="Visio.Drawing.11">
                  <p:embed/>
                </p:oleObj>
              </mc:Choice>
              <mc:Fallback>
                <p:oleObj name="Visio" r:id="rId3" imgW="5259798" imgH="252684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31" y="2495550"/>
                        <a:ext cx="4539669" cy="189309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4495800" y="2353092"/>
            <a:ext cx="4572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 err="1"/>
              <a:t>Chuẩn</a:t>
            </a:r>
            <a:r>
              <a:rPr lang="en-US" sz="1600" dirty="0"/>
              <a:t> </a:t>
            </a:r>
            <a:r>
              <a:rPr lang="en-US" sz="1600" dirty="0" err="1"/>
              <a:t>bị</a:t>
            </a:r>
            <a:r>
              <a:rPr lang="en-US" sz="1600" dirty="0"/>
              <a:t>:</a:t>
            </a:r>
          </a:p>
          <a:p>
            <a:pPr lvl="0"/>
            <a:r>
              <a:rPr lang="en-US" sz="1600" dirty="0"/>
              <a:t>2 </a:t>
            </a:r>
            <a:r>
              <a:rPr lang="en-US" sz="1600" dirty="0" err="1"/>
              <a:t>máy</a:t>
            </a:r>
            <a:r>
              <a:rPr lang="en-US" sz="1600" dirty="0"/>
              <a:t> Windows Server 2016 </a:t>
            </a:r>
            <a:r>
              <a:rPr lang="en-US" sz="1600" dirty="0" err="1"/>
              <a:t>cài</a:t>
            </a:r>
            <a:r>
              <a:rPr lang="en-US" sz="1600" dirty="0"/>
              <a:t> </a:t>
            </a:r>
            <a:r>
              <a:rPr lang="en-US" sz="1600" dirty="0" err="1"/>
              <a:t>dịch</a:t>
            </a:r>
            <a:r>
              <a:rPr lang="en-US" sz="1600" dirty="0"/>
              <a:t> </a:t>
            </a:r>
            <a:r>
              <a:rPr lang="en-US" sz="1600" dirty="0" err="1"/>
              <a:t>vụ</a:t>
            </a:r>
            <a:r>
              <a:rPr lang="en-US" sz="1600" dirty="0"/>
              <a:t> </a:t>
            </a:r>
            <a:r>
              <a:rPr lang="en-US" sz="1600" dirty="0" err="1"/>
              <a:t>DHCP</a:t>
            </a:r>
            <a:endParaRPr lang="en-US" sz="1600" dirty="0"/>
          </a:p>
          <a:p>
            <a:pPr lvl="0"/>
            <a:r>
              <a:rPr lang="en-US" sz="1600" dirty="0" err="1"/>
              <a:t>Máy</a:t>
            </a:r>
            <a:r>
              <a:rPr lang="en-US" sz="1600" dirty="0"/>
              <a:t> Client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kiểm</a:t>
            </a:r>
            <a:r>
              <a:rPr lang="en-US" sz="1600" dirty="0"/>
              <a:t> </a:t>
            </a:r>
            <a:r>
              <a:rPr lang="en-US" sz="1600" dirty="0" err="1"/>
              <a:t>tra</a:t>
            </a:r>
            <a:r>
              <a:rPr lang="en-US" sz="1600" dirty="0"/>
              <a:t> </a:t>
            </a:r>
            <a:r>
              <a:rPr lang="en-US" sz="1600" dirty="0" err="1"/>
              <a:t>hoạt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dịch</a:t>
            </a:r>
            <a:r>
              <a:rPr lang="en-US" sz="1600" dirty="0"/>
              <a:t> </a:t>
            </a:r>
            <a:r>
              <a:rPr lang="en-US" sz="1600" dirty="0" err="1"/>
              <a:t>vụ</a:t>
            </a:r>
            <a:r>
              <a:rPr lang="en-US" sz="1600" dirty="0"/>
              <a:t> </a:t>
            </a:r>
            <a:r>
              <a:rPr lang="en-US" sz="1600" dirty="0" err="1"/>
              <a:t>DHCP</a:t>
            </a:r>
            <a:endParaRPr lang="en-US" sz="1600" dirty="0"/>
          </a:p>
          <a:p>
            <a:pPr lvl="0"/>
            <a:r>
              <a:rPr lang="en-US" sz="1600" dirty="0" err="1"/>
              <a:t>DHCP</a:t>
            </a:r>
            <a:r>
              <a:rPr lang="en-US" sz="1600" dirty="0"/>
              <a:t> Server </a:t>
            </a:r>
            <a:r>
              <a:rPr lang="en-US" sz="1600" dirty="0" err="1"/>
              <a:t>cấp</a:t>
            </a:r>
            <a:r>
              <a:rPr lang="en-US" sz="1600" dirty="0"/>
              <a:t> </a:t>
            </a:r>
            <a:r>
              <a:rPr lang="en-US" sz="1600" dirty="0" err="1"/>
              <a:t>phát</a:t>
            </a:r>
            <a:r>
              <a:rPr lang="en-US" sz="1600" dirty="0"/>
              <a:t> IP </a:t>
            </a:r>
            <a:r>
              <a:rPr lang="en-US" sz="1600" dirty="0" err="1"/>
              <a:t>như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:</a:t>
            </a:r>
          </a:p>
          <a:p>
            <a:pPr lvl="1"/>
            <a:r>
              <a:rPr lang="en-US" sz="1600" dirty="0"/>
              <a:t>Network: 192.168.12.0/24</a:t>
            </a:r>
          </a:p>
          <a:p>
            <a:pPr lvl="1"/>
            <a:r>
              <a:rPr lang="en-US" sz="1600" dirty="0"/>
              <a:t>Range IP: 192.168.12.50 – 192.168.12.150</a:t>
            </a:r>
          </a:p>
          <a:p>
            <a:pPr lvl="1"/>
            <a:r>
              <a:rPr lang="en-US" sz="1600" dirty="0"/>
              <a:t>Default gateway: 192.168.12.1</a:t>
            </a:r>
          </a:p>
          <a:p>
            <a:pPr lvl="1"/>
            <a:r>
              <a:rPr lang="en-US" sz="1600" dirty="0"/>
              <a:t>DNS: 8.8.8.8</a:t>
            </a:r>
          </a:p>
        </p:txBody>
      </p:sp>
    </p:spTree>
    <p:extLst>
      <p:ext uri="{BB962C8B-B14F-4D97-AF65-F5344CB8AC3E}">
        <p14:creationId xmlns:p14="http://schemas.microsoft.com/office/powerpoint/2010/main" val="1911713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Bước</a:t>
            </a:r>
            <a:r>
              <a:rPr lang="en-US" dirty="0"/>
              <a:t> 1.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DHCP</a:t>
            </a:r>
            <a:r>
              <a:rPr lang="en-US" dirty="0"/>
              <a:t> </a:t>
            </a:r>
            <a:r>
              <a:rPr lang="en-US" dirty="0" err="1"/>
              <a:t>Server1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76400" y="1384935"/>
            <a:ext cx="5761990" cy="237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99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2"/>
          <a:srcRect r="39527"/>
          <a:stretch/>
        </p:blipFill>
        <p:spPr>
          <a:xfrm>
            <a:off x="228600" y="175260"/>
            <a:ext cx="3484418" cy="159766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86327" y="2038350"/>
            <a:ext cx="5090795" cy="278955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4876800" y="438150"/>
            <a:ext cx="3695700" cy="333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84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33400" y="666750"/>
            <a:ext cx="4067175" cy="3557588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181601" y="36368"/>
            <a:ext cx="2971800" cy="2535382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5181602" y="2647950"/>
            <a:ext cx="297180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41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19200" y="1428750"/>
            <a:ext cx="6781800" cy="236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93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err="1"/>
              <a:t>Bước</a:t>
            </a:r>
            <a:r>
              <a:rPr lang="en-US" sz="3200" b="1" dirty="0"/>
              <a:t> 2. </a:t>
            </a:r>
            <a:r>
              <a:rPr lang="en-US" sz="3200" b="1" dirty="0" err="1"/>
              <a:t>Cấu</a:t>
            </a:r>
            <a:r>
              <a:rPr lang="en-US" sz="3200" b="1" dirty="0"/>
              <a:t> </a:t>
            </a:r>
            <a:r>
              <a:rPr lang="en-US" sz="3200" b="1" dirty="0" err="1"/>
              <a:t>hình</a:t>
            </a:r>
            <a:r>
              <a:rPr lang="en-US" sz="3200" b="1" dirty="0"/>
              <a:t> </a:t>
            </a:r>
            <a:r>
              <a:rPr lang="en-US" sz="3200" b="1" dirty="0" err="1"/>
              <a:t>DHCP</a:t>
            </a:r>
            <a:r>
              <a:rPr lang="en-US" sz="3200" b="1" dirty="0"/>
              <a:t> Failover </a:t>
            </a:r>
            <a:r>
              <a:rPr lang="en-US" sz="3200" b="1" dirty="0" err="1"/>
              <a:t>trên</a:t>
            </a:r>
            <a:r>
              <a:rPr lang="en-US" sz="3200" b="1" dirty="0"/>
              <a:t> Server 1</a:t>
            </a:r>
            <a:endParaRPr lang="en-US" sz="32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1200150"/>
            <a:ext cx="4614863" cy="3529012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1" y="1276350"/>
            <a:ext cx="3810000" cy="368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41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57" y="133350"/>
            <a:ext cx="4289425" cy="472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724400" y="133350"/>
            <a:ext cx="3905250" cy="467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93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209550"/>
            <a:ext cx="4133850" cy="465772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826001" y="159544"/>
            <a:ext cx="3962400" cy="470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41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3164" y="1123950"/>
            <a:ext cx="3581400" cy="28956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3810000" y="1200150"/>
            <a:ext cx="5152390" cy="27432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43164" y="205978"/>
            <a:ext cx="8819226" cy="857250"/>
          </a:xfrm>
        </p:spPr>
        <p:txBody>
          <a:bodyPr>
            <a:noAutofit/>
          </a:bodyPr>
          <a:lstStyle/>
          <a:p>
            <a:r>
              <a:rPr lang="en-US" sz="2800" b="1" dirty="0" err="1"/>
              <a:t>Máy</a:t>
            </a:r>
            <a:r>
              <a:rPr lang="en-US" sz="2800" b="1" dirty="0"/>
              <a:t> </a:t>
            </a:r>
            <a:r>
              <a:rPr lang="en-US" sz="2800" b="1" dirty="0" err="1"/>
              <a:t>Server2</a:t>
            </a:r>
            <a:r>
              <a:rPr lang="en-US" sz="2800" b="1" dirty="0"/>
              <a:t> </a:t>
            </a:r>
            <a:r>
              <a:rPr lang="en-US" sz="2800" b="1" dirty="0" err="1"/>
              <a:t>đã</a:t>
            </a:r>
            <a:r>
              <a:rPr lang="en-US" sz="2800" b="1" dirty="0"/>
              <a:t> </a:t>
            </a:r>
            <a:r>
              <a:rPr lang="en-US" sz="2800" b="1" dirty="0" err="1"/>
              <a:t>có</a:t>
            </a:r>
            <a:r>
              <a:rPr lang="en-US" sz="2800" b="1" dirty="0"/>
              <a:t> </a:t>
            </a:r>
            <a:r>
              <a:rPr lang="en-US" sz="2800" b="1" dirty="0" err="1"/>
              <a:t>thông</a:t>
            </a:r>
            <a:r>
              <a:rPr lang="en-US" sz="2800" b="1" dirty="0"/>
              <a:t> tin </a:t>
            </a:r>
            <a:r>
              <a:rPr lang="en-US" sz="2800" b="1" dirty="0" err="1"/>
              <a:t>đồng</a:t>
            </a:r>
            <a:r>
              <a:rPr lang="en-US" sz="2800" b="1" dirty="0"/>
              <a:t> </a:t>
            </a:r>
            <a:r>
              <a:rPr lang="en-US" sz="2800" b="1" dirty="0" err="1"/>
              <a:t>bộ</a:t>
            </a:r>
            <a:r>
              <a:rPr lang="en-US" sz="2800" b="1" dirty="0"/>
              <a:t> </a:t>
            </a:r>
            <a:r>
              <a:rPr lang="en-US" sz="2800" b="1" dirty="0" err="1"/>
              <a:t>với</a:t>
            </a:r>
            <a:r>
              <a:rPr lang="en-US" sz="2800" b="1" dirty="0"/>
              <a:t> Server-1</a:t>
            </a:r>
          </a:p>
        </p:txBody>
      </p:sp>
    </p:spTree>
    <p:extLst>
      <p:ext uri="{BB962C8B-B14F-4D97-AF65-F5344CB8AC3E}">
        <p14:creationId xmlns:p14="http://schemas.microsoft.com/office/powerpoint/2010/main" val="1255393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536972"/>
          </a:xfrm>
        </p:spPr>
        <p:txBody>
          <a:bodyPr>
            <a:noAutofit/>
          </a:bodyPr>
          <a:lstStyle/>
          <a:p>
            <a:r>
              <a:rPr lang="en-US" sz="3200" b="1" dirty="0" err="1"/>
              <a:t>Kiểm</a:t>
            </a:r>
            <a:r>
              <a:rPr lang="en-US" sz="3200" b="1" dirty="0"/>
              <a:t> </a:t>
            </a:r>
            <a:r>
              <a:rPr lang="en-US" sz="3200" b="1" dirty="0" err="1"/>
              <a:t>tra</a:t>
            </a:r>
            <a:r>
              <a:rPr lang="en-US" sz="3200" b="1" dirty="0"/>
              <a:t> </a:t>
            </a:r>
            <a:r>
              <a:rPr lang="en-US" sz="3200" b="1" dirty="0" err="1"/>
              <a:t>trên</a:t>
            </a:r>
            <a:r>
              <a:rPr lang="en-US" sz="3200" b="1" dirty="0"/>
              <a:t> </a:t>
            </a:r>
            <a:r>
              <a:rPr lang="en-US" sz="3200" b="1" dirty="0" err="1"/>
              <a:t>máy</a:t>
            </a:r>
            <a:r>
              <a:rPr lang="en-US" sz="3200" b="1" dirty="0"/>
              <a:t> client </a:t>
            </a:r>
            <a:r>
              <a:rPr lang="en-US" sz="3200" b="1" dirty="0" err="1"/>
              <a:t>xin</a:t>
            </a:r>
            <a:r>
              <a:rPr lang="en-US" sz="3200" b="1" dirty="0"/>
              <a:t> </a:t>
            </a:r>
            <a:r>
              <a:rPr lang="en-US" sz="3200" b="1" dirty="0" err="1"/>
              <a:t>ip</a:t>
            </a:r>
            <a:r>
              <a:rPr lang="en-US" sz="3200" b="1" dirty="0"/>
              <a:t> </a:t>
            </a:r>
            <a:r>
              <a:rPr lang="en-US" sz="3200" b="1" dirty="0" err="1"/>
              <a:t>động</a:t>
            </a:r>
            <a:r>
              <a:rPr lang="en-US" sz="3200" b="1" dirty="0"/>
              <a:t> </a:t>
            </a:r>
            <a:r>
              <a:rPr lang="en-US" sz="3200" b="1" dirty="0" err="1"/>
              <a:t>từ</a:t>
            </a:r>
            <a:r>
              <a:rPr lang="en-US" sz="3200" b="1" dirty="0"/>
              <a:t> </a:t>
            </a:r>
            <a:r>
              <a:rPr lang="en-US" sz="3200" b="1" dirty="0" smtClean="0"/>
              <a:t>server</a:t>
            </a:r>
            <a:endParaRPr lang="en-US" sz="32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790825" y="971550"/>
            <a:ext cx="345757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39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Web </a:t>
            </a:r>
            <a:r>
              <a:rPr lang="en-US" b="1" dirty="0"/>
              <a:t>Cluster Load Balancing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Bài</a:t>
            </a:r>
            <a:r>
              <a:rPr lang="en-US" sz="1800" dirty="0"/>
              <a:t> </a:t>
            </a:r>
            <a:r>
              <a:rPr lang="en-US" sz="1800" dirty="0" err="1"/>
              <a:t>này</a:t>
            </a:r>
            <a:r>
              <a:rPr lang="en-US" sz="1800" dirty="0"/>
              <a:t> </a:t>
            </a:r>
            <a:r>
              <a:rPr lang="en-US" sz="1800" dirty="0" err="1"/>
              <a:t>hướng</a:t>
            </a:r>
            <a:r>
              <a:rPr lang="en-US" sz="1800" dirty="0"/>
              <a:t> </a:t>
            </a:r>
            <a:r>
              <a:rPr lang="en-US" sz="1800" dirty="0" err="1"/>
              <a:t>dẫn</a:t>
            </a:r>
            <a:r>
              <a:rPr lang="en-US" sz="1800" dirty="0"/>
              <a:t> </a:t>
            </a:r>
            <a:r>
              <a:rPr lang="en-US" sz="1800" dirty="0" err="1"/>
              <a:t>cấu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 Network Load </a:t>
            </a:r>
            <a:r>
              <a:rPr lang="en-US" sz="1800" dirty="0" err="1"/>
              <a:t>Balacing</a:t>
            </a:r>
            <a:r>
              <a:rPr lang="en-US" sz="1800" dirty="0"/>
              <a:t> </a:t>
            </a:r>
            <a:r>
              <a:rPr lang="en-US" sz="1800" dirty="0" err="1"/>
              <a:t>trên</a:t>
            </a:r>
            <a:r>
              <a:rPr lang="en-US" sz="1800" dirty="0"/>
              <a:t> Windows Server 2016. </a:t>
            </a:r>
            <a:endParaRPr lang="en-US" sz="1800" dirty="0" smtClean="0"/>
          </a:p>
          <a:p>
            <a:r>
              <a:rPr lang="en-US" sz="1800" dirty="0" err="1" smtClean="0"/>
              <a:t>Cấu</a:t>
            </a:r>
            <a:r>
              <a:rPr lang="en-US" sz="1800" dirty="0" smtClean="0"/>
              <a:t> </a:t>
            </a:r>
            <a:r>
              <a:rPr lang="en-US" sz="1800" dirty="0" err="1"/>
              <a:t>hình</a:t>
            </a:r>
            <a:r>
              <a:rPr lang="en-US" sz="1800" dirty="0"/>
              <a:t> </a:t>
            </a:r>
            <a:r>
              <a:rPr lang="en-US" sz="1800" dirty="0" err="1"/>
              <a:t>chế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 Load </a:t>
            </a:r>
            <a:r>
              <a:rPr lang="en-US" sz="1800" dirty="0" err="1"/>
              <a:t>Balacing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phép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máy</a:t>
            </a:r>
            <a:r>
              <a:rPr lang="en-US" sz="1800" dirty="0"/>
              <a:t> </a:t>
            </a:r>
            <a:r>
              <a:rPr lang="en-US" sz="1800" dirty="0" err="1"/>
              <a:t>tạo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en-US" sz="1800" dirty="0"/>
              <a:t> IP </a:t>
            </a:r>
            <a:r>
              <a:rPr lang="en-US" sz="1800" dirty="0" err="1"/>
              <a:t>ảo</a:t>
            </a:r>
            <a:r>
              <a:rPr lang="en-US" sz="1800" dirty="0"/>
              <a:t> (Virtual IP) </a:t>
            </a:r>
            <a:r>
              <a:rPr lang="en-US" sz="1800" dirty="0" err="1"/>
              <a:t>đại</a:t>
            </a:r>
            <a:r>
              <a:rPr lang="en-US" sz="1800" dirty="0"/>
              <a:t> </a:t>
            </a:r>
            <a:r>
              <a:rPr lang="en-US" sz="1800" dirty="0" err="1"/>
              <a:t>diện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máy</a:t>
            </a:r>
            <a:r>
              <a:rPr lang="en-US" sz="1800" dirty="0"/>
              <a:t> server </a:t>
            </a:r>
            <a:r>
              <a:rPr lang="en-US" sz="1800" dirty="0" err="1"/>
              <a:t>thật</a:t>
            </a:r>
            <a:r>
              <a:rPr lang="en-US" sz="1800" dirty="0"/>
              <a:t>. </a:t>
            </a:r>
            <a:r>
              <a:rPr lang="en-US" sz="1800" dirty="0" err="1"/>
              <a:t>Dịch</a:t>
            </a:r>
            <a:r>
              <a:rPr lang="en-US" sz="1800" dirty="0"/>
              <a:t> </a:t>
            </a:r>
            <a:r>
              <a:rPr lang="en-US" sz="1800" dirty="0" err="1"/>
              <a:t>vụ</a:t>
            </a:r>
            <a:r>
              <a:rPr lang="en-US" sz="1800" dirty="0"/>
              <a:t> </a:t>
            </a:r>
            <a:r>
              <a:rPr lang="en-US" sz="1800" dirty="0" err="1"/>
              <a:t>này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thực</a:t>
            </a:r>
            <a:r>
              <a:rPr lang="en-US" sz="1800" dirty="0"/>
              <a:t> </a:t>
            </a:r>
            <a:r>
              <a:rPr lang="en-US" sz="1800" dirty="0" err="1"/>
              <a:t>hiện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nhiều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như</a:t>
            </a:r>
            <a:r>
              <a:rPr lang="en-US" sz="1800" dirty="0"/>
              <a:t> Web, FTP,…</a:t>
            </a:r>
          </a:p>
          <a:p>
            <a:endParaRPr lang="en-US" sz="20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635562"/>
              </p:ext>
            </p:extLst>
          </p:nvPr>
        </p:nvGraphicFramePr>
        <p:xfrm>
          <a:off x="-304800" y="2419350"/>
          <a:ext cx="5257800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Visio" r:id="rId3" imgW="5259798" imgH="2526848" progId="Visio.Drawing.11">
                  <p:embed/>
                </p:oleObj>
              </mc:Choice>
              <mc:Fallback>
                <p:oleObj name="Visio" r:id="rId3" imgW="5259798" imgH="252684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04800" y="2419350"/>
                        <a:ext cx="5257800" cy="2524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4724400" y="2397026"/>
            <a:ext cx="42672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/>
              <a:t>Chuẩn</a:t>
            </a:r>
            <a:r>
              <a:rPr lang="en-US" sz="1600" dirty="0"/>
              <a:t> </a:t>
            </a:r>
            <a:r>
              <a:rPr lang="en-US" sz="1600" dirty="0" err="1"/>
              <a:t>bị</a:t>
            </a:r>
            <a:r>
              <a:rPr lang="en-US" sz="1600" dirty="0" smtClean="0"/>
              <a:t>:</a:t>
            </a:r>
          </a:p>
          <a:p>
            <a:endParaRPr lang="en-US" sz="1600" dirty="0"/>
          </a:p>
          <a:p>
            <a:pPr lvl="0"/>
            <a:r>
              <a:rPr lang="en-US" sz="1600" dirty="0"/>
              <a:t>2 </a:t>
            </a:r>
            <a:r>
              <a:rPr lang="en-US" sz="1600" dirty="0" err="1"/>
              <a:t>máy</a:t>
            </a:r>
            <a:r>
              <a:rPr lang="en-US" sz="1600" dirty="0"/>
              <a:t> Windows Server 2016 – </a:t>
            </a:r>
            <a:r>
              <a:rPr lang="en-US" sz="1600" dirty="0" err="1"/>
              <a:t>cài</a:t>
            </a:r>
            <a:r>
              <a:rPr lang="en-US" sz="1600" dirty="0"/>
              <a:t> </a:t>
            </a:r>
            <a:r>
              <a:rPr lang="en-US" sz="1600" dirty="0" err="1"/>
              <a:t>đặt</a:t>
            </a:r>
            <a:r>
              <a:rPr lang="en-US" sz="1600" dirty="0"/>
              <a:t> 2 Website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nội</a:t>
            </a:r>
            <a:r>
              <a:rPr lang="en-US" sz="1600" dirty="0"/>
              <a:t> dung </a:t>
            </a:r>
            <a:r>
              <a:rPr lang="en-US" sz="1600" dirty="0" err="1"/>
              <a:t>khác</a:t>
            </a:r>
            <a:r>
              <a:rPr lang="en-US" sz="1600" dirty="0"/>
              <a:t> </a:t>
            </a:r>
            <a:r>
              <a:rPr lang="en-US" sz="1600" dirty="0" err="1"/>
              <a:t>nhau</a:t>
            </a:r>
            <a:r>
              <a:rPr lang="en-US" sz="1600" dirty="0"/>
              <a:t>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phân</a:t>
            </a:r>
            <a:r>
              <a:rPr lang="en-US" sz="1600" dirty="0"/>
              <a:t> </a:t>
            </a:r>
            <a:r>
              <a:rPr lang="en-US" sz="1600" dirty="0" err="1"/>
              <a:t>biệt</a:t>
            </a:r>
            <a:r>
              <a:rPr lang="en-US" sz="1600" dirty="0"/>
              <a:t>.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cấu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DNS, </a:t>
            </a:r>
            <a:r>
              <a:rPr lang="en-US" sz="1600" dirty="0" err="1"/>
              <a:t>sử</a:t>
            </a:r>
            <a:r>
              <a:rPr lang="en-US" sz="1600" dirty="0"/>
              <a:t> </a:t>
            </a:r>
            <a:r>
              <a:rPr lang="en-US" sz="1600" dirty="0" err="1"/>
              <a:t>dụng</a:t>
            </a:r>
            <a:r>
              <a:rPr lang="en-US" sz="1600" dirty="0"/>
              <a:t> IP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truy</a:t>
            </a:r>
            <a:r>
              <a:rPr lang="en-US" sz="1600" dirty="0"/>
              <a:t> </a:t>
            </a:r>
            <a:r>
              <a:rPr lang="en-US" sz="1600" dirty="0" err="1"/>
              <a:t>cập</a:t>
            </a:r>
            <a:r>
              <a:rPr lang="en-US" sz="1600" dirty="0"/>
              <a:t> </a:t>
            </a:r>
            <a:r>
              <a:rPr lang="en-US" sz="1600" dirty="0" err="1"/>
              <a:t>dịch</a:t>
            </a:r>
            <a:r>
              <a:rPr lang="en-US" sz="1600" dirty="0"/>
              <a:t> </a:t>
            </a:r>
            <a:r>
              <a:rPr lang="en-US" sz="1600" dirty="0" err="1"/>
              <a:t>vụ</a:t>
            </a:r>
            <a:r>
              <a:rPr lang="en-US" sz="1600" dirty="0"/>
              <a:t> Web</a:t>
            </a:r>
            <a:r>
              <a:rPr lang="en-US" sz="1600" dirty="0" smtClean="0"/>
              <a:t>.</a:t>
            </a:r>
          </a:p>
          <a:p>
            <a:pPr lvl="0"/>
            <a:endParaRPr lang="en-US" sz="1600" dirty="0"/>
          </a:p>
          <a:p>
            <a:r>
              <a:rPr lang="en-US" sz="1600" dirty="0" err="1"/>
              <a:t>Máy</a:t>
            </a:r>
            <a:r>
              <a:rPr lang="en-US" sz="1600" dirty="0"/>
              <a:t> client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kiểm</a:t>
            </a:r>
            <a:r>
              <a:rPr lang="en-US" sz="1600" dirty="0"/>
              <a:t> </a:t>
            </a:r>
            <a:r>
              <a:rPr lang="en-US" sz="1600" dirty="0" err="1"/>
              <a:t>tra</a:t>
            </a:r>
            <a:r>
              <a:rPr lang="en-US" sz="1600" dirty="0"/>
              <a:t> </a:t>
            </a:r>
            <a:r>
              <a:rPr lang="en-US" sz="1600" dirty="0" err="1"/>
              <a:t>hoạt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54802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/>
              <a:t>Cấu</a:t>
            </a:r>
            <a:r>
              <a:rPr lang="en-US" sz="3600" b="1" dirty="0"/>
              <a:t> </a:t>
            </a:r>
            <a:r>
              <a:rPr lang="en-US" sz="3600" b="1" dirty="0" err="1"/>
              <a:t>hình</a:t>
            </a:r>
            <a:r>
              <a:rPr lang="en-US" sz="3600" b="1" dirty="0"/>
              <a:t> Web Server </a:t>
            </a:r>
            <a:r>
              <a:rPr lang="en-US" sz="3600" b="1" dirty="0" err="1"/>
              <a:t>trên</a:t>
            </a:r>
            <a:r>
              <a:rPr lang="en-US" sz="3600" b="1" dirty="0"/>
              <a:t> Web server 1</a:t>
            </a:r>
            <a:endParaRPr lang="en-US" sz="36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1581150"/>
            <a:ext cx="4191000" cy="24384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648200" y="1581150"/>
            <a:ext cx="44196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52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828800" y="213591"/>
            <a:ext cx="4572000" cy="241808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371600" y="2800350"/>
            <a:ext cx="5761990" cy="221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36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1" y="146279"/>
            <a:ext cx="4038600" cy="19812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325583" y="2142489"/>
            <a:ext cx="4876800" cy="3001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95800" y="1136879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client,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Web server 1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Web Browser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u="sng" dirty="0">
                <a:hlinkClick r:id="rId4"/>
              </a:rPr>
              <a:t>http://192.168.12.254</a:t>
            </a:r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5"/>
          <a:stretch>
            <a:fillRect/>
          </a:stretch>
        </p:blipFill>
        <p:spPr>
          <a:xfrm>
            <a:off x="5334000" y="2655102"/>
            <a:ext cx="3657601" cy="106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68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/>
              <a:t>Cấu</a:t>
            </a:r>
            <a:r>
              <a:rPr lang="en-US" sz="4000" b="1" dirty="0"/>
              <a:t> </a:t>
            </a:r>
            <a:r>
              <a:rPr lang="en-US" sz="4000" b="1" dirty="0" err="1"/>
              <a:t>hình</a:t>
            </a:r>
            <a:r>
              <a:rPr lang="en-US" sz="4000" b="1" dirty="0"/>
              <a:t> </a:t>
            </a:r>
            <a:r>
              <a:rPr lang="en-US" sz="4000" b="1" dirty="0" err="1"/>
              <a:t>trên</a:t>
            </a:r>
            <a:r>
              <a:rPr lang="en-US" sz="4000" b="1" dirty="0"/>
              <a:t> Web server 2</a:t>
            </a:r>
            <a:endParaRPr lang="en-US" sz="40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98155"/>
            <a:ext cx="4709795" cy="2846387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724400" y="3562350"/>
            <a:ext cx="4295775" cy="11580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852987" y="1733550"/>
            <a:ext cx="4038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client,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Web server 1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Web Browser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u="sng" dirty="0">
                <a:hlinkClick r:id="rId4"/>
              </a:rPr>
              <a:t>http://192.168.12.253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076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Network Load Balancing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Trên</a:t>
            </a:r>
            <a:r>
              <a:rPr lang="en-US" sz="1800" dirty="0"/>
              <a:t> Server-1: </a:t>
            </a:r>
            <a:r>
              <a:rPr lang="en-US" sz="1800" dirty="0" err="1"/>
              <a:t>Cài</a:t>
            </a:r>
            <a:r>
              <a:rPr lang="en-US" sz="1800" dirty="0"/>
              <a:t> </a:t>
            </a:r>
            <a:r>
              <a:rPr lang="en-US" sz="1800" dirty="0" err="1"/>
              <a:t>dịch</a:t>
            </a:r>
            <a:r>
              <a:rPr lang="en-US" sz="1800" dirty="0"/>
              <a:t> </a:t>
            </a:r>
            <a:r>
              <a:rPr lang="en-US" sz="1800" dirty="0" err="1"/>
              <a:t>vụ</a:t>
            </a:r>
            <a:endParaRPr lang="en-US" sz="1800" dirty="0"/>
          </a:p>
          <a:p>
            <a:r>
              <a:rPr lang="en-US" sz="1800" dirty="0"/>
              <a:t>Server Manager </a:t>
            </a:r>
            <a:r>
              <a:rPr lang="en-US" sz="1800" dirty="0">
                <a:sym typeface="Wingdings"/>
              </a:rPr>
              <a:t></a:t>
            </a:r>
            <a:r>
              <a:rPr lang="en-US" sz="1800" dirty="0"/>
              <a:t> Add Roles and Features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" y="2190750"/>
            <a:ext cx="4648200" cy="195326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028045" y="1601311"/>
            <a:ext cx="4077855" cy="313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38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133032"/>
            <a:ext cx="4023995" cy="32007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0" y="74295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Click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Network Policy and Access Services</a:t>
            </a: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4953000" y="1389281"/>
            <a:ext cx="3590925" cy="360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90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" y="31750"/>
            <a:ext cx="4176395" cy="305371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114800" y="1123950"/>
            <a:ext cx="4999990" cy="35280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" y="4626173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Click </a:t>
            </a:r>
            <a:r>
              <a:rPr lang="en-US" sz="1400" dirty="0" err="1"/>
              <a:t>mục</a:t>
            </a:r>
            <a:r>
              <a:rPr lang="en-US" sz="1400" dirty="0"/>
              <a:t> Network Load balancing </a:t>
            </a:r>
            <a:r>
              <a:rPr lang="en-US" sz="1400" dirty="0">
                <a:sym typeface="Wingdings"/>
              </a:rPr>
              <a:t></a:t>
            </a:r>
            <a:r>
              <a:rPr lang="en-US" sz="1400" dirty="0"/>
              <a:t> click add Features</a:t>
            </a:r>
          </a:p>
        </p:txBody>
      </p:sp>
    </p:spTree>
    <p:extLst>
      <p:ext uri="{BB962C8B-B14F-4D97-AF65-F5344CB8AC3E}">
        <p14:creationId xmlns:p14="http://schemas.microsoft.com/office/powerpoint/2010/main" val="1327364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066800" y="67944"/>
            <a:ext cx="5761990" cy="25038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47800" y="3409950"/>
            <a:ext cx="64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err="1"/>
              <a:t>Trên</a:t>
            </a:r>
            <a:r>
              <a:rPr lang="en-US" b="1" i="1" dirty="0"/>
              <a:t> </a:t>
            </a:r>
            <a:r>
              <a:rPr lang="en-US" b="1" i="1" dirty="0" err="1"/>
              <a:t>máy</a:t>
            </a:r>
            <a:r>
              <a:rPr lang="en-US" b="1" i="1" dirty="0"/>
              <a:t> Server-2 </a:t>
            </a:r>
            <a:r>
              <a:rPr lang="en-US" b="1" i="1" dirty="0" err="1"/>
              <a:t>cài</a:t>
            </a:r>
            <a:r>
              <a:rPr lang="en-US" b="1" i="1" dirty="0"/>
              <a:t> </a:t>
            </a:r>
            <a:r>
              <a:rPr lang="en-US" b="1" i="1" dirty="0" err="1"/>
              <a:t>dịch</a:t>
            </a:r>
            <a:r>
              <a:rPr lang="en-US" b="1" i="1" dirty="0"/>
              <a:t> </a:t>
            </a:r>
            <a:r>
              <a:rPr lang="en-US" b="1" i="1" dirty="0" err="1"/>
              <a:t>vụ</a:t>
            </a:r>
            <a:r>
              <a:rPr lang="en-US" b="1" i="1" dirty="0"/>
              <a:t> </a:t>
            </a:r>
            <a:r>
              <a:rPr lang="en-US" b="1" i="1" dirty="0" err="1"/>
              <a:t>Nework</a:t>
            </a:r>
            <a:r>
              <a:rPr lang="en-US" b="1" i="1" dirty="0"/>
              <a:t> Load </a:t>
            </a:r>
            <a:r>
              <a:rPr lang="en-US" b="1" i="1" dirty="0" err="1"/>
              <a:t>Balacing</a:t>
            </a:r>
            <a:r>
              <a:rPr lang="en-US" b="1" i="1" dirty="0"/>
              <a:t> </a:t>
            </a:r>
            <a:r>
              <a:rPr lang="en-US" b="1" i="1" dirty="0" err="1"/>
              <a:t>tương</a:t>
            </a:r>
            <a:r>
              <a:rPr lang="en-US" b="1" i="1" dirty="0"/>
              <a:t> </a:t>
            </a:r>
            <a:r>
              <a:rPr lang="en-US" b="1" i="1" dirty="0" err="1"/>
              <a:t>tự</a:t>
            </a:r>
            <a:r>
              <a:rPr lang="en-US" b="1" i="1" dirty="0"/>
              <a:t> </a:t>
            </a:r>
            <a:r>
              <a:rPr lang="en-US" b="1" i="1" dirty="0" err="1"/>
              <a:t>như</a:t>
            </a:r>
            <a:r>
              <a:rPr lang="en-US" b="1" i="1" dirty="0"/>
              <a:t> </a:t>
            </a:r>
            <a:r>
              <a:rPr lang="en-US" b="1" i="1" dirty="0" err="1"/>
              <a:t>máy</a:t>
            </a:r>
            <a:r>
              <a:rPr lang="en-US" b="1" i="1" dirty="0"/>
              <a:t> Server 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966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err="1"/>
              <a:t>Cấu</a:t>
            </a:r>
            <a:r>
              <a:rPr lang="en-US" b="1" u="sng" dirty="0"/>
              <a:t> </a:t>
            </a:r>
            <a:r>
              <a:rPr lang="en-US" b="1" u="sng" dirty="0" err="1"/>
              <a:t>hình</a:t>
            </a:r>
            <a:r>
              <a:rPr lang="en-US" b="1" u="sng" dirty="0"/>
              <a:t> </a:t>
            </a:r>
            <a:r>
              <a:rPr lang="en-US" b="1" u="sng" dirty="0" err="1"/>
              <a:t>NBL</a:t>
            </a:r>
            <a:r>
              <a:rPr lang="en-US" b="1" u="sng" dirty="0"/>
              <a:t> </a:t>
            </a:r>
            <a:r>
              <a:rPr lang="en-US" b="1" u="sng" dirty="0" err="1"/>
              <a:t>trên</a:t>
            </a:r>
            <a:r>
              <a:rPr lang="en-US" b="1" u="sng" dirty="0"/>
              <a:t> Server-1: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830118"/>
            <a:ext cx="5761990" cy="3934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72200" y="2145929"/>
            <a:ext cx="3200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Right click </a:t>
            </a:r>
            <a:r>
              <a:rPr lang="en-US" dirty="0" err="1"/>
              <a:t>vào</a:t>
            </a:r>
            <a:r>
              <a:rPr lang="en-US" dirty="0"/>
              <a:t> Network Load Balancing Cluster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New Cluster</a:t>
            </a: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2895600" y="3500557"/>
            <a:ext cx="576199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59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85750"/>
            <a:ext cx="3252788" cy="3224213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4516582" y="209550"/>
            <a:ext cx="3409950" cy="330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225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33400" y="285750"/>
            <a:ext cx="4524375" cy="43148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65656" y="209550"/>
            <a:ext cx="3749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Click Add. </a:t>
            </a:r>
            <a:r>
              <a:rPr lang="en-US" dirty="0" err="1"/>
              <a:t>Nhập</a:t>
            </a:r>
            <a:r>
              <a:rPr lang="en-US" dirty="0"/>
              <a:t> IP </a:t>
            </a:r>
            <a:r>
              <a:rPr lang="en-US" dirty="0" err="1"/>
              <a:t>ảo</a:t>
            </a:r>
            <a:r>
              <a:rPr lang="en-US" dirty="0"/>
              <a:t>: 192.168.12.200</a:t>
            </a: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5302215" y="819150"/>
            <a:ext cx="3476625" cy="293370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3733800" y="2286000"/>
            <a:ext cx="3695700" cy="283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80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133600" y="590550"/>
            <a:ext cx="5761990" cy="397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90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Client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81000" y="1200150"/>
            <a:ext cx="4743450" cy="121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38600" y="2423330"/>
            <a:ext cx="4382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Tắt</a:t>
            </a:r>
            <a:r>
              <a:rPr lang="en-US" dirty="0"/>
              <a:t> card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Server 2.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415636" y="3295650"/>
            <a:ext cx="48006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56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Domain Controller (</a:t>
            </a:r>
            <a:r>
              <a:rPr lang="en-US" b="1" dirty="0" err="1"/>
              <a:t>RODC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71550"/>
            <a:ext cx="8229600" cy="3394472"/>
          </a:xfrm>
        </p:spPr>
        <p:txBody>
          <a:bodyPr>
            <a:normAutofit/>
          </a:bodyPr>
          <a:lstStyle/>
          <a:p>
            <a:r>
              <a:rPr lang="en-US" sz="2000" dirty="0" err="1"/>
              <a:t>Trường</a:t>
            </a:r>
            <a:r>
              <a:rPr lang="en-US" sz="2000" dirty="0"/>
              <a:t> </a:t>
            </a:r>
            <a:r>
              <a:rPr lang="en-US" sz="2000" dirty="0" err="1"/>
              <a:t>hợp</a:t>
            </a:r>
            <a:r>
              <a:rPr lang="en-US" sz="2000" dirty="0"/>
              <a:t> Domain Controller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đặt</a:t>
            </a:r>
            <a:r>
              <a:rPr lang="en-US" sz="2000" dirty="0"/>
              <a:t> ở </a:t>
            </a:r>
            <a:r>
              <a:rPr lang="en-US" sz="2000" dirty="0" err="1"/>
              <a:t>văn</a:t>
            </a:r>
            <a:r>
              <a:rPr lang="en-US" sz="2000" dirty="0"/>
              <a:t> </a:t>
            </a:r>
            <a:r>
              <a:rPr lang="en-US" sz="2000" dirty="0" err="1"/>
              <a:t>phòng</a:t>
            </a:r>
            <a:r>
              <a:rPr lang="en-US" sz="2000" dirty="0"/>
              <a:t> </a:t>
            </a:r>
            <a:r>
              <a:rPr lang="en-US" sz="2000" dirty="0" err="1"/>
              <a:t>trung</a:t>
            </a:r>
            <a:r>
              <a:rPr lang="en-US" sz="2000" dirty="0"/>
              <a:t> </a:t>
            </a:r>
            <a:r>
              <a:rPr lang="en-US" sz="2000" dirty="0" err="1"/>
              <a:t>tâm</a:t>
            </a:r>
            <a:r>
              <a:rPr lang="en-US" sz="2000" dirty="0"/>
              <a:t>, </a:t>
            </a:r>
            <a:r>
              <a:rPr lang="en-US" sz="2000" dirty="0" err="1"/>
              <a:t>các</a:t>
            </a:r>
            <a:r>
              <a:rPr lang="en-US" sz="2000" dirty="0"/>
              <a:t> user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chi </a:t>
            </a:r>
            <a:r>
              <a:rPr lang="en-US" sz="2000" dirty="0" err="1"/>
              <a:t>nhánh</a:t>
            </a:r>
            <a:r>
              <a:rPr lang="en-US" sz="2000" dirty="0"/>
              <a:t> </a:t>
            </a:r>
            <a:r>
              <a:rPr lang="en-US" sz="2000" dirty="0" err="1"/>
              <a:t>phải</a:t>
            </a:r>
            <a:r>
              <a:rPr lang="en-US" sz="2000" dirty="0"/>
              <a:t> </a:t>
            </a:r>
            <a:r>
              <a:rPr lang="en-US" sz="2000" dirty="0" err="1"/>
              <a:t>chứng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về</a:t>
            </a:r>
            <a:r>
              <a:rPr lang="en-US" sz="2000" dirty="0"/>
              <a:t> DC </a:t>
            </a:r>
            <a:r>
              <a:rPr lang="en-US" sz="2000" dirty="0" err="1"/>
              <a:t>trung</a:t>
            </a:r>
            <a:r>
              <a:rPr lang="en-US" sz="2000" dirty="0"/>
              <a:t> </a:t>
            </a:r>
            <a:r>
              <a:rPr lang="en-US" sz="2000" dirty="0" err="1"/>
              <a:t>tâm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err="1" smtClean="0"/>
              <a:t>Triển</a:t>
            </a:r>
            <a:r>
              <a:rPr lang="en-US" sz="2000" dirty="0" smtClean="0"/>
              <a:t> </a:t>
            </a:r>
            <a:r>
              <a:rPr lang="en-US" sz="2000" dirty="0" err="1"/>
              <a:t>khai</a:t>
            </a:r>
            <a:r>
              <a:rPr lang="en-US" sz="2000" dirty="0"/>
              <a:t> </a:t>
            </a:r>
            <a:r>
              <a:rPr lang="en-US" sz="2000" dirty="0" err="1"/>
              <a:t>RODC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phép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chứng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ở </a:t>
            </a:r>
            <a:r>
              <a:rPr lang="en-US" sz="2000" dirty="0" err="1"/>
              <a:t>các</a:t>
            </a:r>
            <a:r>
              <a:rPr lang="en-US" sz="2000" dirty="0"/>
              <a:t> chi </a:t>
            </a:r>
            <a:r>
              <a:rPr lang="en-US" sz="2000" dirty="0" err="1"/>
              <a:t>nhánh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hiệu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</a:t>
            </a:r>
            <a:r>
              <a:rPr lang="en-US" sz="2000" dirty="0" err="1"/>
              <a:t>hơn</a:t>
            </a:r>
            <a:r>
              <a:rPr lang="en-US" sz="2000" dirty="0"/>
              <a:t>. </a:t>
            </a:r>
          </a:p>
          <a:p>
            <a:endParaRPr lang="en-US" sz="20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812391"/>
              </p:ext>
            </p:extLst>
          </p:nvPr>
        </p:nvGraphicFramePr>
        <p:xfrm>
          <a:off x="-152400" y="2495550"/>
          <a:ext cx="52578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Visio" r:id="rId3" imgW="5259798" imgH="2526848" progId="Visio.Drawing.11">
                  <p:embed/>
                </p:oleObj>
              </mc:Choice>
              <mc:Fallback>
                <p:oleObj name="Visio" r:id="rId3" imgW="5259798" imgH="252684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52400" y="2495550"/>
                        <a:ext cx="5257800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5410200" y="2038350"/>
            <a:ext cx="3276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/>
              <a:t>Chuẩn</a:t>
            </a:r>
            <a:r>
              <a:rPr lang="en-US" sz="1200" b="1" dirty="0"/>
              <a:t> </a:t>
            </a:r>
            <a:r>
              <a:rPr lang="en-US" sz="1200" b="1" dirty="0" err="1"/>
              <a:t>bị</a:t>
            </a:r>
            <a:r>
              <a:rPr lang="en-US" sz="1200" b="1" dirty="0"/>
              <a:t>: </a:t>
            </a:r>
            <a:endParaRPr lang="en-US" sz="1200" dirty="0"/>
          </a:p>
          <a:p>
            <a:pPr lvl="0"/>
            <a:r>
              <a:rPr lang="en-US" sz="1200" dirty="0" err="1"/>
              <a:t>Thiết</a:t>
            </a:r>
            <a:r>
              <a:rPr lang="en-US" sz="1200" dirty="0"/>
              <a:t> </a:t>
            </a:r>
            <a:r>
              <a:rPr lang="en-US" sz="1200" dirty="0" err="1"/>
              <a:t>lập</a:t>
            </a:r>
            <a:r>
              <a:rPr lang="en-US" sz="1200" dirty="0"/>
              <a:t> IP </a:t>
            </a:r>
            <a:r>
              <a:rPr lang="en-US" sz="1200" dirty="0" err="1"/>
              <a:t>cho</a:t>
            </a:r>
            <a:r>
              <a:rPr lang="en-US" sz="1200" dirty="0"/>
              <a:t> </a:t>
            </a:r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máy</a:t>
            </a:r>
            <a:r>
              <a:rPr lang="en-US" sz="1200" dirty="0"/>
              <a:t> </a:t>
            </a:r>
            <a:r>
              <a:rPr lang="en-US" sz="1200" dirty="0" err="1"/>
              <a:t>như</a:t>
            </a:r>
            <a:r>
              <a:rPr lang="en-US" sz="1200" dirty="0"/>
              <a:t> </a:t>
            </a:r>
            <a:r>
              <a:rPr lang="en-US" sz="1200" dirty="0" err="1"/>
              <a:t>sơ</a:t>
            </a:r>
            <a:r>
              <a:rPr lang="en-US" sz="1200" dirty="0"/>
              <a:t> </a:t>
            </a:r>
            <a:r>
              <a:rPr lang="en-US" sz="1200" dirty="0" err="1"/>
              <a:t>đồ</a:t>
            </a:r>
            <a:r>
              <a:rPr lang="en-US" sz="1200" dirty="0"/>
              <a:t> </a:t>
            </a:r>
            <a:r>
              <a:rPr lang="en-US" sz="1200" dirty="0" err="1"/>
              <a:t>trên</a:t>
            </a:r>
            <a:r>
              <a:rPr lang="en-US" sz="1200" dirty="0"/>
              <a:t>, </a:t>
            </a:r>
            <a:r>
              <a:rPr lang="en-US" sz="1200" dirty="0" err="1"/>
              <a:t>kiểm</a:t>
            </a:r>
            <a:r>
              <a:rPr lang="en-US" sz="1200" dirty="0"/>
              <a:t> </a:t>
            </a:r>
            <a:r>
              <a:rPr lang="en-US" sz="1200" dirty="0" err="1"/>
              <a:t>tra</a:t>
            </a:r>
            <a:r>
              <a:rPr lang="en-US" sz="1200" dirty="0"/>
              <a:t> </a:t>
            </a:r>
            <a:r>
              <a:rPr lang="en-US" sz="1200" dirty="0" err="1"/>
              <a:t>kết</a:t>
            </a:r>
            <a:r>
              <a:rPr lang="en-US" sz="1200" dirty="0"/>
              <a:t> </a:t>
            </a:r>
            <a:r>
              <a:rPr lang="en-US" sz="1200" dirty="0" err="1"/>
              <a:t>nối</a:t>
            </a:r>
            <a:r>
              <a:rPr lang="en-US" sz="1200" dirty="0"/>
              <a:t> </a:t>
            </a:r>
            <a:r>
              <a:rPr lang="en-US" sz="1200" dirty="0" err="1"/>
              <a:t>thành</a:t>
            </a:r>
            <a:r>
              <a:rPr lang="en-US" sz="1200" dirty="0"/>
              <a:t> </a:t>
            </a:r>
            <a:r>
              <a:rPr lang="en-US" sz="1200" dirty="0" err="1"/>
              <a:t>công</a:t>
            </a:r>
            <a:r>
              <a:rPr lang="en-US" sz="1200" dirty="0"/>
              <a:t> </a:t>
            </a:r>
          </a:p>
          <a:p>
            <a:pPr lvl="0"/>
            <a:r>
              <a:rPr lang="en-US" sz="1200" dirty="0" err="1"/>
              <a:t>Một</a:t>
            </a:r>
            <a:r>
              <a:rPr lang="en-US" sz="1200" dirty="0"/>
              <a:t> </a:t>
            </a:r>
            <a:r>
              <a:rPr lang="en-US" sz="1200" dirty="0" err="1"/>
              <a:t>máy</a:t>
            </a:r>
            <a:r>
              <a:rPr lang="en-US" sz="1200" dirty="0"/>
              <a:t> </a:t>
            </a:r>
            <a:r>
              <a:rPr lang="en-US" sz="1200" dirty="0" err="1"/>
              <a:t>đã</a:t>
            </a:r>
            <a:r>
              <a:rPr lang="en-US" sz="1200" dirty="0"/>
              <a:t> </a:t>
            </a:r>
            <a:r>
              <a:rPr lang="en-US" sz="1200" dirty="0" err="1"/>
              <a:t>nâng</a:t>
            </a:r>
            <a:r>
              <a:rPr lang="en-US" sz="1200" dirty="0"/>
              <a:t> </a:t>
            </a:r>
            <a:r>
              <a:rPr lang="en-US" sz="1200" dirty="0" err="1"/>
              <a:t>cấp</a:t>
            </a:r>
            <a:r>
              <a:rPr lang="en-US" sz="1200" dirty="0"/>
              <a:t> </a:t>
            </a:r>
            <a:r>
              <a:rPr lang="en-US" sz="1200" dirty="0" err="1"/>
              <a:t>lên</a:t>
            </a:r>
            <a:r>
              <a:rPr lang="en-US" sz="1200" dirty="0"/>
              <a:t> Domain Controller </a:t>
            </a:r>
            <a:r>
              <a:rPr lang="en-US" sz="1200" dirty="0" err="1"/>
              <a:t>với</a:t>
            </a:r>
            <a:r>
              <a:rPr lang="en-US" sz="1200" dirty="0"/>
              <a:t> </a:t>
            </a:r>
            <a:r>
              <a:rPr lang="en-US" sz="1200" dirty="0" err="1"/>
              <a:t>tên</a:t>
            </a:r>
            <a:r>
              <a:rPr lang="en-US" sz="1200" dirty="0"/>
              <a:t> </a:t>
            </a:r>
            <a:r>
              <a:rPr lang="en-US" sz="1200" dirty="0" err="1"/>
              <a:t>NEWTAR.VN</a:t>
            </a:r>
            <a:r>
              <a:rPr lang="en-US" sz="1200" dirty="0"/>
              <a:t> </a:t>
            </a:r>
          </a:p>
          <a:p>
            <a:pPr lvl="0"/>
            <a:r>
              <a:rPr lang="en-US" sz="1200" dirty="0" err="1"/>
              <a:t>Trên</a:t>
            </a:r>
            <a:r>
              <a:rPr lang="en-US" sz="1200" dirty="0"/>
              <a:t> </a:t>
            </a:r>
            <a:r>
              <a:rPr lang="en-US" sz="1200" dirty="0" err="1"/>
              <a:t>máy</a:t>
            </a:r>
            <a:r>
              <a:rPr lang="en-US" sz="1200" dirty="0"/>
              <a:t> DC </a:t>
            </a:r>
            <a:r>
              <a:rPr lang="en-US" sz="1200" dirty="0" err="1"/>
              <a:t>đã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account </a:t>
            </a:r>
            <a:r>
              <a:rPr lang="en-US" sz="1200" b="1" dirty="0"/>
              <a:t>Admin</a:t>
            </a:r>
            <a:r>
              <a:rPr lang="en-US" sz="1200" dirty="0"/>
              <a:t> </a:t>
            </a:r>
            <a:r>
              <a:rPr lang="en-US" sz="1200" dirty="0" err="1"/>
              <a:t>thuộc</a:t>
            </a:r>
            <a:r>
              <a:rPr lang="en-US" sz="1200" dirty="0"/>
              <a:t> </a:t>
            </a:r>
            <a:r>
              <a:rPr lang="en-US" sz="1200" dirty="0" err="1"/>
              <a:t>nhóm</a:t>
            </a:r>
            <a:r>
              <a:rPr lang="en-US" sz="1200" dirty="0"/>
              <a:t> </a:t>
            </a:r>
            <a:r>
              <a:rPr lang="en-US" sz="1200" b="1" dirty="0"/>
              <a:t>Domain Admins</a:t>
            </a:r>
            <a:endParaRPr lang="en-US" sz="1200" dirty="0"/>
          </a:p>
          <a:p>
            <a:pPr lvl="0"/>
            <a:r>
              <a:rPr lang="en-US" sz="1200" dirty="0" err="1"/>
              <a:t>Máy</a:t>
            </a:r>
            <a:r>
              <a:rPr lang="en-US" sz="1200" dirty="0"/>
              <a:t> client </a:t>
            </a:r>
            <a:r>
              <a:rPr lang="en-US" sz="1200" dirty="0" err="1"/>
              <a:t>đã</a:t>
            </a:r>
            <a:r>
              <a:rPr lang="en-US" sz="1200" dirty="0"/>
              <a:t> join </a:t>
            </a:r>
            <a:r>
              <a:rPr lang="en-US" sz="1200" dirty="0" err="1"/>
              <a:t>vào</a:t>
            </a:r>
            <a:r>
              <a:rPr lang="en-US" sz="1200" dirty="0"/>
              <a:t> Domain </a:t>
            </a:r>
            <a:r>
              <a:rPr lang="en-US" sz="1200" dirty="0" err="1"/>
              <a:t>NEWSTAR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4552950" y="371475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Yêu</a:t>
            </a:r>
            <a:r>
              <a:rPr lang="en-US" b="1" dirty="0"/>
              <a:t> </a:t>
            </a:r>
            <a:r>
              <a:rPr lang="en-US" b="1" dirty="0" err="1"/>
              <a:t>cầu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Server2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HĐH</a:t>
            </a:r>
            <a:r>
              <a:rPr lang="en-US" dirty="0"/>
              <a:t> Windows Server 2016 </a:t>
            </a:r>
            <a:r>
              <a:rPr lang="en-US" dirty="0" err="1"/>
              <a:t>làm</a:t>
            </a:r>
            <a:r>
              <a:rPr lang="en-US" dirty="0"/>
              <a:t> Read Only domain controller (</a:t>
            </a:r>
            <a:r>
              <a:rPr lang="en-US" dirty="0" err="1"/>
              <a:t>RODC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964882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Đặt</a:t>
            </a:r>
            <a:r>
              <a:rPr lang="en-US" dirty="0"/>
              <a:t> IP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RODC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1123950"/>
            <a:ext cx="3429000" cy="37338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3959311" y="1352550"/>
            <a:ext cx="4481195" cy="3007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87855" y="4564618"/>
            <a:ext cx="27845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Click Add roles and features</a:t>
            </a:r>
          </a:p>
        </p:txBody>
      </p:sp>
    </p:spTree>
    <p:extLst>
      <p:ext uri="{BB962C8B-B14F-4D97-AF65-F5344CB8AC3E}">
        <p14:creationId xmlns:p14="http://schemas.microsoft.com/office/powerpoint/2010/main" val="381355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819150"/>
            <a:ext cx="4252595" cy="327533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0" y="876300"/>
            <a:ext cx="4404995" cy="319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10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91005" y="646747"/>
            <a:ext cx="5761990" cy="385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61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91005" y="520382"/>
            <a:ext cx="5761990" cy="410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86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RODC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1200150"/>
            <a:ext cx="4404995" cy="3062288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953000" y="1657350"/>
            <a:ext cx="4100195" cy="242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25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133350"/>
            <a:ext cx="4785995" cy="34925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191000" y="1047750"/>
            <a:ext cx="4695190" cy="37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958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33351"/>
            <a:ext cx="4648200" cy="35052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419600" y="1581150"/>
            <a:ext cx="4633595" cy="350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856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3091" y="133350"/>
            <a:ext cx="5006109" cy="35052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344150" y="1850736"/>
            <a:ext cx="4785995" cy="310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267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828800" y="438150"/>
            <a:ext cx="5761990" cy="424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787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394472"/>
          </a:xfrm>
        </p:spPr>
        <p:txBody>
          <a:bodyPr>
            <a:normAutofit/>
          </a:bodyPr>
          <a:lstStyle/>
          <a:p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DC:</a:t>
            </a:r>
          </a:p>
          <a:p>
            <a:r>
              <a:rPr lang="en-US" sz="2000" dirty="0" err="1"/>
              <a:t>Vào</a:t>
            </a:r>
            <a:r>
              <a:rPr lang="en-US" sz="2000" dirty="0"/>
              <a:t> Server Manager </a:t>
            </a:r>
            <a:r>
              <a:rPr lang="en-US" sz="2000" dirty="0">
                <a:sym typeface="Wingdings"/>
              </a:rPr>
              <a:t></a:t>
            </a:r>
            <a:r>
              <a:rPr lang="en-US" sz="2000" dirty="0"/>
              <a:t> Tools </a:t>
            </a:r>
            <a:r>
              <a:rPr lang="en-US" sz="2000" dirty="0">
                <a:sym typeface="Wingdings"/>
              </a:rPr>
              <a:t></a:t>
            </a:r>
            <a:r>
              <a:rPr lang="en-US" sz="2000" dirty="0"/>
              <a:t> Active Directory Users and Computers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33400" y="1657351"/>
            <a:ext cx="5638800" cy="22860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819400" y="3009928"/>
            <a:ext cx="5761990" cy="207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213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RODC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48647" y="1885950"/>
            <a:ext cx="5467350" cy="27717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5000" y="1364218"/>
            <a:ext cx="2601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18146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SV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DNS Secondary</a:t>
            </a:r>
          </a:p>
          <a:p>
            <a:r>
              <a:rPr lang="en-US" dirty="0" smtClean="0"/>
              <a:t>Database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369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677</Words>
  <Application>Microsoft Office PowerPoint</Application>
  <PresentationFormat>On-screen Show (16:9)</PresentationFormat>
  <Paragraphs>70</Paragraphs>
  <Slides>40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Wingdings</vt:lpstr>
      <vt:lpstr>Office Theme</vt:lpstr>
      <vt:lpstr>Visio</vt:lpstr>
      <vt:lpstr>  HD cấu hình tính sẵn sàng cho Dịch vụ mạng</vt:lpstr>
      <vt:lpstr>Nội dung</vt:lpstr>
      <vt:lpstr>1. Dịch vụ DHCP</vt:lpstr>
      <vt:lpstr>Dịch vụ DHCP</vt:lpstr>
      <vt:lpstr>Bước 1. Cấu hình DHCP Server1</vt:lpstr>
      <vt:lpstr>PowerPoint Presentation</vt:lpstr>
      <vt:lpstr>PowerPoint Presentation</vt:lpstr>
      <vt:lpstr>PowerPoint Presentation</vt:lpstr>
      <vt:lpstr>Bước 2. Cấu hình DHCP Failover trên Server 1</vt:lpstr>
      <vt:lpstr>PowerPoint Presentation</vt:lpstr>
      <vt:lpstr>PowerPoint Presentation</vt:lpstr>
      <vt:lpstr>Máy Server2 đã có thông tin đồng bộ với Server-1</vt:lpstr>
      <vt:lpstr>Kiểm tra trên máy client xin ip động từ server</vt:lpstr>
      <vt:lpstr>2. Web Cluster Load Balancing</vt:lpstr>
      <vt:lpstr>Cấu hình Web Server trên Web server 1</vt:lpstr>
      <vt:lpstr>PowerPoint Presentation</vt:lpstr>
      <vt:lpstr>PowerPoint Presentation</vt:lpstr>
      <vt:lpstr>Cấu hình trên Web server 2</vt:lpstr>
      <vt:lpstr>Cấu hình Network Load Balancing</vt:lpstr>
      <vt:lpstr>PowerPoint Presentation</vt:lpstr>
      <vt:lpstr>PowerPoint Presentation</vt:lpstr>
      <vt:lpstr>PowerPoint Presentation</vt:lpstr>
      <vt:lpstr>Cấu hình NBL trên Server-1: </vt:lpstr>
      <vt:lpstr>PowerPoint Presentation</vt:lpstr>
      <vt:lpstr>PowerPoint Presentation</vt:lpstr>
      <vt:lpstr>PowerPoint Presentation</vt:lpstr>
      <vt:lpstr>Kiểm tra trên máy Client</vt:lpstr>
      <vt:lpstr>3. Domain Controller (RODC)</vt:lpstr>
      <vt:lpstr>Đặt IP cho máy RODC</vt:lpstr>
      <vt:lpstr>PowerPoint Presentation</vt:lpstr>
      <vt:lpstr>PowerPoint Presentation</vt:lpstr>
      <vt:lpstr>PowerPoint Presentation</vt:lpstr>
      <vt:lpstr>Cấu hình RODC</vt:lpstr>
      <vt:lpstr>PowerPoint Presentation</vt:lpstr>
      <vt:lpstr>PowerPoint Presentation</vt:lpstr>
      <vt:lpstr>PowerPoint Presentation</vt:lpstr>
      <vt:lpstr>PowerPoint Presentation</vt:lpstr>
      <vt:lpstr>Kiểm tra kết quả</vt:lpstr>
      <vt:lpstr>Kiểm tra kết quả</vt:lpstr>
      <vt:lpstr>Bài tập SV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6  Thiết kế tính sẵn sàng cho Dịch vụ mạng</dc:title>
  <dc:creator>Administrator</dc:creator>
  <cp:lastModifiedBy>CHINH</cp:lastModifiedBy>
  <cp:revision>16</cp:revision>
  <dcterms:created xsi:type="dcterms:W3CDTF">2006-08-16T00:00:00Z</dcterms:created>
  <dcterms:modified xsi:type="dcterms:W3CDTF">2022-10-03T03:44:49Z</dcterms:modified>
</cp:coreProperties>
</file>