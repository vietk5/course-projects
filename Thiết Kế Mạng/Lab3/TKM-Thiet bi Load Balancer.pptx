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7" r:id="rId7"/>
    <p:sldId id="260" r:id="rId8"/>
    <p:sldId id="261" r:id="rId9"/>
    <p:sldId id="262" r:id="rId10"/>
    <p:sldId id="263" r:id="rId11"/>
    <p:sldId id="264" r:id="rId12"/>
    <p:sldId id="265" r:id="rId13"/>
    <p:sldId id="268" r:id="rId14"/>
    <p:sldId id="269"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4" d="100"/>
          <a:sy n="114" d="100"/>
        </p:scale>
        <p:origin x="714" y="10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9/7/2022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3.png"/><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71551"/>
            <a:ext cx="7772400" cy="1728788"/>
          </a:xfrm>
        </p:spPr>
        <p:txBody>
          <a:bodyPr>
            <a:normAutofit fontScale="90000"/>
          </a:bodyPr>
          <a:lstStyle/>
          <a:p>
            <a:r>
              <a:rPr lang="en-US" dirty="0" smtClean="0"/>
              <a:t/>
            </a:r>
            <a:br>
              <a:rPr lang="en-US" dirty="0" smtClean="0"/>
            </a:br>
            <a:r>
              <a:rPr lang="en-US" dirty="0" smtClean="0"/>
              <a:t/>
            </a:r>
            <a:br>
              <a:rPr lang="en-US" dirty="0" smtClean="0"/>
            </a:br>
            <a:r>
              <a:rPr lang="en-US" sz="7300" dirty="0" smtClean="0">
                <a:solidFill>
                  <a:srgbClr val="002060"/>
                </a:solidFill>
              </a:rPr>
              <a:t>Load Balancer</a:t>
            </a:r>
            <a:endParaRPr lang="en-US" sz="7300" dirty="0">
              <a:solidFill>
                <a:srgbClr val="002060"/>
              </a:solidFill>
            </a:endParaRPr>
          </a:p>
        </p:txBody>
      </p:sp>
    </p:spTree>
    <p:extLst>
      <p:ext uri="{BB962C8B-B14F-4D97-AF65-F5344CB8AC3E}">
        <p14:creationId xmlns:p14="http://schemas.microsoft.com/office/powerpoint/2010/main" val="30283529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r>
              <a:rPr lang="en-US" dirty="0" smtClean="0"/>
              <a:t>Load Balancer</a:t>
            </a:r>
          </a:p>
          <a:p>
            <a:r>
              <a:rPr lang="en-US" dirty="0" err="1" smtClean="0"/>
              <a:t>Vị</a:t>
            </a:r>
            <a:r>
              <a:rPr lang="en-US" dirty="0" smtClean="0"/>
              <a:t> </a:t>
            </a:r>
            <a:r>
              <a:rPr lang="en-US" dirty="0" err="1" smtClean="0"/>
              <a:t>trí</a:t>
            </a:r>
            <a:r>
              <a:rPr lang="en-US" dirty="0" smtClean="0"/>
              <a:t> </a:t>
            </a:r>
            <a:r>
              <a:rPr lang="en-US" dirty="0" err="1" smtClean="0"/>
              <a:t>LB</a:t>
            </a:r>
            <a:r>
              <a:rPr lang="en-US" dirty="0" smtClean="0"/>
              <a:t> </a:t>
            </a:r>
            <a:r>
              <a:rPr lang="en-US" dirty="0" err="1" smtClean="0"/>
              <a:t>trong</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mạng</a:t>
            </a:r>
            <a:endParaRPr lang="en-US" dirty="0" smtClean="0"/>
          </a:p>
          <a:p>
            <a:r>
              <a:rPr lang="en-US" dirty="0" err="1" smtClean="0"/>
              <a:t>Các</a:t>
            </a:r>
            <a:r>
              <a:rPr lang="en-US" dirty="0" smtClean="0"/>
              <a:t> </a:t>
            </a:r>
            <a:r>
              <a:rPr lang="en-US" dirty="0" err="1" smtClean="0"/>
              <a:t>thuật</a:t>
            </a:r>
            <a:r>
              <a:rPr lang="en-US" dirty="0" smtClean="0"/>
              <a:t> </a:t>
            </a:r>
            <a:r>
              <a:rPr lang="en-US" dirty="0" err="1" smtClean="0"/>
              <a:t>toán</a:t>
            </a:r>
            <a:r>
              <a:rPr lang="en-US" dirty="0" smtClean="0"/>
              <a:t> </a:t>
            </a:r>
            <a:r>
              <a:rPr lang="en-US" dirty="0" err="1" smtClean="0"/>
              <a:t>trong</a:t>
            </a:r>
            <a:r>
              <a:rPr lang="en-US" dirty="0" smtClean="0"/>
              <a:t> </a:t>
            </a:r>
            <a:r>
              <a:rPr lang="en-US" dirty="0" err="1" smtClean="0"/>
              <a:t>cân</a:t>
            </a:r>
            <a:r>
              <a:rPr lang="en-US" dirty="0" smtClean="0"/>
              <a:t> </a:t>
            </a:r>
            <a:r>
              <a:rPr lang="en-US" dirty="0" err="1" smtClean="0"/>
              <a:t>bằng</a:t>
            </a:r>
            <a:r>
              <a:rPr lang="en-US" dirty="0" smtClean="0"/>
              <a:t> </a:t>
            </a:r>
            <a:r>
              <a:rPr lang="en-US" dirty="0" err="1" smtClean="0"/>
              <a:t>tải</a:t>
            </a:r>
            <a:endParaRPr lang="en-US" dirty="0" smtClean="0"/>
          </a:p>
          <a:p>
            <a:r>
              <a:rPr lang="en-US" dirty="0" smtClean="0"/>
              <a:t>Lab</a:t>
            </a:r>
            <a:endParaRPr lang="en-US" dirty="0"/>
          </a:p>
        </p:txBody>
      </p:sp>
    </p:spTree>
    <p:extLst>
      <p:ext uri="{BB962C8B-B14F-4D97-AF65-F5344CB8AC3E}">
        <p14:creationId xmlns:p14="http://schemas.microsoft.com/office/powerpoint/2010/main" val="6391471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solidFill>
                  <a:srgbClr val="002060"/>
                </a:solidFill>
              </a:rPr>
              <a:t>Load Balancer</a:t>
            </a:r>
            <a:endParaRPr lang="en-US" dirty="0">
              <a:solidFill>
                <a:srgbClr val="002060"/>
              </a:solidFill>
            </a:endParaRPr>
          </a:p>
        </p:txBody>
      </p:sp>
      <p:sp>
        <p:nvSpPr>
          <p:cNvPr id="3" name="Content Placeholder 2"/>
          <p:cNvSpPr>
            <a:spLocks noGrp="1"/>
          </p:cNvSpPr>
          <p:nvPr>
            <p:ph idx="1"/>
          </p:nvPr>
        </p:nvSpPr>
        <p:spPr>
          <a:xfrm>
            <a:off x="228600" y="1200151"/>
            <a:ext cx="5105400" cy="3394472"/>
          </a:xfrm>
        </p:spPr>
        <p:txBody>
          <a:bodyPr>
            <a:normAutofit fontScale="85000" lnSpcReduction="20000"/>
          </a:bodyPr>
          <a:lstStyle/>
          <a:p>
            <a:r>
              <a:rPr lang="en-US" sz="2400" dirty="0" err="1" smtClean="0"/>
              <a:t>Là</a:t>
            </a:r>
            <a:r>
              <a:rPr lang="en-US" sz="2400" dirty="0" smtClean="0"/>
              <a:t> </a:t>
            </a:r>
            <a:r>
              <a:rPr lang="en-US" sz="2400" dirty="0" err="1" smtClean="0"/>
              <a:t>thiết</a:t>
            </a:r>
            <a:r>
              <a:rPr lang="en-US" sz="2400" dirty="0" smtClean="0"/>
              <a:t> </a:t>
            </a:r>
            <a:r>
              <a:rPr lang="en-US" sz="2400" dirty="0" err="1" smtClean="0"/>
              <a:t>bị</a:t>
            </a:r>
            <a:r>
              <a:rPr lang="en-US" sz="2400" dirty="0" smtClean="0"/>
              <a:t> </a:t>
            </a:r>
            <a:r>
              <a:rPr lang="en-US" sz="2400" dirty="0" err="1" smtClean="0"/>
              <a:t>chuyên</a:t>
            </a:r>
            <a:r>
              <a:rPr lang="en-US" sz="2400" dirty="0" smtClean="0"/>
              <a:t> </a:t>
            </a:r>
            <a:r>
              <a:rPr lang="en-US" sz="2400" dirty="0" err="1" smtClean="0"/>
              <a:t>dụng</a:t>
            </a:r>
            <a:r>
              <a:rPr lang="en-US" sz="2400" dirty="0" smtClean="0"/>
              <a:t> </a:t>
            </a:r>
            <a:r>
              <a:rPr lang="en-US" sz="2400" dirty="0" err="1" smtClean="0"/>
              <a:t>để</a:t>
            </a:r>
            <a:r>
              <a:rPr lang="en-US" sz="2400" dirty="0" smtClean="0"/>
              <a:t> </a:t>
            </a:r>
            <a:r>
              <a:rPr lang="en-US" sz="2400" dirty="0" err="1" smtClean="0"/>
              <a:t>cấu</a:t>
            </a:r>
            <a:r>
              <a:rPr lang="en-US" sz="2400" dirty="0" smtClean="0"/>
              <a:t> </a:t>
            </a:r>
            <a:r>
              <a:rPr lang="en-US" sz="2400" dirty="0" err="1" smtClean="0"/>
              <a:t>hình</a:t>
            </a:r>
            <a:r>
              <a:rPr lang="en-US" sz="2400" dirty="0" smtClean="0"/>
              <a:t> </a:t>
            </a:r>
            <a:r>
              <a:rPr lang="en-US" sz="2400" dirty="0" err="1" smtClean="0"/>
              <a:t>cân</a:t>
            </a:r>
            <a:r>
              <a:rPr lang="en-US" sz="2400" dirty="0" smtClean="0"/>
              <a:t> </a:t>
            </a:r>
            <a:r>
              <a:rPr lang="en-US" sz="2400" dirty="0" err="1" smtClean="0"/>
              <a:t>bằng</a:t>
            </a:r>
            <a:r>
              <a:rPr lang="en-US" sz="2400" dirty="0" smtClean="0"/>
              <a:t> </a:t>
            </a:r>
            <a:r>
              <a:rPr lang="en-US" sz="2400" dirty="0" err="1" smtClean="0"/>
              <a:t>tải</a:t>
            </a:r>
            <a:endParaRPr lang="en-US" sz="2400" dirty="0" smtClean="0"/>
          </a:p>
          <a:p>
            <a:r>
              <a:rPr lang="en-US" sz="2400" dirty="0" err="1" smtClean="0"/>
              <a:t>Các</a:t>
            </a:r>
            <a:r>
              <a:rPr lang="en-US" sz="2400" dirty="0" smtClean="0"/>
              <a:t> </a:t>
            </a:r>
            <a:r>
              <a:rPr lang="en-US" sz="2400" dirty="0" err="1" smtClean="0"/>
              <a:t>chức</a:t>
            </a:r>
            <a:r>
              <a:rPr lang="en-US" sz="2400" dirty="0" smtClean="0"/>
              <a:t> </a:t>
            </a:r>
            <a:r>
              <a:rPr lang="en-US" sz="2400" dirty="0" err="1" smtClean="0"/>
              <a:t>năng</a:t>
            </a:r>
            <a:r>
              <a:rPr lang="en-US" sz="2400" dirty="0" smtClean="0"/>
              <a:t> </a:t>
            </a:r>
            <a:r>
              <a:rPr lang="en-US" sz="2400" dirty="0" err="1" smtClean="0"/>
              <a:t>chính</a:t>
            </a:r>
            <a:r>
              <a:rPr lang="en-US" sz="2400" dirty="0" smtClean="0"/>
              <a:t>:</a:t>
            </a:r>
          </a:p>
          <a:p>
            <a:pPr marL="0" indent="0">
              <a:buNone/>
            </a:pPr>
            <a:endParaRPr lang="en-US" sz="2400" dirty="0" smtClean="0"/>
          </a:p>
          <a:p>
            <a:pPr lvl="1">
              <a:spcBef>
                <a:spcPts val="0"/>
              </a:spcBef>
            </a:pPr>
            <a:r>
              <a:rPr lang="vi-VN" sz="2000" dirty="0" smtClean="0"/>
              <a:t>Phân </a:t>
            </a:r>
            <a:r>
              <a:rPr lang="vi-VN" sz="2000" dirty="0"/>
              <a:t>phối các client requests hoặc network load một cách hiệu quả trên nhiều servers.</a:t>
            </a:r>
            <a:br>
              <a:rPr lang="vi-VN" sz="2000" dirty="0"/>
            </a:br>
            <a:endParaRPr lang="vi-VN" sz="2000" dirty="0"/>
          </a:p>
          <a:p>
            <a:pPr lvl="1">
              <a:spcBef>
                <a:spcPts val="0"/>
              </a:spcBef>
            </a:pPr>
            <a:r>
              <a:rPr lang="vi-VN" sz="2000" dirty="0" smtClean="0"/>
              <a:t>Đảm </a:t>
            </a:r>
            <a:r>
              <a:rPr lang="vi-VN" sz="2000" dirty="0"/>
              <a:t>bảo tính khả dụng và độ tin cậy cao bằng cách chỉ gửi các yêu cầu đến các máy chủ trực tuyến.</a:t>
            </a:r>
            <a:br>
              <a:rPr lang="vi-VN" sz="2000" dirty="0"/>
            </a:br>
            <a:endParaRPr lang="vi-VN" sz="2000" dirty="0"/>
          </a:p>
          <a:p>
            <a:pPr lvl="1">
              <a:spcBef>
                <a:spcPts val="0"/>
              </a:spcBef>
            </a:pPr>
            <a:r>
              <a:rPr lang="vi-VN" sz="2000" dirty="0" smtClean="0"/>
              <a:t>Thêm </a:t>
            </a:r>
            <a:r>
              <a:rPr lang="vi-VN" sz="2000" dirty="0"/>
              <a:t>vào hoặc loại bớt các servers theo yêu cầu một cách linh hoạt và dễ dàng.</a:t>
            </a:r>
          </a:p>
          <a:p>
            <a:endParaRPr lang="en-US" sz="2400"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85750"/>
            <a:ext cx="3886200" cy="192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67593"/>
            <a:ext cx="2819400" cy="2575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62133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Benefits of Load Balancing</a:t>
            </a:r>
          </a:p>
        </p:txBody>
      </p:sp>
      <p:sp>
        <p:nvSpPr>
          <p:cNvPr id="3" name="Content Placeholder 2"/>
          <p:cNvSpPr>
            <a:spLocks noGrp="1"/>
          </p:cNvSpPr>
          <p:nvPr>
            <p:ph idx="1"/>
          </p:nvPr>
        </p:nvSpPr>
        <p:spPr/>
        <p:txBody>
          <a:bodyPr>
            <a:normAutofit/>
          </a:bodyPr>
          <a:lstStyle/>
          <a:p>
            <a:pPr fontAlgn="base">
              <a:spcBef>
                <a:spcPts val="1200"/>
              </a:spcBef>
              <a:spcAft>
                <a:spcPts val="1200"/>
              </a:spcAft>
            </a:pPr>
            <a:r>
              <a:rPr lang="en-US" sz="2400" dirty="0"/>
              <a:t>Reduced downtime</a:t>
            </a:r>
          </a:p>
          <a:p>
            <a:pPr fontAlgn="base">
              <a:spcBef>
                <a:spcPts val="1200"/>
              </a:spcBef>
              <a:spcAft>
                <a:spcPts val="1200"/>
              </a:spcAft>
            </a:pPr>
            <a:r>
              <a:rPr lang="en-US" sz="2400" dirty="0"/>
              <a:t>Scalable</a:t>
            </a:r>
          </a:p>
          <a:p>
            <a:pPr fontAlgn="base">
              <a:spcBef>
                <a:spcPts val="1200"/>
              </a:spcBef>
              <a:spcAft>
                <a:spcPts val="1200"/>
              </a:spcAft>
            </a:pPr>
            <a:r>
              <a:rPr lang="en-US" sz="2400" dirty="0"/>
              <a:t>Redundancy</a:t>
            </a:r>
          </a:p>
          <a:p>
            <a:pPr fontAlgn="base">
              <a:spcBef>
                <a:spcPts val="1200"/>
              </a:spcBef>
              <a:spcAft>
                <a:spcPts val="1200"/>
              </a:spcAft>
            </a:pPr>
            <a:r>
              <a:rPr lang="en-US" sz="2400" dirty="0" smtClean="0"/>
              <a:t>Flexibility </a:t>
            </a:r>
            <a:endParaRPr lang="en-US" sz="2400" dirty="0"/>
          </a:p>
          <a:p>
            <a:pPr fontAlgn="base">
              <a:spcBef>
                <a:spcPts val="1200"/>
              </a:spcBef>
              <a:spcAft>
                <a:spcPts val="1200"/>
              </a:spcAft>
            </a:pPr>
            <a:r>
              <a:rPr lang="en-US" sz="2400" dirty="0"/>
              <a:t>Efficiency</a:t>
            </a:r>
          </a:p>
          <a:p>
            <a:pPr marL="0" indent="0">
              <a:spcBef>
                <a:spcPts val="1200"/>
              </a:spcBef>
              <a:spcAft>
                <a:spcPts val="1200"/>
              </a:spcAft>
              <a:buNone/>
            </a:pPr>
            <a:endParaRPr lang="en-US"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114550"/>
            <a:ext cx="6353175"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68665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Vị</a:t>
            </a:r>
            <a:r>
              <a:rPr lang="en-US" dirty="0" smtClean="0"/>
              <a:t> </a:t>
            </a:r>
            <a:r>
              <a:rPr lang="en-US" dirty="0" err="1" smtClean="0"/>
              <a:t>trí</a:t>
            </a:r>
            <a:r>
              <a:rPr lang="en-US" dirty="0" smtClean="0"/>
              <a:t> </a:t>
            </a:r>
            <a:r>
              <a:rPr lang="en-US" dirty="0" err="1" smtClean="0"/>
              <a:t>triển</a:t>
            </a:r>
            <a:r>
              <a:rPr lang="en-US" dirty="0" smtClean="0"/>
              <a:t> </a:t>
            </a:r>
            <a:r>
              <a:rPr lang="en-US" dirty="0" err="1" smtClean="0"/>
              <a:t>khai</a:t>
            </a:r>
            <a:endParaRPr lang="en-US" dirty="0"/>
          </a:p>
        </p:txBody>
      </p:sp>
      <p:sp>
        <p:nvSpPr>
          <p:cNvPr id="3" name="Content Placeholder 2"/>
          <p:cNvSpPr>
            <a:spLocks noGrp="1"/>
          </p:cNvSpPr>
          <p:nvPr>
            <p:ph idx="1"/>
          </p:nvPr>
        </p:nvSpPr>
        <p:spPr/>
        <p:txBody>
          <a:bodyPr>
            <a:normAutofit/>
          </a:bodyPr>
          <a:lstStyle/>
          <a:p>
            <a:r>
              <a:rPr lang="en-US" sz="2800" dirty="0" err="1" smtClean="0"/>
              <a:t>Khu</a:t>
            </a:r>
            <a:r>
              <a:rPr lang="en-US" sz="2800" dirty="0" smtClean="0"/>
              <a:t> </a:t>
            </a:r>
            <a:r>
              <a:rPr lang="en-US" sz="2800" dirty="0" err="1" smtClean="0"/>
              <a:t>vực</a:t>
            </a:r>
            <a:r>
              <a:rPr lang="en-US" sz="2800" dirty="0" smtClean="0"/>
              <a:t> Server</a:t>
            </a:r>
          </a:p>
          <a:p>
            <a:endParaRPr lang="en-US" sz="2800" dirty="0"/>
          </a:p>
          <a:p>
            <a:endParaRPr lang="en-US" sz="2800" dirty="0" smtClean="0"/>
          </a:p>
          <a:p>
            <a:r>
              <a:rPr lang="en-US" sz="2800" dirty="0" err="1" smtClean="0"/>
              <a:t>Khu</a:t>
            </a:r>
            <a:r>
              <a:rPr lang="en-US" sz="2800" dirty="0" smtClean="0"/>
              <a:t> </a:t>
            </a:r>
            <a:r>
              <a:rPr lang="en-US" sz="2800" dirty="0" err="1" smtClean="0"/>
              <a:t>vực</a:t>
            </a:r>
            <a:r>
              <a:rPr lang="en-US" sz="2800" dirty="0" smtClean="0"/>
              <a:t> </a:t>
            </a:r>
            <a:r>
              <a:rPr lang="en-US" sz="2800" dirty="0" err="1" smtClean="0"/>
              <a:t>kết</a:t>
            </a:r>
            <a:r>
              <a:rPr lang="en-US" sz="2800" dirty="0" smtClean="0"/>
              <a:t> </a:t>
            </a:r>
            <a:r>
              <a:rPr lang="en-US" sz="2800" dirty="0" err="1" smtClean="0"/>
              <a:t>nối</a:t>
            </a:r>
            <a:r>
              <a:rPr lang="en-US" sz="2800" dirty="0" smtClean="0"/>
              <a:t> Internet</a:t>
            </a:r>
            <a:endParaRPr lang="en-US"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925" y="2952750"/>
            <a:ext cx="3219450"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8539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002060"/>
                </a:solidFill>
              </a:rPr>
              <a:t>Phân</a:t>
            </a:r>
            <a:r>
              <a:rPr lang="en-US" dirty="0" smtClean="0">
                <a:solidFill>
                  <a:srgbClr val="002060"/>
                </a:solidFill>
              </a:rPr>
              <a:t> </a:t>
            </a:r>
            <a:r>
              <a:rPr lang="en-US" dirty="0" err="1" smtClean="0">
                <a:solidFill>
                  <a:srgbClr val="002060"/>
                </a:solidFill>
              </a:rPr>
              <a:t>loại</a:t>
            </a:r>
            <a:r>
              <a:rPr lang="en-US" dirty="0" smtClean="0">
                <a:solidFill>
                  <a:srgbClr val="002060"/>
                </a:solidFill>
              </a:rPr>
              <a:t> Load Balancer</a:t>
            </a:r>
            <a:endParaRPr lang="en-US" dirty="0">
              <a:solidFill>
                <a:srgbClr val="002060"/>
              </a:solidFill>
            </a:endParaRPr>
          </a:p>
        </p:txBody>
      </p:sp>
      <p:sp>
        <p:nvSpPr>
          <p:cNvPr id="3" name="Content Placeholder 2"/>
          <p:cNvSpPr>
            <a:spLocks noGrp="1"/>
          </p:cNvSpPr>
          <p:nvPr>
            <p:ph idx="1"/>
          </p:nvPr>
        </p:nvSpPr>
        <p:spPr/>
        <p:txBody>
          <a:bodyPr/>
          <a:lstStyle/>
          <a:p>
            <a:r>
              <a:rPr lang="en-US" dirty="0" smtClean="0">
                <a:solidFill>
                  <a:srgbClr val="7030A0"/>
                </a:solidFill>
              </a:rPr>
              <a:t>Hardware – based </a:t>
            </a:r>
            <a:r>
              <a:rPr lang="en-US" dirty="0" err="1" smtClean="0">
                <a:solidFill>
                  <a:srgbClr val="7030A0"/>
                </a:solidFill>
              </a:rPr>
              <a:t>LB</a:t>
            </a:r>
            <a:r>
              <a:rPr lang="en-US" dirty="0" smtClean="0">
                <a:solidFill>
                  <a:srgbClr val="7030A0"/>
                </a:solidFill>
              </a:rPr>
              <a:t> </a:t>
            </a:r>
          </a:p>
          <a:p>
            <a:r>
              <a:rPr lang="en-US" dirty="0" smtClean="0">
                <a:solidFill>
                  <a:srgbClr val="7030A0"/>
                </a:solidFill>
              </a:rPr>
              <a:t>Software – based </a:t>
            </a:r>
            <a:r>
              <a:rPr lang="en-US" dirty="0" err="1" smtClean="0">
                <a:solidFill>
                  <a:srgbClr val="7030A0"/>
                </a:solidFill>
              </a:rPr>
              <a:t>LB</a:t>
            </a:r>
            <a:endParaRPr lang="en-US" dirty="0" smtClean="0">
              <a:solidFill>
                <a:srgbClr val="7030A0"/>
              </a:solidFill>
            </a:endParaRPr>
          </a:p>
          <a:p>
            <a:endParaRPr lang="en-US" dirty="0" smtClean="0"/>
          </a:p>
          <a:p>
            <a:r>
              <a:rPr lang="en-US" dirty="0" smtClean="0">
                <a:solidFill>
                  <a:schemeClr val="accent6">
                    <a:lumMod val="50000"/>
                  </a:schemeClr>
                </a:solidFill>
              </a:rPr>
              <a:t>Layer 4 Load balancer: transport level</a:t>
            </a:r>
          </a:p>
          <a:p>
            <a:r>
              <a:rPr lang="en-US" dirty="0" smtClean="0">
                <a:solidFill>
                  <a:schemeClr val="accent6">
                    <a:lumMod val="50000"/>
                  </a:schemeClr>
                </a:solidFill>
              </a:rPr>
              <a:t>Layer 7 Load balancer: application level</a:t>
            </a:r>
            <a:endParaRPr lang="en-US" dirty="0">
              <a:solidFill>
                <a:schemeClr val="accent6">
                  <a:lumMod val="50000"/>
                </a:schemeClr>
              </a:solidFill>
            </a:endParaRPr>
          </a:p>
        </p:txBody>
      </p:sp>
    </p:spTree>
    <p:extLst>
      <p:ext uri="{BB962C8B-B14F-4D97-AF65-F5344CB8AC3E}">
        <p14:creationId xmlns:p14="http://schemas.microsoft.com/office/powerpoint/2010/main" val="3259905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balancing algorithms</a:t>
            </a:r>
            <a:endParaRPr lang="en-US" dirty="0"/>
          </a:p>
        </p:txBody>
      </p:sp>
      <p:sp>
        <p:nvSpPr>
          <p:cNvPr id="3" name="Content Placeholder 2"/>
          <p:cNvSpPr>
            <a:spLocks noGrp="1"/>
          </p:cNvSpPr>
          <p:nvPr>
            <p:ph idx="1"/>
          </p:nvPr>
        </p:nvSpPr>
        <p:spPr>
          <a:xfrm>
            <a:off x="457200" y="1428749"/>
            <a:ext cx="8229600" cy="3165873"/>
          </a:xfrm>
        </p:spPr>
        <p:txBody>
          <a:bodyPr>
            <a:normAutofit/>
          </a:bodyPr>
          <a:lstStyle/>
          <a:p>
            <a:r>
              <a:rPr lang="en-US" sz="2800" dirty="0"/>
              <a:t>Round </a:t>
            </a:r>
            <a:r>
              <a:rPr lang="en-US" sz="2800" dirty="0" smtClean="0"/>
              <a:t>Robin</a:t>
            </a:r>
          </a:p>
          <a:p>
            <a:r>
              <a:rPr lang="en-US" sz="2800" dirty="0"/>
              <a:t>Weighted round </a:t>
            </a:r>
            <a:r>
              <a:rPr lang="en-US" sz="2800" dirty="0" smtClean="0"/>
              <a:t>robin</a:t>
            </a:r>
          </a:p>
          <a:p>
            <a:r>
              <a:rPr lang="en-US" sz="2800" dirty="0"/>
              <a:t>Least </a:t>
            </a:r>
            <a:r>
              <a:rPr lang="en-US" sz="2800" dirty="0" smtClean="0"/>
              <a:t>connections</a:t>
            </a:r>
          </a:p>
          <a:p>
            <a:r>
              <a:rPr lang="en-US" sz="2800" dirty="0"/>
              <a:t>Least response </a:t>
            </a:r>
            <a:r>
              <a:rPr lang="en-US" sz="2800" dirty="0" smtClean="0"/>
              <a:t>time</a:t>
            </a:r>
          </a:p>
          <a:p>
            <a:r>
              <a:rPr lang="en-US" sz="2800" dirty="0"/>
              <a:t>IP Hash </a:t>
            </a:r>
            <a:endParaRPr lang="en-US" sz="2800" dirty="0" smtClean="0"/>
          </a:p>
        </p:txBody>
      </p:sp>
    </p:spTree>
    <p:extLst>
      <p:ext uri="{BB962C8B-B14F-4D97-AF65-F5344CB8AC3E}">
        <p14:creationId xmlns:p14="http://schemas.microsoft.com/office/powerpoint/2010/main" val="3333520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536972"/>
          </a:xfrm>
        </p:spPr>
        <p:txBody>
          <a:bodyPr>
            <a:normAutofit fontScale="90000"/>
          </a:bodyPr>
          <a:lstStyle/>
          <a:p>
            <a:r>
              <a:rPr lang="en-US" dirty="0" smtClean="0"/>
              <a:t>Round robin</a:t>
            </a:r>
            <a:endParaRPr lang="en-US" dirty="0"/>
          </a:p>
        </p:txBody>
      </p:sp>
      <p:sp>
        <p:nvSpPr>
          <p:cNvPr id="3" name="Content Placeholder 2"/>
          <p:cNvSpPr>
            <a:spLocks noGrp="1"/>
          </p:cNvSpPr>
          <p:nvPr>
            <p:ph idx="1"/>
          </p:nvPr>
        </p:nvSpPr>
        <p:spPr>
          <a:xfrm>
            <a:off x="457200" y="742950"/>
            <a:ext cx="8229600" cy="3394472"/>
          </a:xfrm>
        </p:spPr>
        <p:txBody>
          <a:bodyPr>
            <a:normAutofit/>
          </a:bodyPr>
          <a:lstStyle/>
          <a:p>
            <a:r>
              <a:rPr lang="vi-VN" sz="2000" dirty="0"/>
              <a:t>Là thuật toán điều phối vòng tròn, các máy chủ sẽ được xem ngang hàng và sắp xếp theo một vòng quay. Các truy vấn dịch vụ sẽ lần lượt được gửi tới các máy chủ theo thứ tự sắp xếp</a:t>
            </a:r>
            <a:r>
              <a:rPr lang="vi-VN" sz="2000" dirty="0" smtClean="0"/>
              <a:t>.</a:t>
            </a:r>
            <a:endParaRPr lang="en-US" sz="2000" dirty="0" smtClean="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114550"/>
            <a:ext cx="4543425" cy="2294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7548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Weighed Round Robin </a:t>
            </a:r>
            <a:endParaRPr lang="en-US" dirty="0"/>
          </a:p>
        </p:txBody>
      </p:sp>
      <p:sp>
        <p:nvSpPr>
          <p:cNvPr id="3" name="Content Placeholder 2"/>
          <p:cNvSpPr>
            <a:spLocks noGrp="1"/>
          </p:cNvSpPr>
          <p:nvPr>
            <p:ph idx="1"/>
          </p:nvPr>
        </p:nvSpPr>
        <p:spPr/>
        <p:txBody>
          <a:bodyPr>
            <a:noAutofit/>
          </a:bodyPr>
          <a:lstStyle/>
          <a:p>
            <a:r>
              <a:rPr lang="vi-VN" sz="1800" dirty="0"/>
              <a:t>Tương tự như kỹ thuật Round Robin nhưng WRR còn có khả năng xử lý theo cấu hình của từng server đích. Mỗi máy chủ được đánh giá bằng một số nguyên (giá trị trọng số Weight – mặc định giá trị là 1). Một server có khả năng xử lý gấp đôi server khác sẽ được đánh số lớn hơn và nhận được số request gấp đôi từ bộ cân bằng tải.</a:t>
            </a:r>
            <a:endParaRPr lang="en-US" sz="1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724150"/>
            <a:ext cx="3152775"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162800" y="4476750"/>
            <a:ext cx="660758" cy="369332"/>
          </a:xfrm>
          <a:prstGeom prst="rect">
            <a:avLst/>
          </a:prstGeom>
        </p:spPr>
        <p:txBody>
          <a:bodyPr wrap="none">
            <a:spAutoFit/>
          </a:bodyPr>
          <a:lstStyle/>
          <a:p>
            <a:r>
              <a:rPr lang="en-US" dirty="0"/>
              <a:t>1:3:2</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789801"/>
            <a:ext cx="4148137" cy="205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1684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Least connections</a:t>
            </a:r>
            <a:endParaRPr lang="en-US" dirty="0"/>
          </a:p>
        </p:txBody>
      </p:sp>
      <p:sp>
        <p:nvSpPr>
          <p:cNvPr id="3" name="Content Placeholder 2"/>
          <p:cNvSpPr>
            <a:spLocks noGrp="1"/>
          </p:cNvSpPr>
          <p:nvPr>
            <p:ph idx="1"/>
          </p:nvPr>
        </p:nvSpPr>
        <p:spPr>
          <a:xfrm>
            <a:off x="457200" y="1200151"/>
            <a:ext cx="3810000" cy="3394472"/>
          </a:xfrm>
        </p:spPr>
        <p:txBody>
          <a:bodyPr>
            <a:normAutofit/>
          </a:bodyPr>
          <a:lstStyle/>
          <a:p>
            <a:pPr>
              <a:spcBef>
                <a:spcPts val="600"/>
              </a:spcBef>
              <a:spcAft>
                <a:spcPts val="1200"/>
              </a:spcAft>
            </a:pPr>
            <a:r>
              <a:rPr lang="vi-VN" sz="1800" dirty="0"/>
              <a:t>Các requests sẽ được chuyển vào server có ít kết nối nhất trong hệ thống. </a:t>
            </a:r>
            <a:endParaRPr lang="en-US" sz="1800" dirty="0" smtClean="0"/>
          </a:p>
          <a:p>
            <a:pPr>
              <a:spcBef>
                <a:spcPts val="600"/>
              </a:spcBef>
              <a:spcAft>
                <a:spcPts val="1200"/>
              </a:spcAft>
            </a:pPr>
            <a:r>
              <a:rPr lang="vi-VN" sz="1800" dirty="0" smtClean="0"/>
              <a:t>Thuật </a:t>
            </a:r>
            <a:r>
              <a:rPr lang="vi-VN" sz="1800" dirty="0"/>
              <a:t>toán này được coi như thuật toán động, vì nó phải đếm số kết nối đang hoạt động của server.</a:t>
            </a:r>
            <a:endParaRPr lang="en-US" sz="18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333750"/>
            <a:ext cx="5534025" cy="168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0457" y="35379"/>
            <a:ext cx="3352800" cy="1650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5514" y="1721715"/>
            <a:ext cx="3167743" cy="1557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3798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Least response time</a:t>
            </a:r>
            <a:endParaRPr lang="en-US" dirty="0"/>
          </a:p>
        </p:txBody>
      </p:sp>
      <p:sp>
        <p:nvSpPr>
          <p:cNvPr id="3" name="Content Placeholder 2"/>
          <p:cNvSpPr>
            <a:spLocks noGrp="1"/>
          </p:cNvSpPr>
          <p:nvPr>
            <p:ph idx="1"/>
          </p:nvPr>
        </p:nvSpPr>
        <p:spPr/>
        <p:txBody>
          <a:bodyPr>
            <a:normAutofit/>
          </a:bodyPr>
          <a:lstStyle/>
          <a:p>
            <a:r>
              <a:rPr lang="vi-VN" sz="2000" dirty="0" smtClean="0"/>
              <a:t>Đây là thuật toán dựa trên tính toán thời gian đáp ứng của mỗi server (response time), thuật toán này sẽ chọn server nào có thời gian đáp ứng nhanh nhất. Thời gian đáp ứng được xác định bởi khoảng thời gian giữa thời điểm gửi một gói tin đến server và thời điểm nhận được gói tin trả lời</a:t>
            </a:r>
            <a:endParaRPr lang="en-US" sz="2000" dirty="0"/>
          </a:p>
        </p:txBody>
      </p:sp>
    </p:spTree>
    <p:extLst>
      <p:ext uri="{BB962C8B-B14F-4D97-AF65-F5344CB8AC3E}">
        <p14:creationId xmlns:p14="http://schemas.microsoft.com/office/powerpoint/2010/main" val="999397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IP Hash</a:t>
            </a:r>
            <a:endParaRPr lang="en-US" dirty="0"/>
          </a:p>
        </p:txBody>
      </p:sp>
      <p:sp>
        <p:nvSpPr>
          <p:cNvPr id="3" name="Content Placeholder 2"/>
          <p:cNvSpPr>
            <a:spLocks noGrp="1"/>
          </p:cNvSpPr>
          <p:nvPr>
            <p:ph idx="1"/>
          </p:nvPr>
        </p:nvSpPr>
        <p:spPr/>
        <p:txBody>
          <a:bodyPr>
            <a:normAutofit/>
          </a:bodyPr>
          <a:lstStyle/>
          <a:p>
            <a:r>
              <a:rPr lang="vi-VN" sz="2400" dirty="0"/>
              <a:t>Thuật toán xác định kết nối chính xác từ một IP của máy khách sẽ được kết nối trực tiếp đến một server backend.</a:t>
            </a:r>
            <a:endParaRPr lang="en-US" sz="2400" dirty="0"/>
          </a:p>
        </p:txBody>
      </p:sp>
    </p:spTree>
    <p:extLst>
      <p:ext uri="{BB962C8B-B14F-4D97-AF65-F5344CB8AC3E}">
        <p14:creationId xmlns:p14="http://schemas.microsoft.com/office/powerpoint/2010/main" val="1751779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Viết</a:t>
            </a:r>
            <a:r>
              <a:rPr lang="en-US" dirty="0" smtClean="0"/>
              <a:t> </a:t>
            </a:r>
            <a:r>
              <a:rPr lang="en-US" dirty="0" err="1" smtClean="0"/>
              <a:t>thông</a:t>
            </a:r>
            <a:r>
              <a:rPr lang="en-US" dirty="0" smtClean="0"/>
              <a:t> </a:t>
            </a:r>
            <a:r>
              <a:rPr lang="en-US" dirty="0" err="1" smtClean="0"/>
              <a:t>số</a:t>
            </a:r>
            <a:r>
              <a:rPr lang="en-US" dirty="0" smtClean="0"/>
              <a:t> </a:t>
            </a:r>
            <a:r>
              <a:rPr lang="en-US" dirty="0" err="1" smtClean="0"/>
              <a:t>cho</a:t>
            </a:r>
            <a:r>
              <a:rPr lang="en-US" dirty="0" smtClean="0"/>
              <a:t> Load Balancer</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28750"/>
            <a:ext cx="4926624"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9005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nvGraphicFramePr>
        <p:xfrm>
          <a:off x="0" y="0"/>
          <a:ext cx="5762625" cy="4657725"/>
        </p:xfrm>
        <a:graphic>
          <a:graphicData uri="http://schemas.openxmlformats.org/presentationml/2006/ole">
            <mc:AlternateContent xmlns:mc="http://schemas.openxmlformats.org/markup-compatibility/2006">
              <mc:Choice xmlns:v="urn:schemas-microsoft-com:vml" Requires="v">
                <p:oleObj spid="_x0000_s1027" name="Visio" r:id="rId3" imgW="7042768" imgH="5698838" progId="Visio.Drawing.11">
                  <p:embed/>
                </p:oleObj>
              </mc:Choice>
              <mc:Fallback>
                <p:oleObj name="Visio" r:id="rId3" imgW="7042768" imgH="569883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762625" cy="465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742950"/>
            <a:ext cx="3810000" cy="2363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3236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383</Words>
  <Application>Microsoft Office PowerPoint</Application>
  <PresentationFormat>On-screen Show (16:9)</PresentationFormat>
  <Paragraphs>49</Paragraphs>
  <Slides>14</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18" baseType="lpstr">
      <vt:lpstr>Arial</vt:lpstr>
      <vt:lpstr>Calibri</vt:lpstr>
      <vt:lpstr>Office Theme</vt:lpstr>
      <vt:lpstr>Visio</vt:lpstr>
      <vt:lpstr>  Load Balancer</vt:lpstr>
      <vt:lpstr>Nội dung</vt:lpstr>
      <vt:lpstr>Load Balancer</vt:lpstr>
      <vt:lpstr>Benefits of Load Balancing</vt:lpstr>
      <vt:lpstr>Vị trí triển khai</vt:lpstr>
      <vt:lpstr>Phân loại Load Balancer</vt:lpstr>
      <vt:lpstr>Load balancing algorithms</vt:lpstr>
      <vt:lpstr>Round robin</vt:lpstr>
      <vt:lpstr>Weighed Round Robin </vt:lpstr>
      <vt:lpstr>Least connections</vt:lpstr>
      <vt:lpstr>Least response time</vt:lpstr>
      <vt:lpstr>IP Hash</vt:lpstr>
      <vt:lpstr>Viết thông số cho Load Balancer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5 Thiết bị Load Balancer</dc:title>
  <dc:creator>Administrator</dc:creator>
  <cp:lastModifiedBy>CHINH</cp:lastModifiedBy>
  <cp:revision>15</cp:revision>
  <dcterms:created xsi:type="dcterms:W3CDTF">2006-08-16T00:00:00Z</dcterms:created>
  <dcterms:modified xsi:type="dcterms:W3CDTF">2022-09-07T08:27:32Z</dcterms:modified>
</cp:coreProperties>
</file>